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Isosceles Triangle 2"/>
          <p:cNvSpPr/>
          <p:nvPr/>
        </p:nvSpPr>
        <p:spPr>
          <a:xfrm>
            <a:off x="-1920240" y="3794760"/>
            <a:ext cx="5852160" cy="4206240"/>
          </a:xfrm>
          <a:prstGeom prst="triangle">
            <a:avLst/>
          </a:prstGeom>
          <a:noFill/>
          <a:ln w="12700">
            <a:solidFill>
              <a:srgbClr val="1F3C5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verB_strip.jpg"/>
          <p:cNvPicPr>
            <a:picLocks noChangeAspect="1"/>
          </p:cNvPicPr>
          <p:nvPr/>
        </p:nvPicPr>
        <p:blipFill>
          <a:blip r:embed="rId2"/>
          <a:stretch>
            <a:fillRect/>
          </a:stretch>
        </p:blipFill>
        <p:spPr>
          <a:xfrm>
            <a:off x="8558784" y="0"/>
            <a:ext cx="3632911" cy="6858000"/>
          </a:xfrm>
          <a:prstGeom prst="rect">
            <a:avLst/>
          </a:prstGeom>
        </p:spPr>
      </p:pic>
      <p:pic>
        <p:nvPicPr>
          <p:cNvPr id="5" name="Picture 4" descr="logo_white.png"/>
          <p:cNvPicPr>
            <a:picLocks noChangeAspect="1"/>
          </p:cNvPicPr>
          <p:nvPr/>
        </p:nvPicPr>
        <p:blipFill>
          <a:blip r:embed="rId3"/>
          <a:stretch>
            <a:fillRect/>
          </a:stretch>
        </p:blipFill>
        <p:spPr>
          <a:xfrm>
            <a:off x="914400" y="685800"/>
            <a:ext cx="917285" cy="530352"/>
          </a:xfrm>
          <a:prstGeom prst="rect">
            <a:avLst/>
          </a:prstGeom>
        </p:spPr>
      </p:pic>
      <p:sp>
        <p:nvSpPr>
          <p:cNvPr id="6" name="Rectangle 5"/>
          <p:cNvSpPr/>
          <p:nvPr/>
        </p:nvSpPr>
        <p:spPr>
          <a:xfrm>
            <a:off x="914400" y="2615184"/>
            <a:ext cx="77724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79776"/>
            <a:ext cx="7315200" cy="292608"/>
          </a:xfrm>
          <a:prstGeom prst="rect">
            <a:avLst/>
          </a:prstGeom>
          <a:noFill/>
        </p:spPr>
        <p:txBody>
          <a:bodyPr wrap="square" anchor="t" lIns="0" rIns="0" tIns="0" bIns="0">
            <a:spAutoFit/>
          </a:bodyPr>
          <a:lstStyle/>
          <a:p>
            <a:pPr algn="l">
              <a:spcBef>
                <a:spcPts val="0"/>
              </a:spcBef>
              <a:spcAft>
                <a:spcPts val="0"/>
              </a:spcAft>
            </a:pPr>
            <a:r>
              <a:rPr sz="1100" b="1" i="0" spc="180" cap="all">
                <a:solidFill>
                  <a:srgbClr val="869397"/>
                </a:solidFill>
                <a:latin typeface="Aptos"/>
                <a:cs typeface="Aptos"/>
              </a:rPr>
              <a:t>Board Strategy Meeting  ·  September 2026</a:t>
            </a:r>
          </a:p>
        </p:txBody>
      </p:sp>
      <p:sp>
        <p:nvSpPr>
          <p:cNvPr id="8" name="TextBox 7"/>
          <p:cNvSpPr txBox="1"/>
          <p:nvPr/>
        </p:nvSpPr>
        <p:spPr>
          <a:xfrm>
            <a:off x="896112" y="3145536"/>
            <a:ext cx="7498079" cy="960120"/>
          </a:xfrm>
          <a:prstGeom prst="rect">
            <a:avLst/>
          </a:prstGeom>
          <a:noFill/>
        </p:spPr>
        <p:txBody>
          <a:bodyPr wrap="square" anchor="t" lIns="0" rIns="0" tIns="0" bIns="0">
            <a:spAutoFit/>
          </a:bodyPr>
          <a:lstStyle/>
          <a:p>
            <a:pPr algn="l">
              <a:spcAft>
                <a:spcPts val="0"/>
              </a:spcAft>
            </a:pPr>
            <a:r>
              <a:rPr sz="4200" b="0" i="0">
                <a:solidFill>
                  <a:srgbClr val="FFFFFF"/>
                </a:solidFill>
                <a:latin typeface="Spectral Light"/>
                <a:cs typeface="Spectral Light"/>
              </a:rPr>
              <a:t>Aravest’s </a:t>
            </a:r>
            <a:r>
              <a:rPr sz="4200" b="0" i="1">
                <a:solidFill>
                  <a:srgbClr val="FFFFFF"/>
                </a:solidFill>
                <a:latin typeface="Spectral Light"/>
                <a:cs typeface="Spectral Light"/>
              </a:rPr>
              <a:t>Next Phase</a:t>
            </a:r>
          </a:p>
        </p:txBody>
      </p:sp>
      <p:sp>
        <p:nvSpPr>
          <p:cNvPr id="9" name="TextBox 8"/>
          <p:cNvSpPr txBox="1"/>
          <p:nvPr/>
        </p:nvSpPr>
        <p:spPr>
          <a:xfrm>
            <a:off x="914400" y="4187952"/>
            <a:ext cx="6858000" cy="1005840"/>
          </a:xfrm>
          <a:prstGeom prst="rect">
            <a:avLst/>
          </a:prstGeom>
          <a:noFill/>
        </p:spPr>
        <p:txBody>
          <a:bodyPr wrap="square" anchor="t" lIns="0" rIns="0" tIns="0" bIns="0">
            <a:spAutoFit/>
          </a:bodyPr>
          <a:lstStyle/>
          <a:p>
            <a:pPr algn="l">
              <a:lnSpc>
                <a:spcPct val="132000"/>
              </a:lnSpc>
              <a:spcBef>
                <a:spcPts val="0"/>
              </a:spcBef>
              <a:spcAft>
                <a:spcPts val="0"/>
              </a:spcAft>
            </a:pPr>
            <a:r>
              <a:rPr sz="1350" b="0" i="0">
                <a:solidFill>
                  <a:srgbClr val="D5DDE6"/>
                </a:solidFill>
                <a:latin typeface="Aptos"/>
                <a:cs typeface="Aptos"/>
              </a:rPr>
              <a:t>From integration to institution-building: establishing the post-SMFL track record, defining the near-term investment focus and developing the pathways for sustainable long-term growth.</a:t>
            </a:r>
          </a:p>
        </p:txBody>
      </p:sp>
      <p:sp>
        <p:nvSpPr>
          <p:cNvPr id="10" name="TextBox 9"/>
          <p:cNvSpPr txBox="1"/>
          <p:nvPr/>
        </p:nvSpPr>
        <p:spPr>
          <a:xfrm>
            <a:off x="914400" y="6355080"/>
            <a:ext cx="7315200" cy="292608"/>
          </a:xfrm>
          <a:prstGeom prst="rect">
            <a:avLst/>
          </a:prstGeom>
          <a:noFill/>
        </p:spPr>
        <p:txBody>
          <a:bodyPr wrap="square" anchor="t" lIns="0" rIns="0" tIns="0" bIns="0">
            <a:spAutoFit/>
          </a:bodyPr>
          <a:lstStyle/>
          <a:p>
            <a:pPr algn="l">
              <a:spcBef>
                <a:spcPts val="0"/>
              </a:spcBef>
              <a:spcAft>
                <a:spcPts val="0"/>
              </a:spcAft>
            </a:pPr>
            <a:r>
              <a:rPr sz="900" b="0" i="0">
                <a:solidFill>
                  <a:srgbClr val="D5DDE6"/>
                </a:solidFill>
                <a:latin typeface="Aptos"/>
                <a:cs typeface="Aptos"/>
              </a:rPr>
              <a:t>Aravest Fund Management Pte. Ltd.      Private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58368"/>
            <a:ext cx="5486400" cy="914400"/>
          </a:xfrm>
          <a:prstGeom prst="rect">
            <a:avLst/>
          </a:prstGeom>
          <a:noFill/>
        </p:spPr>
        <p:txBody>
          <a:bodyPr wrap="square" anchor="t" lIns="0" rIns="0" tIns="0" bIns="0">
            <a:spAutoFit/>
          </a:bodyPr>
          <a:lstStyle/>
          <a:p>
            <a:pPr algn="l">
              <a:lnSpc>
                <a:spcPct val="104000"/>
              </a:lnSpc>
              <a:spcBef>
                <a:spcPts val="0"/>
              </a:spcBef>
              <a:spcAft>
                <a:spcPts val="0"/>
              </a:spcAft>
            </a:pPr>
            <a:r>
              <a:rPr sz="3000" b="0" i="0">
                <a:solidFill>
                  <a:srgbClr val="002B5C"/>
                </a:solidFill>
                <a:latin typeface="Aptos Display"/>
                <a:cs typeface="Aptos Display"/>
              </a:rPr>
              <a:t>Agenda</a:t>
            </a:r>
          </a:p>
        </p:txBody>
      </p:sp>
      <p:sp>
        <p:nvSpPr>
          <p:cNvPr id="4" name="Rectangle 3"/>
          <p:cNvSpPr/>
          <p:nvPr/>
        </p:nvSpPr>
        <p:spPr>
          <a:xfrm>
            <a:off x="914400" y="1783080"/>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20"/>
            <a:ext cx="822960" cy="54864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01</a:t>
            </a:r>
          </a:p>
        </p:txBody>
      </p:sp>
      <p:sp>
        <p:nvSpPr>
          <p:cNvPr id="6" name="TextBox 5"/>
          <p:cNvSpPr txBox="1"/>
          <p:nvPr/>
        </p:nvSpPr>
        <p:spPr>
          <a:xfrm>
            <a:off x="1737360" y="1874520"/>
            <a:ext cx="6949440" cy="54864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Purpose and development pathway</a:t>
            </a:r>
          </a:p>
        </p:txBody>
      </p:sp>
      <p:sp>
        <p:nvSpPr>
          <p:cNvPr id="7" name="TextBox 6"/>
          <p:cNvSpPr txBox="1"/>
          <p:nvPr/>
        </p:nvSpPr>
        <p:spPr>
          <a:xfrm>
            <a:off x="8229600" y="1911096"/>
            <a:ext cx="3017520" cy="548640"/>
          </a:xfrm>
          <a:prstGeom prst="rect">
            <a:avLst/>
          </a:prstGeom>
          <a:noFill/>
        </p:spPr>
        <p:txBody>
          <a:bodyPr wrap="square" anchor="t" lIns="0" rIns="0" tIns="0" bIns="0">
            <a:spAutoFit/>
          </a:bodyPr>
          <a:lstStyle/>
          <a:p>
            <a:pPr algn="l">
              <a:spcBef>
                <a:spcPts val="0"/>
              </a:spcBef>
              <a:spcAft>
                <a:spcPts val="0"/>
              </a:spcAft>
            </a:pPr>
            <a:r>
              <a:rPr sz="1100" b="0" i="0">
                <a:solidFill>
                  <a:srgbClr val="35464F"/>
                </a:solidFill>
                <a:latin typeface="Aptos"/>
                <a:cs typeface="Aptos"/>
              </a:rPr>
              <a:t>From integration to institution-building</a:t>
            </a:r>
          </a:p>
        </p:txBody>
      </p:sp>
      <p:sp>
        <p:nvSpPr>
          <p:cNvPr id="8" name="Rectangle 7"/>
          <p:cNvSpPr/>
          <p:nvPr/>
        </p:nvSpPr>
        <p:spPr>
          <a:xfrm>
            <a:off x="914400" y="2496312"/>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87752"/>
            <a:ext cx="822960" cy="54864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02</a:t>
            </a:r>
          </a:p>
        </p:txBody>
      </p:sp>
      <p:sp>
        <p:nvSpPr>
          <p:cNvPr id="10" name="TextBox 9"/>
          <p:cNvSpPr txBox="1"/>
          <p:nvPr/>
        </p:nvSpPr>
        <p:spPr>
          <a:xfrm>
            <a:off x="1737360" y="2587752"/>
            <a:ext cx="6949440" cy="54864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The Aravest Way</a:t>
            </a:r>
          </a:p>
        </p:txBody>
      </p:sp>
      <p:sp>
        <p:nvSpPr>
          <p:cNvPr id="11" name="TextBox 10"/>
          <p:cNvSpPr txBox="1"/>
          <p:nvPr/>
        </p:nvSpPr>
        <p:spPr>
          <a:xfrm>
            <a:off x="8229600" y="2624328"/>
            <a:ext cx="3017520" cy="548640"/>
          </a:xfrm>
          <a:prstGeom prst="rect">
            <a:avLst/>
          </a:prstGeom>
          <a:noFill/>
        </p:spPr>
        <p:txBody>
          <a:bodyPr wrap="square" anchor="t" lIns="0" rIns="0" tIns="0" bIns="0">
            <a:spAutoFit/>
          </a:bodyPr>
          <a:lstStyle/>
          <a:p>
            <a:pPr algn="l">
              <a:spcBef>
                <a:spcPts val="0"/>
              </a:spcBef>
              <a:spcAft>
                <a:spcPts val="0"/>
              </a:spcAft>
            </a:pPr>
            <a:r>
              <a:rPr sz="1100" b="0" i="0">
                <a:solidFill>
                  <a:srgbClr val="35464F"/>
                </a:solidFill>
                <a:latin typeface="Aptos"/>
                <a:cs typeface="Aptos"/>
              </a:rPr>
              <a:t>Values-led. Value-focused.</a:t>
            </a:r>
          </a:p>
        </p:txBody>
      </p:sp>
      <p:sp>
        <p:nvSpPr>
          <p:cNvPr id="12" name="Rectangle 11"/>
          <p:cNvSpPr/>
          <p:nvPr/>
        </p:nvSpPr>
        <p:spPr>
          <a:xfrm>
            <a:off x="914400" y="3209544"/>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00984"/>
            <a:ext cx="822960" cy="54864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03</a:t>
            </a:r>
          </a:p>
        </p:txBody>
      </p:sp>
      <p:sp>
        <p:nvSpPr>
          <p:cNvPr id="14" name="TextBox 13"/>
          <p:cNvSpPr txBox="1"/>
          <p:nvPr/>
        </p:nvSpPr>
        <p:spPr>
          <a:xfrm>
            <a:off x="1737360" y="3300984"/>
            <a:ext cx="6949440" cy="54864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The post-SMFL track record</a:t>
            </a:r>
          </a:p>
        </p:txBody>
      </p:sp>
      <p:sp>
        <p:nvSpPr>
          <p:cNvPr id="15" name="TextBox 14"/>
          <p:cNvSpPr txBox="1"/>
          <p:nvPr/>
        </p:nvSpPr>
        <p:spPr>
          <a:xfrm>
            <a:off x="8229600" y="3337560"/>
            <a:ext cx="3017520" cy="548640"/>
          </a:xfrm>
          <a:prstGeom prst="rect">
            <a:avLst/>
          </a:prstGeom>
          <a:noFill/>
        </p:spPr>
        <p:txBody>
          <a:bodyPr wrap="square" anchor="t" lIns="0" rIns="0" tIns="0" bIns="0">
            <a:spAutoFit/>
          </a:bodyPr>
          <a:lstStyle/>
          <a:p>
            <a:pPr algn="l">
              <a:spcBef>
                <a:spcPts val="0"/>
              </a:spcBef>
              <a:spcAft>
                <a:spcPts val="0"/>
              </a:spcAft>
            </a:pPr>
            <a:r>
              <a:rPr sz="1100" b="0" i="0">
                <a:solidFill>
                  <a:srgbClr val="35464F"/>
                </a:solidFill>
                <a:latin typeface="Aptos"/>
                <a:cs typeface="Aptos"/>
              </a:rPr>
              <a:t>Two parallel pathways and warehousing</a:t>
            </a:r>
          </a:p>
        </p:txBody>
      </p:sp>
      <p:sp>
        <p:nvSpPr>
          <p:cNvPr id="16" name="Rectangle 15"/>
          <p:cNvSpPr/>
          <p:nvPr/>
        </p:nvSpPr>
        <p:spPr>
          <a:xfrm>
            <a:off x="914400" y="3922776"/>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14216"/>
            <a:ext cx="822960" cy="54864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04</a:t>
            </a:r>
          </a:p>
        </p:txBody>
      </p:sp>
      <p:sp>
        <p:nvSpPr>
          <p:cNvPr id="18" name="TextBox 17"/>
          <p:cNvSpPr txBox="1"/>
          <p:nvPr/>
        </p:nvSpPr>
        <p:spPr>
          <a:xfrm>
            <a:off x="1737360" y="4014216"/>
            <a:ext cx="6949440" cy="54864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Capital, AUM and current pipeline</a:t>
            </a:r>
          </a:p>
        </p:txBody>
      </p:sp>
      <p:sp>
        <p:nvSpPr>
          <p:cNvPr id="19" name="TextBox 18"/>
          <p:cNvSpPr txBox="1"/>
          <p:nvPr/>
        </p:nvSpPr>
        <p:spPr>
          <a:xfrm>
            <a:off x="8229600" y="4050792"/>
            <a:ext cx="3017520" cy="548640"/>
          </a:xfrm>
          <a:prstGeom prst="rect">
            <a:avLst/>
          </a:prstGeom>
          <a:noFill/>
        </p:spPr>
        <p:txBody>
          <a:bodyPr wrap="square" anchor="t" lIns="0" rIns="0" tIns="0" bIns="0">
            <a:spAutoFit/>
          </a:bodyPr>
          <a:lstStyle/>
          <a:p>
            <a:pPr algn="l">
              <a:spcBef>
                <a:spcPts val="0"/>
              </a:spcBef>
              <a:spcAft>
                <a:spcPts val="0"/>
              </a:spcAft>
            </a:pPr>
            <a:r>
              <a:rPr sz="1100" b="0" i="0">
                <a:solidFill>
                  <a:srgbClr val="35464F"/>
                </a:solidFill>
                <a:latin typeface="Aptos"/>
                <a:cs typeface="Aptos"/>
              </a:rPr>
              <a:t>Conrad Seoul illustration</a:t>
            </a:r>
          </a:p>
        </p:txBody>
      </p:sp>
      <p:sp>
        <p:nvSpPr>
          <p:cNvPr id="20" name="Rectangle 19"/>
          <p:cNvSpPr/>
          <p:nvPr/>
        </p:nvSpPr>
        <p:spPr>
          <a:xfrm>
            <a:off x="914400" y="4636008"/>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727448"/>
            <a:ext cx="822960" cy="54864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05</a:t>
            </a:r>
          </a:p>
        </p:txBody>
      </p:sp>
      <p:sp>
        <p:nvSpPr>
          <p:cNvPr id="22" name="TextBox 21"/>
          <p:cNvSpPr txBox="1"/>
          <p:nvPr/>
        </p:nvSpPr>
        <p:spPr>
          <a:xfrm>
            <a:off x="1737360" y="4727448"/>
            <a:ext cx="6949440" cy="54864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2027 investment focus and value creation</a:t>
            </a:r>
          </a:p>
        </p:txBody>
      </p:sp>
      <p:sp>
        <p:nvSpPr>
          <p:cNvPr id="23" name="TextBox 22"/>
          <p:cNvSpPr txBox="1"/>
          <p:nvPr/>
        </p:nvSpPr>
        <p:spPr>
          <a:xfrm>
            <a:off x="8229600" y="4764024"/>
            <a:ext cx="3017520" cy="548640"/>
          </a:xfrm>
          <a:prstGeom prst="rect">
            <a:avLst/>
          </a:prstGeom>
          <a:noFill/>
        </p:spPr>
        <p:txBody>
          <a:bodyPr wrap="square" anchor="t" lIns="0" rIns="0" tIns="0" bIns="0">
            <a:spAutoFit/>
          </a:bodyPr>
          <a:lstStyle/>
          <a:p>
            <a:pPr algn="l">
              <a:spcBef>
                <a:spcPts val="0"/>
              </a:spcBef>
              <a:spcAft>
                <a:spcPts val="0"/>
              </a:spcAft>
            </a:pPr>
            <a:r>
              <a:rPr sz="1100" b="0" i="0">
                <a:solidFill>
                  <a:srgbClr val="35464F"/>
                </a:solidFill>
                <a:latin typeface="Aptos"/>
                <a:cs typeface="Aptos"/>
              </a:rPr>
              <a:t>Playbooks and capability coverage</a:t>
            </a:r>
          </a:p>
        </p:txBody>
      </p:sp>
      <p:sp>
        <p:nvSpPr>
          <p:cNvPr id="24" name="Rectangle 23"/>
          <p:cNvSpPr/>
          <p:nvPr/>
        </p:nvSpPr>
        <p:spPr>
          <a:xfrm>
            <a:off x="914400" y="5349240"/>
            <a:ext cx="10332720"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40680"/>
            <a:ext cx="822960" cy="548640"/>
          </a:xfrm>
          <a:prstGeom prst="rect">
            <a:avLst/>
          </a:prstGeom>
          <a:noFill/>
        </p:spPr>
        <p:txBody>
          <a:bodyPr wrap="square" anchor="t" lIns="0" rIns="0" tIns="0" bIns="0">
            <a:spAutoFit/>
          </a:bodyPr>
          <a:lstStyle/>
          <a:p>
            <a:pPr algn="l">
              <a:spcBef>
                <a:spcPts val="0"/>
              </a:spcBef>
              <a:spcAft>
                <a:spcPts val="0"/>
              </a:spcAft>
            </a:pPr>
            <a:r>
              <a:rPr sz="1400" b="0" i="0">
                <a:solidFill>
                  <a:srgbClr val="869397"/>
                </a:solidFill>
                <a:latin typeface="Spectral Light"/>
                <a:cs typeface="Spectral Light"/>
              </a:rPr>
              <a:t>06</a:t>
            </a:r>
          </a:p>
        </p:txBody>
      </p:sp>
      <p:sp>
        <p:nvSpPr>
          <p:cNvPr id="26" name="TextBox 25"/>
          <p:cNvSpPr txBox="1"/>
          <p:nvPr/>
        </p:nvSpPr>
        <p:spPr>
          <a:xfrm>
            <a:off x="1737360" y="5440680"/>
            <a:ext cx="6949440" cy="548640"/>
          </a:xfrm>
          <a:prstGeom prst="rect">
            <a:avLst/>
          </a:prstGeom>
          <a:noFill/>
        </p:spPr>
        <p:txBody>
          <a:bodyPr wrap="square" anchor="t" lIns="0" rIns="0" tIns="0" bIns="0">
            <a:spAutoFit/>
          </a:bodyPr>
          <a:lstStyle/>
          <a:p>
            <a:pPr algn="l">
              <a:spcBef>
                <a:spcPts val="0"/>
              </a:spcBef>
              <a:spcAft>
                <a:spcPts val="0"/>
              </a:spcAft>
            </a:pPr>
            <a:r>
              <a:rPr sz="1500" b="0" i="0">
                <a:solidFill>
                  <a:srgbClr val="002B5C"/>
                </a:solidFill>
                <a:latin typeface="Aptos Display"/>
                <a:cs typeface="Aptos Display"/>
              </a:rPr>
              <a:t>Institutional standards and decisions</a:t>
            </a:r>
          </a:p>
        </p:txBody>
      </p:sp>
      <p:sp>
        <p:nvSpPr>
          <p:cNvPr id="27" name="TextBox 26"/>
          <p:cNvSpPr txBox="1"/>
          <p:nvPr/>
        </p:nvSpPr>
        <p:spPr>
          <a:xfrm>
            <a:off x="8229600" y="5477256"/>
            <a:ext cx="3017520" cy="548640"/>
          </a:xfrm>
          <a:prstGeom prst="rect">
            <a:avLst/>
          </a:prstGeom>
          <a:noFill/>
        </p:spPr>
        <p:txBody>
          <a:bodyPr wrap="square" anchor="t" lIns="0" rIns="0" tIns="0" bIns="0">
            <a:spAutoFit/>
          </a:bodyPr>
          <a:lstStyle/>
          <a:p>
            <a:pPr algn="l">
              <a:spcBef>
                <a:spcPts val="0"/>
              </a:spcBef>
              <a:spcAft>
                <a:spcPts val="0"/>
              </a:spcAft>
            </a:pPr>
            <a:r>
              <a:rPr sz="1100" b="0" i="0">
                <a:solidFill>
                  <a:srgbClr val="35464F"/>
                </a:solidFill>
                <a:latin typeface="Aptos"/>
                <a:cs typeface="Aptos"/>
              </a:rPr>
              <a:t>Structuring standard; matters for the Board</a:t>
            </a:r>
          </a:p>
        </p:txBody>
      </p:sp>
      <p:sp>
        <p:nvSpPr>
          <p:cNvPr id="28" name="TextBox 2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9" name="TextBox 2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a:t>
            </a:r>
          </a:p>
        </p:txBody>
      </p:sp>
      <p:pic>
        <p:nvPicPr>
          <p:cNvPr id="30" name="Picture 29"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navy.png"/>
          <p:cNvPicPr>
            <a:picLocks noChangeAspect="1"/>
          </p:cNvPicPr>
          <p:nvPr/>
        </p:nvPicPr>
        <p:blipFill>
          <a:blip r:embed="rId2"/>
          <a:stretch>
            <a:fillRect/>
          </a:stretch>
        </p:blipFill>
        <p:spPr>
          <a:xfrm>
            <a:off x="10881360" y="329184"/>
            <a:ext cx="600980" cy="347472"/>
          </a:xfrm>
          <a:prstGeom prst="rect">
            <a:avLst/>
          </a:prstGeom>
        </p:spPr>
      </p:pic>
      <p:sp>
        <p:nvSpPr>
          <p:cNvPr id="4" name="TextBox 3"/>
          <p:cNvSpPr txBox="1"/>
          <p:nvPr/>
        </p:nvSpPr>
        <p:spPr>
          <a:xfrm>
            <a:off x="1463040" y="1600200"/>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01 · Purpose</a:t>
            </a:r>
          </a:p>
        </p:txBody>
      </p:sp>
      <p:sp>
        <p:nvSpPr>
          <p:cNvPr id="5" name="TextBox 4"/>
          <p:cNvSpPr txBox="1"/>
          <p:nvPr/>
        </p:nvSpPr>
        <p:spPr>
          <a:xfrm>
            <a:off x="1463040" y="2057400"/>
            <a:ext cx="9235440" cy="1737360"/>
          </a:xfrm>
          <a:prstGeom prst="rect">
            <a:avLst/>
          </a:prstGeom>
          <a:noFill/>
        </p:spPr>
        <p:txBody>
          <a:bodyPr wrap="square" anchor="t" lIns="0" rIns="0" tIns="0" bIns="0">
            <a:spAutoFit/>
          </a:bodyPr>
          <a:lstStyle/>
          <a:p>
            <a:pPr>
              <a:lnSpc>
                <a:spcPct val="116000"/>
              </a:lnSpc>
              <a:spcAft>
                <a:spcPts val="0"/>
              </a:spcAft>
            </a:pPr>
            <a:r>
              <a:rPr sz="3000" b="0" i="0">
                <a:solidFill>
                  <a:srgbClr val="002B5C"/>
                </a:solidFill>
                <a:latin typeface="Spectral Light"/>
                <a:cs typeface="Spectral Light"/>
              </a:rPr>
              <a:t>Aravest is moving from integration into </a:t>
            </a:r>
            <a:r>
              <a:rPr sz="3000" b="0" i="1">
                <a:solidFill>
                  <a:srgbClr val="002B5C"/>
                </a:solidFill>
                <a:latin typeface="Spectral Light"/>
                <a:cs typeface="Spectral Light"/>
              </a:rPr>
              <a:t>institution-building</a:t>
            </a:r>
            <a:r>
              <a:rPr sz="3000" b="0" i="0">
                <a:solidFill>
                  <a:srgbClr val="002B5C"/>
                </a:solidFill>
                <a:latin typeface="Spectral Light"/>
                <a:cs typeface="Spectral Light"/>
              </a:rPr>
              <a:t>.</a:t>
            </a:r>
          </a:p>
        </p:txBody>
      </p:sp>
      <p:sp>
        <p:nvSpPr>
          <p:cNvPr id="6" name="Rectangle 5"/>
          <p:cNvSpPr/>
          <p:nvPr/>
        </p:nvSpPr>
        <p:spPr>
          <a:xfrm>
            <a:off x="1481328" y="3977639"/>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4206240"/>
            <a:ext cx="9144000" cy="1097280"/>
          </a:xfrm>
          <a:prstGeom prst="rect">
            <a:avLst/>
          </a:prstGeom>
          <a:noFill/>
        </p:spPr>
        <p:txBody>
          <a:bodyPr wrap="square" anchor="t" lIns="0" rIns="0" tIns="0" bIns="0">
            <a:spAutoFit/>
          </a:bodyPr>
          <a:lstStyle/>
          <a:p>
            <a:pPr algn="l">
              <a:lnSpc>
                <a:spcPct val="132000"/>
              </a:lnSpc>
              <a:spcBef>
                <a:spcPts val="0"/>
              </a:spcBef>
              <a:spcAft>
                <a:spcPts val="0"/>
              </a:spcAft>
            </a:pPr>
            <a:r>
              <a:rPr sz="1350" b="0" i="0">
                <a:solidFill>
                  <a:srgbClr val="35464F"/>
                </a:solidFill>
                <a:latin typeface="Aptos"/>
                <a:cs typeface="Aptos"/>
              </a:rPr>
              <a:t>The initial integration into SMFL has been substantially completed. Aravest has maintained continuity across the platform, strengthened governance and begun building a visible record of execution under the new sponsor. The next phase is to develop the institutional foundations and investment record required for sustainable long-term growth.</a:t>
            </a:r>
          </a:p>
        </p:txBody>
      </p:sp>
      <p:sp>
        <p:nvSpPr>
          <p:cNvPr id="8" name="TextBox 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9" name="TextBox 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2</a:t>
            </a:r>
          </a:p>
        </p:txBody>
      </p:sp>
      <p:pic>
        <p:nvPicPr>
          <p:cNvPr id="10" name="Picture 9"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02 · Development pathway</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proof-building process has begun and becomes the principal focus from 2027 to 2029.</a:t>
            </a:r>
          </a:p>
        </p:txBody>
      </p:sp>
      <p:sp>
        <p:nvSpPr>
          <p:cNvPr id="5" name="Rounded Rectangle 4"/>
          <p:cNvSpPr/>
          <p:nvPr/>
        </p:nvSpPr>
        <p:spPr>
          <a:xfrm>
            <a:off x="640080" y="1965960"/>
            <a:ext cx="2560320" cy="2880360"/>
          </a:xfrm>
          <a:prstGeom prst="roundRect">
            <a:avLst>
              <a:gd name="adj" fmla="val 3214"/>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965960"/>
            <a:ext cx="2194560"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12264"/>
            <a:ext cx="2194560" cy="2587752"/>
          </a:xfrm>
          <a:prstGeom prst="rect">
            <a:avLst/>
          </a:prstGeom>
          <a:noFill/>
        </p:spPr>
        <p:txBody>
          <a:bodyPr wrap="square" anchor="t" lIns="0" rIns="0" tIns="0" bIns="0">
            <a:spAutoFit/>
          </a:bodyPr>
          <a:lstStyle/>
          <a:p>
            <a:pPr algn="l">
              <a:spcBef>
                <a:spcPts val="0"/>
              </a:spcBef>
              <a:spcAft>
                <a:spcPts val="500"/>
              </a:spcAft>
            </a:pPr>
            <a:r>
              <a:rPr sz="950" b="1" i="0" spc="100">
                <a:solidFill>
                  <a:srgbClr val="35464F"/>
                </a:solidFill>
                <a:latin typeface="Aptos"/>
                <a:cs typeface="Aptos"/>
              </a:rPr>
              <a:t>2025</a:t>
            </a:r>
          </a:p>
          <a:p>
            <a:pPr algn="l">
              <a:lnSpc>
                <a:spcPct val="105000"/>
              </a:lnSpc>
              <a:spcBef>
                <a:spcPts val="0"/>
              </a:spcBef>
              <a:spcAft>
                <a:spcPts val="600"/>
              </a:spcAft>
            </a:pPr>
            <a:r>
              <a:rPr sz="1450" b="0" i="0">
                <a:solidFill>
                  <a:srgbClr val="002B5C"/>
                </a:solidFill>
                <a:latin typeface="Aptos Display"/>
                <a:cs typeface="Aptos Display"/>
              </a:rPr>
              <a:t>Integrate and begin proving</a:t>
            </a:r>
          </a:p>
          <a:p>
            <a:pPr algn="l">
              <a:lnSpc>
                <a:spcPct val="124000"/>
              </a:lnSpc>
              <a:spcBef>
                <a:spcPts val="0"/>
              </a:spcBef>
              <a:spcAft>
                <a:spcPts val="0"/>
              </a:spcAft>
            </a:pPr>
            <a:r>
              <a:rPr sz="1300" b="0" i="0">
                <a:solidFill>
                  <a:srgbClr val="35464F"/>
                </a:solidFill>
                <a:latin typeface="Aptos"/>
                <a:cs typeface="Aptos"/>
              </a:rPr>
              <a:t>Complete the initial integration, maintain platform continuity and begin demonstrating execution under SMFL ownership.</a:t>
            </a:r>
          </a:p>
        </p:txBody>
      </p:sp>
      <p:sp>
        <p:nvSpPr>
          <p:cNvPr id="8" name="TextBox 7"/>
          <p:cNvSpPr txBox="1"/>
          <p:nvPr/>
        </p:nvSpPr>
        <p:spPr>
          <a:xfrm>
            <a:off x="3200400" y="3063240"/>
            <a:ext cx="222504"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9" name="Rounded Rectangle 8"/>
          <p:cNvSpPr/>
          <p:nvPr/>
        </p:nvSpPr>
        <p:spPr>
          <a:xfrm>
            <a:off x="3422904" y="1965960"/>
            <a:ext cx="2560320" cy="2880360"/>
          </a:xfrm>
          <a:prstGeom prst="roundRect">
            <a:avLst>
              <a:gd name="adj" fmla="val 3214"/>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05784" y="1965960"/>
            <a:ext cx="2194560"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784" y="2112264"/>
            <a:ext cx="2194560" cy="2587752"/>
          </a:xfrm>
          <a:prstGeom prst="rect">
            <a:avLst/>
          </a:prstGeom>
          <a:noFill/>
        </p:spPr>
        <p:txBody>
          <a:bodyPr wrap="square" anchor="t" lIns="0" rIns="0" tIns="0" bIns="0">
            <a:spAutoFit/>
          </a:bodyPr>
          <a:lstStyle/>
          <a:p>
            <a:pPr algn="l">
              <a:spcBef>
                <a:spcPts val="0"/>
              </a:spcBef>
              <a:spcAft>
                <a:spcPts val="500"/>
              </a:spcAft>
            </a:pPr>
            <a:r>
              <a:rPr sz="950" b="1" i="0" spc="100">
                <a:solidFill>
                  <a:srgbClr val="35464F"/>
                </a:solidFill>
                <a:latin typeface="Aptos"/>
                <a:cs typeface="Aptos"/>
              </a:rPr>
              <a:t>2026</a:t>
            </a:r>
          </a:p>
          <a:p>
            <a:pPr algn="l">
              <a:lnSpc>
                <a:spcPct val="105000"/>
              </a:lnSpc>
              <a:spcBef>
                <a:spcPts val="0"/>
              </a:spcBef>
              <a:spcAft>
                <a:spcPts val="600"/>
              </a:spcAft>
            </a:pPr>
            <a:r>
              <a:rPr sz="1450" b="0" i="0">
                <a:solidFill>
                  <a:srgbClr val="002B5C"/>
                </a:solidFill>
                <a:latin typeface="Aptos Display"/>
                <a:cs typeface="Aptos Display"/>
              </a:rPr>
              <a:t>Establish institutional identity</a:t>
            </a:r>
          </a:p>
          <a:p>
            <a:pPr algn="l">
              <a:lnSpc>
                <a:spcPct val="124000"/>
              </a:lnSpc>
              <a:spcBef>
                <a:spcPts val="0"/>
              </a:spcBef>
              <a:spcAft>
                <a:spcPts val="0"/>
              </a:spcAft>
            </a:pPr>
            <a:r>
              <a:rPr sz="1300" b="0" i="0">
                <a:solidFill>
                  <a:srgbClr val="35464F"/>
                </a:solidFill>
                <a:latin typeface="Aptos"/>
                <a:cs typeface="Aptos"/>
              </a:rPr>
              <a:t>Introduce The Aravest Way, deepen governance and investment discipline, and continue building visible post-SMFL evidence.</a:t>
            </a:r>
          </a:p>
        </p:txBody>
      </p:sp>
      <p:sp>
        <p:nvSpPr>
          <p:cNvPr id="12" name="TextBox 11"/>
          <p:cNvSpPr txBox="1"/>
          <p:nvPr/>
        </p:nvSpPr>
        <p:spPr>
          <a:xfrm>
            <a:off x="5983224" y="3063240"/>
            <a:ext cx="222504"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3" name="Rounded Rectangle 12"/>
          <p:cNvSpPr/>
          <p:nvPr/>
        </p:nvSpPr>
        <p:spPr>
          <a:xfrm>
            <a:off x="6205728" y="1965960"/>
            <a:ext cx="2560320" cy="2880360"/>
          </a:xfrm>
          <a:prstGeom prst="roundRect">
            <a:avLst>
              <a:gd name="adj" fmla="val 3214"/>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88608" y="1965960"/>
            <a:ext cx="2194560"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608" y="2112264"/>
            <a:ext cx="2194560" cy="2587752"/>
          </a:xfrm>
          <a:prstGeom prst="rect">
            <a:avLst/>
          </a:prstGeom>
          <a:noFill/>
        </p:spPr>
        <p:txBody>
          <a:bodyPr wrap="square" anchor="t" lIns="0" rIns="0" tIns="0" bIns="0">
            <a:spAutoFit/>
          </a:bodyPr>
          <a:lstStyle/>
          <a:p>
            <a:pPr algn="l">
              <a:spcBef>
                <a:spcPts val="0"/>
              </a:spcBef>
              <a:spcAft>
                <a:spcPts val="500"/>
              </a:spcAft>
            </a:pPr>
            <a:r>
              <a:rPr sz="950" b="1" i="0" spc="100">
                <a:solidFill>
                  <a:srgbClr val="008080"/>
                </a:solidFill>
                <a:latin typeface="Aptos"/>
                <a:cs typeface="Aptos"/>
              </a:rPr>
              <a:t>2027–2029</a:t>
            </a:r>
          </a:p>
          <a:p>
            <a:pPr algn="l">
              <a:lnSpc>
                <a:spcPct val="105000"/>
              </a:lnSpc>
              <a:spcBef>
                <a:spcPts val="0"/>
              </a:spcBef>
              <a:spcAft>
                <a:spcPts val="600"/>
              </a:spcAft>
            </a:pPr>
            <a:r>
              <a:rPr sz="1450" b="0" i="0">
                <a:solidFill>
                  <a:srgbClr val="002B5C"/>
                </a:solidFill>
                <a:latin typeface="Aptos Display"/>
                <a:cs typeface="Aptos Display"/>
              </a:rPr>
              <a:t>Build and compound the record</a:t>
            </a:r>
          </a:p>
          <a:p>
            <a:pPr algn="l">
              <a:lnSpc>
                <a:spcPct val="124000"/>
              </a:lnSpc>
              <a:spcBef>
                <a:spcPts val="0"/>
              </a:spcBef>
              <a:spcAft>
                <a:spcPts val="0"/>
              </a:spcAft>
            </a:pPr>
            <a:r>
              <a:rPr sz="1300" b="0" i="0">
                <a:solidFill>
                  <a:srgbClr val="35464F"/>
                </a:solidFill>
                <a:latin typeface="Aptos"/>
                <a:cs typeface="Aptos"/>
              </a:rPr>
              <a:t>Execute selected opportunities, demonstrate outcomes, establish repeatable strategies and deepen investor relationships.</a:t>
            </a:r>
          </a:p>
        </p:txBody>
      </p:sp>
      <p:sp>
        <p:nvSpPr>
          <p:cNvPr id="16" name="TextBox 15"/>
          <p:cNvSpPr txBox="1"/>
          <p:nvPr/>
        </p:nvSpPr>
        <p:spPr>
          <a:xfrm>
            <a:off x="8766048" y="3063240"/>
            <a:ext cx="222504"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7" name="Rounded Rectangle 16"/>
          <p:cNvSpPr/>
          <p:nvPr/>
        </p:nvSpPr>
        <p:spPr>
          <a:xfrm>
            <a:off x="8988552" y="1965960"/>
            <a:ext cx="2560320" cy="2880360"/>
          </a:xfrm>
          <a:prstGeom prst="roundRect">
            <a:avLst>
              <a:gd name="adj" fmla="val 3214"/>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71432" y="1965960"/>
            <a:ext cx="2194560" cy="3175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71432" y="2112264"/>
            <a:ext cx="2194560" cy="2587752"/>
          </a:xfrm>
          <a:prstGeom prst="rect">
            <a:avLst/>
          </a:prstGeom>
          <a:noFill/>
        </p:spPr>
        <p:txBody>
          <a:bodyPr wrap="square" anchor="t" lIns="0" rIns="0" tIns="0" bIns="0">
            <a:spAutoFit/>
          </a:bodyPr>
          <a:lstStyle/>
          <a:p>
            <a:pPr algn="l">
              <a:spcBef>
                <a:spcPts val="0"/>
              </a:spcBef>
              <a:spcAft>
                <a:spcPts val="500"/>
              </a:spcAft>
            </a:pPr>
            <a:r>
              <a:rPr sz="950" b="1" i="0" spc="100">
                <a:solidFill>
                  <a:srgbClr val="35464F"/>
                </a:solidFill>
                <a:latin typeface="Aptos"/>
                <a:cs typeface="Aptos"/>
              </a:rPr>
              <a:t>AROUND 2030 ONWARD</a:t>
            </a:r>
          </a:p>
          <a:p>
            <a:pPr algn="l">
              <a:lnSpc>
                <a:spcPct val="105000"/>
              </a:lnSpc>
              <a:spcBef>
                <a:spcPts val="0"/>
              </a:spcBef>
              <a:spcAft>
                <a:spcPts val="600"/>
              </a:spcAft>
            </a:pPr>
            <a:r>
              <a:rPr sz="1450" b="0" i="0">
                <a:solidFill>
                  <a:srgbClr val="002B5C"/>
                </a:solidFill>
                <a:latin typeface="Aptos Display"/>
                <a:cs typeface="Aptos Display"/>
              </a:rPr>
              <a:t>Convert proof into scale</a:t>
            </a:r>
          </a:p>
          <a:p>
            <a:pPr algn="l">
              <a:lnSpc>
                <a:spcPct val="124000"/>
              </a:lnSpc>
              <a:spcBef>
                <a:spcPts val="0"/>
              </a:spcBef>
              <a:spcAft>
                <a:spcPts val="0"/>
              </a:spcAft>
            </a:pPr>
            <a:r>
              <a:rPr sz="1300" b="0" i="0">
                <a:solidFill>
                  <a:srgbClr val="35464F"/>
                </a:solidFill>
                <a:latin typeface="Aptos"/>
                <a:cs typeface="Aptos"/>
              </a:rPr>
              <a:t>Use the accumulated track record to pursue larger and increasingly repeatable institutional capital.</a:t>
            </a:r>
          </a:p>
        </p:txBody>
      </p:sp>
      <p:sp>
        <p:nvSpPr>
          <p:cNvPr id="20" name="Rounded Rectangle 19"/>
          <p:cNvSpPr/>
          <p:nvPr/>
        </p:nvSpPr>
        <p:spPr>
          <a:xfrm>
            <a:off x="640080" y="5230368"/>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5230368"/>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Around 2030  </a:t>
            </a:r>
            <a:r>
              <a:rPr sz="1300" b="0" i="0">
                <a:solidFill>
                  <a:srgbClr val="D5DDE6"/>
                </a:solidFill>
                <a:latin typeface="Aptos"/>
                <a:cs typeface="Aptos"/>
              </a:rPr>
              <a:t>is a realistic point at which broader institutional capital may become more achievable, subject to execution and market conditions.</a:t>
            </a:r>
          </a:p>
        </p:txBody>
      </p:sp>
      <p:sp>
        <p:nvSpPr>
          <p:cNvPr id="22" name="TextBox 21"/>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3" name="TextBox 22"/>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3</a:t>
            </a:r>
          </a:p>
        </p:txBody>
      </p:sp>
      <p:pic>
        <p:nvPicPr>
          <p:cNvPr id="24" name="Picture 23"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634472" y="365760"/>
            <a:ext cx="600980" cy="347472"/>
          </a:xfrm>
          <a:prstGeom prst="rect">
            <a:avLst/>
          </a:prstGeom>
        </p:spPr>
      </p:pic>
      <p:sp>
        <p:nvSpPr>
          <p:cNvPr id="4" name="TextBox 3"/>
          <p:cNvSpPr txBox="1"/>
          <p:nvPr/>
        </p:nvSpPr>
        <p:spPr>
          <a:xfrm>
            <a:off x="914400" y="2331720"/>
            <a:ext cx="2194560" cy="1371600"/>
          </a:xfrm>
          <a:prstGeom prst="rect">
            <a:avLst/>
          </a:prstGeom>
          <a:noFill/>
        </p:spPr>
        <p:txBody>
          <a:bodyPr wrap="square" anchor="t" lIns="0" rIns="0" tIns="0" bIns="0">
            <a:spAutoFit/>
          </a:bodyPr>
          <a:lstStyle/>
          <a:p>
            <a:pPr algn="l">
              <a:spcBef>
                <a:spcPts val="0"/>
              </a:spcBef>
              <a:spcAft>
                <a:spcPts val="0"/>
              </a:spcAft>
            </a:pPr>
            <a:r>
              <a:rPr sz="6000" b="0" i="0">
                <a:solidFill>
                  <a:srgbClr val="D5DDE6"/>
                </a:solidFill>
                <a:latin typeface="Spectral Light"/>
                <a:cs typeface="Spectral Light"/>
              </a:rPr>
              <a:t>01</a:t>
            </a:r>
          </a:p>
        </p:txBody>
      </p:sp>
      <p:sp>
        <p:nvSpPr>
          <p:cNvPr id="5" name="Rectangle 4"/>
          <p:cNvSpPr/>
          <p:nvPr/>
        </p:nvSpPr>
        <p:spPr>
          <a:xfrm>
            <a:off x="932688" y="3611880"/>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51760" y="2487168"/>
            <a:ext cx="8595360" cy="1463040"/>
          </a:xfrm>
          <a:prstGeom prst="rect">
            <a:avLst/>
          </a:prstGeom>
          <a:noFill/>
        </p:spPr>
        <p:txBody>
          <a:bodyPr wrap="square" anchor="t" lIns="0" rIns="0" tIns="0" bIns="0">
            <a:spAutoFit/>
          </a:bodyPr>
          <a:lstStyle/>
          <a:p>
            <a:pPr algn="l">
              <a:lnSpc>
                <a:spcPct val="110000"/>
              </a:lnSpc>
              <a:spcBef>
                <a:spcPts val="0"/>
              </a:spcBef>
              <a:spcAft>
                <a:spcPts val="0"/>
              </a:spcAft>
            </a:pPr>
            <a:r>
              <a:rPr sz="3000" b="0" i="0">
                <a:solidFill>
                  <a:srgbClr val="FFFFFF"/>
                </a:solidFill>
                <a:latin typeface="Spectral Light"/>
                <a:cs typeface="Spectral Light"/>
              </a:rPr>
              <a:t>The Aravest Way</a:t>
            </a:r>
          </a:p>
        </p:txBody>
      </p:sp>
      <p:sp>
        <p:nvSpPr>
          <p:cNvPr id="7" name="TextBox 6"/>
          <p:cNvSpPr txBox="1"/>
          <p:nvPr/>
        </p:nvSpPr>
        <p:spPr>
          <a:xfrm>
            <a:off x="2670048" y="3703320"/>
            <a:ext cx="7863840" cy="7315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D5DDE6"/>
                </a:solidFill>
                <a:latin typeface="Aptos"/>
                <a:cs typeface="Aptos"/>
              </a:rPr>
              <a:t>The institutional foundation for how Aravest conducts its business and invests.</a:t>
            </a:r>
          </a:p>
        </p:txBody>
      </p:sp>
      <p:sp>
        <p:nvSpPr>
          <p:cNvPr id="8" name="TextBox 7"/>
          <p:cNvSpPr txBox="1"/>
          <p:nvPr/>
        </p:nvSpPr>
        <p:spPr>
          <a:xfrm>
            <a:off x="914400" y="6455664"/>
            <a:ext cx="4572000" cy="274320"/>
          </a:xfrm>
          <a:prstGeom prst="rect">
            <a:avLst/>
          </a:prstGeom>
          <a:noFill/>
        </p:spPr>
        <p:txBody>
          <a:bodyPr wrap="square" anchor="t"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03504"/>
            <a:ext cx="10360152"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Aravest Way provides the foundation for how Aravest conducts its business and invests.</a:t>
            </a:r>
          </a:p>
        </p:txBody>
      </p:sp>
      <p:sp>
        <p:nvSpPr>
          <p:cNvPr id="4" name="TextBox 3"/>
          <p:cNvSpPr txBox="1"/>
          <p:nvPr/>
        </p:nvSpPr>
        <p:spPr>
          <a:xfrm>
            <a:off x="914400" y="1444752"/>
            <a:ext cx="10058400" cy="457200"/>
          </a:xfrm>
          <a:prstGeom prst="rect">
            <a:avLst/>
          </a:prstGeom>
          <a:noFill/>
        </p:spPr>
        <p:txBody>
          <a:bodyPr wrap="square" anchor="t" lIns="0" rIns="0" tIns="0" bIns="0">
            <a:spAutoFit/>
          </a:bodyPr>
          <a:lstStyle/>
          <a:p>
            <a:pPr algn="l">
              <a:lnSpc>
                <a:spcPct val="126000"/>
              </a:lnSpc>
              <a:spcBef>
                <a:spcPts val="0"/>
              </a:spcBef>
              <a:spcAft>
                <a:spcPts val="0"/>
              </a:spcAft>
            </a:pPr>
            <a:r>
              <a:rPr sz="1350" b="0" i="0">
                <a:solidFill>
                  <a:srgbClr val="35464F"/>
                </a:solidFill>
                <a:latin typeface="Aptos"/>
                <a:cs typeface="Aptos"/>
              </a:rPr>
              <a:t>Our values are equal and inseparable. Strategies will evolve and markets will change; the values should remain constant.</a:t>
            </a:r>
          </a:p>
        </p:txBody>
      </p:sp>
      <p:sp>
        <p:nvSpPr>
          <p:cNvPr id="5" name="Rounded Rectangle 4"/>
          <p:cNvSpPr/>
          <p:nvPr/>
        </p:nvSpPr>
        <p:spPr>
          <a:xfrm>
            <a:off x="914400" y="2148840"/>
            <a:ext cx="3355848" cy="2514600"/>
          </a:xfrm>
          <a:prstGeom prst="roundRect">
            <a:avLst>
              <a:gd name="adj" fmla="val 3272"/>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3856" y="2331720"/>
            <a:ext cx="2916936" cy="2148840"/>
          </a:xfrm>
          <a:prstGeom prst="rect">
            <a:avLst/>
          </a:prstGeom>
          <a:noFill/>
        </p:spPr>
        <p:txBody>
          <a:bodyPr wrap="square" anchor="t" lIns="0" rIns="0" tIns="0" bIns="0">
            <a:spAutoFit/>
          </a:bodyPr>
          <a:lstStyle/>
          <a:p>
            <a:pPr algn="l">
              <a:spcBef>
                <a:spcPts val="0"/>
              </a:spcBef>
              <a:spcAft>
                <a:spcPts val="600"/>
              </a:spcAft>
            </a:pPr>
            <a:r>
              <a:rPr sz="950" b="1" i="0" spc="130">
                <a:solidFill>
                  <a:srgbClr val="35464F"/>
                </a:solidFill>
                <a:latin typeface="Aptos"/>
                <a:cs typeface="Aptos"/>
              </a:rPr>
              <a:t>EXCELLENCE</a:t>
            </a:r>
          </a:p>
          <a:p>
            <a:pPr algn="l">
              <a:lnSpc>
                <a:spcPct val="105000"/>
              </a:lnSpc>
              <a:spcBef>
                <a:spcPts val="0"/>
              </a:spcBef>
              <a:spcAft>
                <a:spcPts val="700"/>
              </a:spcAft>
            </a:pPr>
            <a:r>
              <a:rPr sz="1500" b="0" i="0">
                <a:solidFill>
                  <a:srgbClr val="002B5C"/>
                </a:solidFill>
                <a:latin typeface="Aptos Display"/>
                <a:cs typeface="Aptos Display"/>
              </a:rPr>
              <a:t>The quality of our thinking</a:t>
            </a:r>
          </a:p>
          <a:p>
            <a:pPr algn="l">
              <a:lnSpc>
                <a:spcPct val="126000"/>
              </a:lnSpc>
              <a:spcBef>
                <a:spcPts val="0"/>
              </a:spcBef>
              <a:spcAft>
                <a:spcPts val="0"/>
              </a:spcAft>
            </a:pPr>
            <a:r>
              <a:rPr sz="1300" b="0" i="0">
                <a:solidFill>
                  <a:srgbClr val="35464F"/>
                </a:solidFill>
                <a:latin typeface="Aptos"/>
                <a:cs typeface="Aptos"/>
              </a:rPr>
              <a:t>Excellence guides how Aravest analyses, prepares, executes, communicates and continuously raises its standards.</a:t>
            </a:r>
          </a:p>
        </p:txBody>
      </p:sp>
      <p:sp>
        <p:nvSpPr>
          <p:cNvPr id="7" name="Rounded Rectangle 6"/>
          <p:cNvSpPr/>
          <p:nvPr/>
        </p:nvSpPr>
        <p:spPr>
          <a:xfrm>
            <a:off x="4416552" y="2148840"/>
            <a:ext cx="3355848" cy="2514600"/>
          </a:xfrm>
          <a:prstGeom prst="roundRect">
            <a:avLst>
              <a:gd name="adj" fmla="val 3272"/>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36008" y="2331720"/>
            <a:ext cx="2916936" cy="2148840"/>
          </a:xfrm>
          <a:prstGeom prst="rect">
            <a:avLst/>
          </a:prstGeom>
          <a:noFill/>
        </p:spPr>
        <p:txBody>
          <a:bodyPr wrap="square" anchor="t" lIns="0" rIns="0" tIns="0" bIns="0">
            <a:spAutoFit/>
          </a:bodyPr>
          <a:lstStyle/>
          <a:p>
            <a:pPr algn="l">
              <a:spcBef>
                <a:spcPts val="0"/>
              </a:spcBef>
              <a:spcAft>
                <a:spcPts val="600"/>
              </a:spcAft>
            </a:pPr>
            <a:r>
              <a:rPr sz="950" b="1" i="0" spc="130">
                <a:solidFill>
                  <a:srgbClr val="35464F"/>
                </a:solidFill>
                <a:latin typeface="Aptos"/>
                <a:cs typeface="Aptos"/>
              </a:rPr>
              <a:t>TRUST</a:t>
            </a:r>
          </a:p>
          <a:p>
            <a:pPr algn="l">
              <a:lnSpc>
                <a:spcPct val="105000"/>
              </a:lnSpc>
              <a:spcBef>
                <a:spcPts val="0"/>
              </a:spcBef>
              <a:spcAft>
                <a:spcPts val="700"/>
              </a:spcAft>
            </a:pPr>
            <a:r>
              <a:rPr sz="1500" b="0" i="0">
                <a:solidFill>
                  <a:srgbClr val="002B5C"/>
                </a:solidFill>
                <a:latin typeface="Aptos Display"/>
                <a:cs typeface="Aptos Display"/>
              </a:rPr>
              <a:t>The way we behave</a:t>
            </a:r>
          </a:p>
          <a:p>
            <a:pPr algn="l">
              <a:lnSpc>
                <a:spcPct val="126000"/>
              </a:lnSpc>
              <a:spcBef>
                <a:spcPts val="0"/>
              </a:spcBef>
              <a:spcAft>
                <a:spcPts val="0"/>
              </a:spcAft>
            </a:pPr>
            <a:r>
              <a:rPr sz="1300" b="0" i="0">
                <a:solidFill>
                  <a:srgbClr val="35464F"/>
                </a:solidFill>
                <a:latin typeface="Aptos"/>
                <a:cs typeface="Aptos"/>
              </a:rPr>
              <a:t>Trust guides how Aravest deals with investors, shareholders, partners, lenders and colleagues, particularly when circumstances are difficult.</a:t>
            </a:r>
          </a:p>
        </p:txBody>
      </p:sp>
      <p:sp>
        <p:nvSpPr>
          <p:cNvPr id="9" name="Rounded Rectangle 8"/>
          <p:cNvSpPr/>
          <p:nvPr/>
        </p:nvSpPr>
        <p:spPr>
          <a:xfrm>
            <a:off x="7918704" y="2148840"/>
            <a:ext cx="3355848" cy="2514600"/>
          </a:xfrm>
          <a:prstGeom prst="roundRect">
            <a:avLst>
              <a:gd name="adj" fmla="val 3272"/>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331720"/>
            <a:ext cx="2916936" cy="2148840"/>
          </a:xfrm>
          <a:prstGeom prst="rect">
            <a:avLst/>
          </a:prstGeom>
          <a:noFill/>
        </p:spPr>
        <p:txBody>
          <a:bodyPr wrap="square" anchor="t" lIns="0" rIns="0" tIns="0" bIns="0">
            <a:spAutoFit/>
          </a:bodyPr>
          <a:lstStyle/>
          <a:p>
            <a:pPr algn="l">
              <a:spcBef>
                <a:spcPts val="0"/>
              </a:spcBef>
              <a:spcAft>
                <a:spcPts val="600"/>
              </a:spcAft>
            </a:pPr>
            <a:r>
              <a:rPr sz="950" b="1" i="0" spc="130">
                <a:solidFill>
                  <a:srgbClr val="35464F"/>
                </a:solidFill>
                <a:latin typeface="Aptos"/>
                <a:cs typeface="Aptos"/>
              </a:rPr>
              <a:t>ACCOUNTABILITY</a:t>
            </a:r>
          </a:p>
          <a:p>
            <a:pPr algn="l">
              <a:lnSpc>
                <a:spcPct val="105000"/>
              </a:lnSpc>
              <a:spcBef>
                <a:spcPts val="0"/>
              </a:spcBef>
              <a:spcAft>
                <a:spcPts val="700"/>
              </a:spcAft>
            </a:pPr>
            <a:r>
              <a:rPr sz="1500" b="0" i="0">
                <a:solidFill>
                  <a:srgbClr val="002B5C"/>
                </a:solidFill>
                <a:latin typeface="Aptos Display"/>
                <a:cs typeface="Aptos Display"/>
              </a:rPr>
              <a:t>How we take ownership</a:t>
            </a:r>
          </a:p>
          <a:p>
            <a:pPr algn="l">
              <a:lnSpc>
                <a:spcPct val="126000"/>
              </a:lnSpc>
              <a:spcBef>
                <a:spcPts val="0"/>
              </a:spcBef>
              <a:spcAft>
                <a:spcPts val="0"/>
              </a:spcAft>
            </a:pPr>
            <a:r>
              <a:rPr sz="1300" b="0" i="0">
                <a:solidFill>
                  <a:srgbClr val="35464F"/>
                </a:solidFill>
                <a:latin typeface="Aptos"/>
                <a:cs typeface="Aptos"/>
              </a:rPr>
              <a:t>Accountability requires Aravest to own its decisions and outcomes, act when circumstances change and remain responsible through the full investment lifecycle.</a:t>
            </a:r>
          </a:p>
        </p:txBody>
      </p:sp>
      <p:sp>
        <p:nvSpPr>
          <p:cNvPr id="11" name="Rounded Rectangle 10"/>
          <p:cNvSpPr/>
          <p:nvPr/>
        </p:nvSpPr>
        <p:spPr>
          <a:xfrm>
            <a:off x="914400" y="4937760"/>
            <a:ext cx="10360152" cy="566928"/>
          </a:xfrm>
          <a:prstGeom prst="roundRect">
            <a:avLst>
              <a:gd name="adj" fmla="val 14516"/>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432" y="4937760"/>
            <a:ext cx="9848088" cy="566928"/>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Our first principle.  </a:t>
            </a:r>
            <a:r>
              <a:rPr sz="1300" b="0" i="0">
                <a:solidFill>
                  <a:srgbClr val="D5DDE6"/>
                </a:solidFill>
                <a:latin typeface="Aptos"/>
                <a:cs typeface="Aptos"/>
              </a:rPr>
              <a:t>Investment management is a responsibility before it is a business.</a:t>
            </a:r>
          </a:p>
        </p:txBody>
      </p:sp>
      <p:sp>
        <p:nvSpPr>
          <p:cNvPr id="13" name="TextBox 12"/>
          <p:cNvSpPr txBox="1"/>
          <p:nvPr/>
        </p:nvSpPr>
        <p:spPr>
          <a:xfrm>
            <a:off x="914400" y="5715000"/>
            <a:ext cx="10360152" cy="457200"/>
          </a:xfrm>
          <a:prstGeom prst="rect">
            <a:avLst/>
          </a:prstGeom>
          <a:noFill/>
        </p:spPr>
        <p:txBody>
          <a:bodyPr wrap="square" anchor="t" lIns="0" rIns="0" tIns="0" bIns="0">
            <a:spAutoFit/>
          </a:bodyPr>
          <a:lstStyle/>
          <a:p>
            <a:pPr algn="l">
              <a:lnSpc>
                <a:spcPct val="120000"/>
              </a:lnSpc>
              <a:spcBef>
                <a:spcPts val="0"/>
              </a:spcBef>
              <a:spcAft>
                <a:spcPts val="0"/>
              </a:spcAft>
            </a:pPr>
            <a:r>
              <a:rPr sz="1150" b="0" i="0">
                <a:solidFill>
                  <a:srgbClr val="35464F"/>
                </a:solidFill>
                <a:latin typeface="Aptos"/>
                <a:cs typeface="Aptos"/>
              </a:rPr>
              <a:t>Every investment, partnership and decision is tested against the responsibility Aravest accepts when capital and trust are entrusted to the platform.</a:t>
            </a:r>
          </a:p>
        </p:txBody>
      </p:sp>
      <p:sp>
        <p:nvSpPr>
          <p:cNvPr id="14" name="TextBox 1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5" name="TextBox 1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4</a:t>
            </a:r>
          </a:p>
        </p:txBody>
      </p:sp>
      <p:pic>
        <p:nvPicPr>
          <p:cNvPr id="16" name="Picture 1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04 · Values-led. Value-focused.</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Aravest Way defines how we invest; value creation determines where we deploy.</a:t>
            </a:r>
          </a:p>
        </p:txBody>
      </p:sp>
      <p:sp>
        <p:nvSpPr>
          <p:cNvPr id="5" name="Rounded Rectangle 4"/>
          <p:cNvSpPr/>
          <p:nvPr/>
        </p:nvSpPr>
        <p:spPr>
          <a:xfrm>
            <a:off x="640080" y="1554480"/>
            <a:ext cx="5303520" cy="3931920"/>
          </a:xfrm>
          <a:prstGeom prst="roundRect">
            <a:avLst>
              <a:gd name="adj" fmla="val 2093"/>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554480"/>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19072"/>
            <a:ext cx="4828032" cy="3602736"/>
          </a:xfrm>
          <a:prstGeom prst="rect">
            <a:avLst/>
          </a:prstGeom>
          <a:noFill/>
        </p:spPr>
        <p:txBody>
          <a:bodyPr wrap="square" anchor="t" lIns="0" rIns="0" tIns="0" bIns="0">
            <a:spAutoFit/>
          </a:bodyPr>
          <a:lstStyle/>
          <a:p>
            <a:pPr algn="l">
              <a:spcBef>
                <a:spcPts val="0"/>
              </a:spcBef>
              <a:spcAft>
                <a:spcPts val="400"/>
              </a:spcAft>
            </a:pPr>
            <a:r>
              <a:rPr sz="950" b="1" i="0" spc="120">
                <a:solidFill>
                  <a:srgbClr val="008080"/>
                </a:solidFill>
                <a:latin typeface="Aptos"/>
                <a:cs typeface="Aptos"/>
              </a:rPr>
              <a:t>VALUES-LED</a:t>
            </a:r>
          </a:p>
          <a:p>
            <a:pPr algn="l">
              <a:lnSpc>
                <a:spcPct val="104000"/>
              </a:lnSpc>
              <a:spcBef>
                <a:spcPts val="0"/>
              </a:spcBef>
              <a:spcAft>
                <a:spcPts val="800"/>
              </a:spcAft>
            </a:pPr>
            <a:r>
              <a:rPr sz="1500" b="0" i="0">
                <a:solidFill>
                  <a:srgbClr val="002B5C"/>
                </a:solidFill>
                <a:latin typeface="Aptos Display"/>
                <a:cs typeface="Aptos Display"/>
              </a:rPr>
              <a:t>The standards remain constant</a:t>
            </a:r>
          </a:p>
          <a:p>
            <a:pPr algn="l">
              <a:lnSpc>
                <a:spcPct val="124000"/>
              </a:lnSpc>
              <a:spcBef>
                <a:spcPts val="0"/>
              </a:spcBef>
              <a:spcAft>
                <a:spcPts val="700"/>
              </a:spcAft>
            </a:pPr>
            <a:r>
              <a:rPr sz="1300" b="0" i="0">
                <a:solidFill>
                  <a:srgbClr val="35464F"/>
                </a:solidFill>
                <a:latin typeface="Aptos"/>
                <a:cs typeface="Aptos"/>
              </a:rPr>
              <a:t>Excellence: disciplined thinking, underwriting and execution.</a:t>
            </a:r>
          </a:p>
          <a:p>
            <a:pPr algn="l">
              <a:lnSpc>
                <a:spcPct val="124000"/>
              </a:lnSpc>
              <a:spcBef>
                <a:spcPts val="0"/>
              </a:spcBef>
              <a:spcAft>
                <a:spcPts val="700"/>
              </a:spcAft>
            </a:pPr>
            <a:r>
              <a:rPr sz="1300" b="0" i="0">
                <a:solidFill>
                  <a:srgbClr val="35464F"/>
                </a:solidFill>
                <a:latin typeface="Aptos"/>
                <a:cs typeface="Aptos"/>
              </a:rPr>
              <a:t>Trust: alignment, transparency and institutional governance.</a:t>
            </a:r>
          </a:p>
          <a:p>
            <a:pPr algn="l">
              <a:lnSpc>
                <a:spcPct val="124000"/>
              </a:lnSpc>
              <a:spcBef>
                <a:spcPts val="0"/>
              </a:spcBef>
              <a:spcAft>
                <a:spcPts val="700"/>
              </a:spcAft>
            </a:pPr>
            <a:r>
              <a:rPr sz="1300" b="0" i="0">
                <a:solidFill>
                  <a:srgbClr val="35464F"/>
                </a:solidFill>
                <a:latin typeface="Aptos"/>
                <a:cs typeface="Aptos"/>
              </a:rPr>
              <a:t>Accountability: ownership of decisions, risks and investment outcomes.</a:t>
            </a:r>
          </a:p>
        </p:txBody>
      </p:sp>
      <p:sp>
        <p:nvSpPr>
          <p:cNvPr id="8" name="Rounded Rectangle 7"/>
          <p:cNvSpPr/>
          <p:nvPr/>
        </p:nvSpPr>
        <p:spPr>
          <a:xfrm>
            <a:off x="6245352" y="1554480"/>
            <a:ext cx="5303520" cy="3931920"/>
          </a:xfrm>
          <a:prstGeom prst="roundRect">
            <a:avLst>
              <a:gd name="adj" fmla="val 2093"/>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554480"/>
            <a:ext cx="4901184" cy="3175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1719072"/>
            <a:ext cx="4828032" cy="3602736"/>
          </a:xfrm>
          <a:prstGeom prst="rect">
            <a:avLst/>
          </a:prstGeom>
          <a:noFill/>
        </p:spPr>
        <p:txBody>
          <a:bodyPr wrap="square" anchor="t" lIns="0" rIns="0" tIns="0" bIns="0">
            <a:spAutoFit/>
          </a:bodyPr>
          <a:lstStyle/>
          <a:p>
            <a:pPr algn="l">
              <a:spcBef>
                <a:spcPts val="0"/>
              </a:spcBef>
              <a:spcAft>
                <a:spcPts val="400"/>
              </a:spcAft>
            </a:pPr>
            <a:r>
              <a:rPr sz="950" b="1" i="0" spc="120">
                <a:solidFill>
                  <a:srgbClr val="4682B4"/>
                </a:solidFill>
                <a:latin typeface="Aptos"/>
                <a:cs typeface="Aptos"/>
              </a:rPr>
              <a:t>VALUE-FOCUSED</a:t>
            </a:r>
          </a:p>
          <a:p>
            <a:pPr algn="l">
              <a:lnSpc>
                <a:spcPct val="104000"/>
              </a:lnSpc>
              <a:spcBef>
                <a:spcPts val="0"/>
              </a:spcBef>
              <a:spcAft>
                <a:spcPts val="800"/>
              </a:spcAft>
            </a:pPr>
            <a:r>
              <a:rPr sz="1500" b="0" i="0">
                <a:solidFill>
                  <a:srgbClr val="002B5C"/>
                </a:solidFill>
                <a:latin typeface="Aptos Display"/>
                <a:cs typeface="Aptos Display"/>
              </a:rPr>
              <a:t>Deployment follows identifiable value</a:t>
            </a:r>
          </a:p>
          <a:p>
            <a:pPr algn="l">
              <a:lnSpc>
                <a:spcPct val="124000"/>
              </a:lnSpc>
              <a:spcBef>
                <a:spcPts val="0"/>
              </a:spcBef>
              <a:spcAft>
                <a:spcPts val="700"/>
              </a:spcAft>
            </a:pPr>
            <a:r>
              <a:rPr sz="1300" b="0" i="0">
                <a:solidFill>
                  <a:srgbClr val="35464F"/>
                </a:solidFill>
                <a:latin typeface="Aptos"/>
                <a:cs typeface="Aptos"/>
              </a:rPr>
              <a:t>A genuine value gap, mispricing or market dislocation.</a:t>
            </a:r>
          </a:p>
          <a:p>
            <a:pPr algn="l">
              <a:lnSpc>
                <a:spcPct val="124000"/>
              </a:lnSpc>
              <a:spcBef>
                <a:spcPts val="0"/>
              </a:spcBef>
              <a:spcAft>
                <a:spcPts val="700"/>
              </a:spcAft>
            </a:pPr>
            <a:r>
              <a:rPr sz="1300" b="0" i="0">
                <a:solidFill>
                  <a:srgbClr val="35464F"/>
                </a:solidFill>
                <a:latin typeface="Aptos"/>
                <a:cs typeface="Aptos"/>
              </a:rPr>
              <a:t>A clear and executable value-creation plan.</a:t>
            </a:r>
          </a:p>
          <a:p>
            <a:pPr algn="l">
              <a:lnSpc>
                <a:spcPct val="124000"/>
              </a:lnSpc>
              <a:spcBef>
                <a:spcPts val="0"/>
              </a:spcBef>
              <a:spcAft>
                <a:spcPts val="700"/>
              </a:spcAft>
            </a:pPr>
            <a:r>
              <a:rPr sz="1300" b="0" i="0">
                <a:solidFill>
                  <a:srgbClr val="35464F"/>
                </a:solidFill>
                <a:latin typeface="Aptos"/>
                <a:cs typeface="Aptos"/>
              </a:rPr>
              <a:t>Complete capabilities, internally or through secured partners.</a:t>
            </a:r>
          </a:p>
          <a:p>
            <a:pPr algn="l">
              <a:lnSpc>
                <a:spcPct val="124000"/>
              </a:lnSpc>
              <a:spcBef>
                <a:spcPts val="0"/>
              </a:spcBef>
              <a:spcAft>
                <a:spcPts val="700"/>
              </a:spcAft>
            </a:pPr>
            <a:r>
              <a:rPr sz="1300" b="0" i="0">
                <a:solidFill>
                  <a:srgbClr val="35464F"/>
                </a:solidFill>
                <a:latin typeface="Aptos"/>
                <a:cs typeface="Aptos"/>
              </a:rPr>
              <a:t>A credible route to stabilisation, capital recycling or exit.</a:t>
            </a:r>
          </a:p>
        </p:txBody>
      </p:sp>
      <p:sp>
        <p:nvSpPr>
          <p:cNvPr id="11" name="Rounded Rectangle 10"/>
          <p:cNvSpPr/>
          <p:nvPr/>
        </p:nvSpPr>
        <p:spPr>
          <a:xfrm>
            <a:off x="640080" y="5614416"/>
            <a:ext cx="10908792" cy="530352"/>
          </a:xfrm>
          <a:prstGeom prst="roundRect">
            <a:avLst>
              <a:gd name="adj" fmla="val 15517"/>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5614416"/>
            <a:ext cx="10396728" cy="530352"/>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Sector-flexible, but not strategy-neutral.  </a:t>
            </a:r>
            <a:r>
              <a:rPr sz="1250" b="0" i="0">
                <a:solidFill>
                  <a:srgbClr val="D5DDE6"/>
                </a:solidFill>
                <a:latin typeface="Aptos"/>
                <a:cs typeface="Aptos"/>
              </a:rPr>
              <a:t>Every investment must have an identifiable value opportunity, a credible plan and the capabilities to execute it.</a:t>
            </a:r>
          </a:p>
        </p:txBody>
      </p:sp>
      <p:sp>
        <p:nvSpPr>
          <p:cNvPr id="13" name="TextBox 1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4" name="TextBox 1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5</a:t>
            </a:r>
          </a:p>
        </p:txBody>
      </p:sp>
      <p:pic>
        <p:nvPicPr>
          <p:cNvPr id="15" name="Picture 1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05 · Building the post-SMFL track record</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A credible track record is built through the full investment lifecycle, not through acquisitions alone.</a:t>
            </a:r>
          </a:p>
        </p:txBody>
      </p:sp>
      <p:sp>
        <p:nvSpPr>
          <p:cNvPr id="5" name="Rounded Rectangle 4"/>
          <p:cNvSpPr/>
          <p:nvPr/>
        </p:nvSpPr>
        <p:spPr>
          <a:xfrm>
            <a:off x="640080" y="2103120"/>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224028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01</a:t>
            </a:r>
          </a:p>
          <a:p>
            <a:pPr algn="l">
              <a:lnSpc>
                <a:spcPct val="108000"/>
              </a:lnSpc>
              <a:spcBef>
                <a:spcPts val="0"/>
              </a:spcBef>
              <a:spcAft>
                <a:spcPts val="0"/>
              </a:spcAft>
            </a:pPr>
            <a:r>
              <a:rPr sz="1300" b="0" i="0">
                <a:solidFill>
                  <a:srgbClr val="002B5C"/>
                </a:solidFill>
                <a:latin typeface="Aptos Display"/>
                <a:cs typeface="Aptos Display"/>
              </a:rPr>
              <a:t>Recognise and underwrite value</a:t>
            </a:r>
          </a:p>
        </p:txBody>
      </p:sp>
      <p:sp>
        <p:nvSpPr>
          <p:cNvPr id="7" name="TextBox 6"/>
          <p:cNvSpPr txBox="1"/>
          <p:nvPr/>
        </p:nvSpPr>
        <p:spPr>
          <a:xfrm>
            <a:off x="2578608" y="256032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8" name="Rounded Rectangle 7"/>
          <p:cNvSpPr/>
          <p:nvPr/>
        </p:nvSpPr>
        <p:spPr>
          <a:xfrm>
            <a:off x="2882646" y="2103120"/>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28950" y="224028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02</a:t>
            </a:r>
          </a:p>
          <a:p>
            <a:pPr algn="l">
              <a:lnSpc>
                <a:spcPct val="108000"/>
              </a:lnSpc>
              <a:spcBef>
                <a:spcPts val="0"/>
              </a:spcBef>
              <a:spcAft>
                <a:spcPts val="0"/>
              </a:spcAft>
            </a:pPr>
            <a:r>
              <a:rPr sz="1300" b="0" i="0">
                <a:solidFill>
                  <a:srgbClr val="002B5C"/>
                </a:solidFill>
                <a:latin typeface="Aptos Display"/>
                <a:cs typeface="Aptos Display"/>
              </a:rPr>
              <a:t>Secure and execute</a:t>
            </a:r>
          </a:p>
        </p:txBody>
      </p:sp>
      <p:sp>
        <p:nvSpPr>
          <p:cNvPr id="10" name="TextBox 9"/>
          <p:cNvSpPr txBox="1"/>
          <p:nvPr/>
        </p:nvSpPr>
        <p:spPr>
          <a:xfrm>
            <a:off x="4821174" y="256032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1" name="Rounded Rectangle 10"/>
          <p:cNvSpPr/>
          <p:nvPr/>
        </p:nvSpPr>
        <p:spPr>
          <a:xfrm>
            <a:off x="5125212" y="2103120"/>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71516" y="224028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03</a:t>
            </a:r>
          </a:p>
          <a:p>
            <a:pPr algn="l">
              <a:lnSpc>
                <a:spcPct val="108000"/>
              </a:lnSpc>
              <a:spcBef>
                <a:spcPts val="0"/>
              </a:spcBef>
              <a:spcAft>
                <a:spcPts val="0"/>
              </a:spcAft>
            </a:pPr>
            <a:r>
              <a:rPr sz="1300" b="0" i="0">
                <a:solidFill>
                  <a:srgbClr val="002B5C"/>
                </a:solidFill>
                <a:latin typeface="Aptos Display"/>
                <a:cs typeface="Aptos Display"/>
              </a:rPr>
              <a:t>Manage and create value</a:t>
            </a:r>
          </a:p>
        </p:txBody>
      </p:sp>
      <p:sp>
        <p:nvSpPr>
          <p:cNvPr id="13" name="TextBox 12"/>
          <p:cNvSpPr txBox="1"/>
          <p:nvPr/>
        </p:nvSpPr>
        <p:spPr>
          <a:xfrm>
            <a:off x="7063740" y="256032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4" name="Rounded Rectangle 13"/>
          <p:cNvSpPr/>
          <p:nvPr/>
        </p:nvSpPr>
        <p:spPr>
          <a:xfrm>
            <a:off x="7367778" y="2103120"/>
            <a:ext cx="1938528" cy="1298448"/>
          </a:xfrm>
          <a:prstGeom prst="roundRect">
            <a:avLst>
              <a:gd name="adj" fmla="val 6338"/>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14082" y="224028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869397"/>
                </a:solidFill>
                <a:latin typeface="Aptos"/>
                <a:cs typeface="Aptos"/>
              </a:rPr>
              <a:t>04</a:t>
            </a:r>
          </a:p>
          <a:p>
            <a:pPr algn="l">
              <a:lnSpc>
                <a:spcPct val="108000"/>
              </a:lnSpc>
              <a:spcBef>
                <a:spcPts val="0"/>
              </a:spcBef>
              <a:spcAft>
                <a:spcPts val="0"/>
              </a:spcAft>
            </a:pPr>
            <a:r>
              <a:rPr sz="1300" b="0" i="0">
                <a:solidFill>
                  <a:srgbClr val="002B5C"/>
                </a:solidFill>
                <a:latin typeface="Aptos Display"/>
                <a:cs typeface="Aptos Display"/>
              </a:rPr>
              <a:t>Deliver and realise outcomes</a:t>
            </a:r>
          </a:p>
        </p:txBody>
      </p:sp>
      <p:sp>
        <p:nvSpPr>
          <p:cNvPr id="16" name="TextBox 15"/>
          <p:cNvSpPr txBox="1"/>
          <p:nvPr/>
        </p:nvSpPr>
        <p:spPr>
          <a:xfrm>
            <a:off x="9306306" y="2560320"/>
            <a:ext cx="304038"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7" name="Rounded Rectangle 16"/>
          <p:cNvSpPr/>
          <p:nvPr/>
        </p:nvSpPr>
        <p:spPr>
          <a:xfrm>
            <a:off x="9610344" y="2103120"/>
            <a:ext cx="1938528" cy="1298448"/>
          </a:xfrm>
          <a:prstGeom prst="roundRect">
            <a:avLst>
              <a:gd name="adj" fmla="val 6338"/>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56648" y="2240280"/>
            <a:ext cx="1645920" cy="1051560"/>
          </a:xfrm>
          <a:prstGeom prst="rect">
            <a:avLst/>
          </a:prstGeom>
          <a:noFill/>
        </p:spPr>
        <p:txBody>
          <a:bodyPr wrap="square" anchor="t" lIns="0" rIns="0" tIns="0" bIns="0">
            <a:spAutoFit/>
          </a:bodyPr>
          <a:lstStyle/>
          <a:p>
            <a:pPr algn="l">
              <a:spcBef>
                <a:spcPts val="0"/>
              </a:spcBef>
              <a:spcAft>
                <a:spcPts val="400"/>
              </a:spcAft>
            </a:pPr>
            <a:r>
              <a:rPr sz="1050" b="1" i="0" spc="120">
                <a:solidFill>
                  <a:srgbClr val="008080"/>
                </a:solidFill>
                <a:latin typeface="Aptos"/>
                <a:cs typeface="Aptos"/>
              </a:rPr>
              <a:t>05</a:t>
            </a:r>
          </a:p>
          <a:p>
            <a:pPr algn="l">
              <a:lnSpc>
                <a:spcPct val="108000"/>
              </a:lnSpc>
              <a:spcBef>
                <a:spcPts val="0"/>
              </a:spcBef>
              <a:spcAft>
                <a:spcPts val="0"/>
              </a:spcAft>
            </a:pPr>
            <a:r>
              <a:rPr sz="1300" b="0" i="0">
                <a:solidFill>
                  <a:srgbClr val="002B5C"/>
                </a:solidFill>
                <a:latin typeface="Aptos Display"/>
                <a:cs typeface="Aptos Display"/>
              </a:rPr>
              <a:t>Repeat across a strategy</a:t>
            </a:r>
          </a:p>
        </p:txBody>
      </p:sp>
      <p:sp>
        <p:nvSpPr>
          <p:cNvPr id="19" name="TextBox 18"/>
          <p:cNvSpPr txBox="1"/>
          <p:nvPr/>
        </p:nvSpPr>
        <p:spPr>
          <a:xfrm>
            <a:off x="640080" y="3703320"/>
            <a:ext cx="10908792" cy="685800"/>
          </a:xfrm>
          <a:prstGeom prst="rect">
            <a:avLst/>
          </a:prstGeom>
          <a:noFill/>
        </p:spPr>
        <p:txBody>
          <a:bodyPr wrap="square" anchor="t" lIns="0" rIns="0" tIns="0" bIns="0">
            <a:spAutoFit/>
          </a:bodyPr>
          <a:lstStyle/>
          <a:p>
            <a:pPr algn="l">
              <a:lnSpc>
                <a:spcPct val="130000"/>
              </a:lnSpc>
              <a:spcBef>
                <a:spcPts val="0"/>
              </a:spcBef>
              <a:spcAft>
                <a:spcPts val="0"/>
              </a:spcAft>
            </a:pPr>
            <a:r>
              <a:rPr sz="1350" b="0" i="0">
                <a:solidFill>
                  <a:srgbClr val="35464F"/>
                </a:solidFill>
                <a:latin typeface="Aptos"/>
                <a:cs typeface="Aptos"/>
              </a:rPr>
              <a:t>Investors will first seek evidence that Aravest can source, execute, manage and complete investments successfully under SMFL ownership — judgement, execution, stewardship, performance, realisation and repeatability.</a:t>
            </a:r>
          </a:p>
        </p:txBody>
      </p:sp>
      <p:sp>
        <p:nvSpPr>
          <p:cNvPr id="20" name="Rounded Rectangle 19"/>
          <p:cNvSpPr/>
          <p:nvPr/>
        </p:nvSpPr>
        <p:spPr>
          <a:xfrm>
            <a:off x="640080" y="4617720"/>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617720"/>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The objective:  </a:t>
            </a:r>
            <a:r>
              <a:rPr sz="1300" b="0" i="0">
                <a:solidFill>
                  <a:srgbClr val="D5DDE6"/>
                </a:solidFill>
                <a:latin typeface="Aptos"/>
                <a:cs typeface="Aptos"/>
              </a:rPr>
              <a:t>move investor confidence from the individual opportunity, to the repeat relationship, and ultimately to the Aravest strategy.</a:t>
            </a:r>
          </a:p>
        </p:txBody>
      </p:sp>
      <p:sp>
        <p:nvSpPr>
          <p:cNvPr id="22" name="TextBox 21"/>
          <p:cNvSpPr txBox="1"/>
          <p:nvPr/>
        </p:nvSpPr>
        <p:spPr>
          <a:xfrm>
            <a:off x="640080" y="5440680"/>
            <a:ext cx="10908792" cy="457200"/>
          </a:xfrm>
          <a:prstGeom prst="rect">
            <a:avLst/>
          </a:prstGeom>
          <a:noFill/>
        </p:spPr>
        <p:txBody>
          <a:bodyPr wrap="square" anchor="t" lIns="0" rIns="0" tIns="0" bIns="0">
            <a:spAutoFit/>
          </a:bodyPr>
          <a:lstStyle/>
          <a:p>
            <a:pPr algn="l">
              <a:lnSpc>
                <a:spcPct val="120000"/>
              </a:lnSpc>
              <a:spcBef>
                <a:spcPts val="0"/>
              </a:spcBef>
              <a:spcAft>
                <a:spcPts val="0"/>
              </a:spcAft>
            </a:pPr>
            <a:r>
              <a:rPr sz="1150" b="0" i="0">
                <a:solidFill>
                  <a:srgbClr val="35464F"/>
                </a:solidFill>
                <a:latin typeface="Aptos"/>
                <a:cs typeface="Aptos"/>
              </a:rPr>
              <a:t>At Aravest's current stage, third-party capital is likely to be opportunity-led before it becomes strategy-led or discretionary.</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6</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634472" y="365760"/>
            <a:ext cx="600980" cy="347472"/>
          </a:xfrm>
          <a:prstGeom prst="rect">
            <a:avLst/>
          </a:prstGeom>
        </p:spPr>
      </p:pic>
      <p:sp>
        <p:nvSpPr>
          <p:cNvPr id="4" name="TextBox 3"/>
          <p:cNvSpPr txBox="1"/>
          <p:nvPr/>
        </p:nvSpPr>
        <p:spPr>
          <a:xfrm>
            <a:off x="914400" y="2331720"/>
            <a:ext cx="2194560" cy="1371600"/>
          </a:xfrm>
          <a:prstGeom prst="rect">
            <a:avLst/>
          </a:prstGeom>
          <a:noFill/>
        </p:spPr>
        <p:txBody>
          <a:bodyPr wrap="square" anchor="t" lIns="0" rIns="0" tIns="0" bIns="0">
            <a:spAutoFit/>
          </a:bodyPr>
          <a:lstStyle/>
          <a:p>
            <a:pPr algn="l">
              <a:spcBef>
                <a:spcPts val="0"/>
              </a:spcBef>
              <a:spcAft>
                <a:spcPts val="0"/>
              </a:spcAft>
            </a:pPr>
            <a:r>
              <a:rPr sz="6000" b="0" i="0">
                <a:solidFill>
                  <a:srgbClr val="D5DDE6"/>
                </a:solidFill>
                <a:latin typeface="Spectral Light"/>
                <a:cs typeface="Spectral Light"/>
              </a:rPr>
              <a:t>02</a:t>
            </a:r>
          </a:p>
        </p:txBody>
      </p:sp>
      <p:sp>
        <p:nvSpPr>
          <p:cNvPr id="5" name="Rectangle 4"/>
          <p:cNvSpPr/>
          <p:nvPr/>
        </p:nvSpPr>
        <p:spPr>
          <a:xfrm>
            <a:off x="932688" y="3611880"/>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51760" y="2487168"/>
            <a:ext cx="8595360" cy="1463040"/>
          </a:xfrm>
          <a:prstGeom prst="rect">
            <a:avLst/>
          </a:prstGeom>
          <a:noFill/>
        </p:spPr>
        <p:txBody>
          <a:bodyPr wrap="square" anchor="t" lIns="0" rIns="0" tIns="0" bIns="0">
            <a:spAutoFit/>
          </a:bodyPr>
          <a:lstStyle/>
          <a:p>
            <a:pPr algn="l">
              <a:lnSpc>
                <a:spcPct val="110000"/>
              </a:lnSpc>
              <a:spcBef>
                <a:spcPts val="0"/>
              </a:spcBef>
              <a:spcAft>
                <a:spcPts val="0"/>
              </a:spcAft>
            </a:pPr>
            <a:r>
              <a:rPr sz="3000" b="0" i="0">
                <a:solidFill>
                  <a:srgbClr val="FFFFFF"/>
                </a:solidFill>
                <a:latin typeface="Spectral Light"/>
                <a:cs typeface="Spectral Light"/>
              </a:rPr>
              <a:t>Two parallel pathways</a:t>
            </a:r>
          </a:p>
        </p:txBody>
      </p:sp>
      <p:sp>
        <p:nvSpPr>
          <p:cNvPr id="7" name="TextBox 6"/>
          <p:cNvSpPr txBox="1"/>
          <p:nvPr/>
        </p:nvSpPr>
        <p:spPr>
          <a:xfrm>
            <a:off x="2670048" y="3703320"/>
            <a:ext cx="7863840" cy="7315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D5DDE6"/>
                </a:solidFill>
                <a:latin typeface="Aptos"/>
                <a:cs typeface="Aptos"/>
              </a:rPr>
              <a:t>The principal programme for the record, and the possibility of acceleration — case by case.</a:t>
            </a:r>
          </a:p>
        </p:txBody>
      </p:sp>
      <p:sp>
        <p:nvSpPr>
          <p:cNvPr id="8" name="TextBox 7"/>
          <p:cNvSpPr txBox="1"/>
          <p:nvPr/>
        </p:nvSpPr>
        <p:spPr>
          <a:xfrm>
            <a:off x="914400" y="6455664"/>
            <a:ext cx="4572000" cy="274320"/>
          </a:xfrm>
          <a:prstGeom prst="rect">
            <a:avLst/>
          </a:prstGeom>
          <a:noFill/>
        </p:spPr>
        <p:txBody>
          <a:bodyPr wrap="square" anchor="t"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06 · Strategy</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Aravest will build the platform through two complementary pathways.</a:t>
            </a:r>
          </a:p>
        </p:txBody>
      </p:sp>
      <p:sp>
        <p:nvSpPr>
          <p:cNvPr id="5" name="Rounded Rectangle 4"/>
          <p:cNvSpPr/>
          <p:nvPr/>
        </p:nvSpPr>
        <p:spPr>
          <a:xfrm>
            <a:off x="640080" y="1408176"/>
            <a:ext cx="5303520" cy="4041648"/>
          </a:xfrm>
          <a:prstGeom prst="roundRect">
            <a:avLst>
              <a:gd name="adj" fmla="val 203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408176"/>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554480"/>
            <a:ext cx="4828032" cy="777240"/>
          </a:xfrm>
          <a:prstGeom prst="rect">
            <a:avLst/>
          </a:prstGeom>
          <a:noFill/>
        </p:spPr>
        <p:txBody>
          <a:bodyPr wrap="square" anchor="t" lIns="0" rIns="0" tIns="0" bIns="0">
            <a:spAutoFit/>
          </a:bodyPr>
          <a:lstStyle/>
          <a:p>
            <a:pPr algn="l">
              <a:lnSpc>
                <a:spcPct val="104000"/>
              </a:lnSpc>
              <a:spcBef>
                <a:spcPts val="0"/>
              </a:spcBef>
              <a:spcAft>
                <a:spcPts val="300"/>
              </a:spcAft>
            </a:pPr>
            <a:r>
              <a:rPr sz="1500" b="0" i="0">
                <a:solidFill>
                  <a:srgbClr val="002B5C"/>
                </a:solidFill>
                <a:latin typeface="Aptos Display"/>
                <a:cs typeface="Aptos Display"/>
              </a:rPr>
              <a:t>Pathway 1 — Diversified Track Record Building</a:t>
            </a:r>
          </a:p>
          <a:p>
            <a:pPr algn="l">
              <a:spcBef>
                <a:spcPts val="0"/>
              </a:spcBef>
              <a:spcAft>
                <a:spcPts val="0"/>
              </a:spcAft>
            </a:pPr>
            <a:r>
              <a:rPr sz="950" b="1" i="0" spc="120">
                <a:solidFill>
                  <a:srgbClr val="008080"/>
                </a:solidFill>
                <a:latin typeface="Aptos"/>
                <a:cs typeface="Aptos"/>
              </a:rPr>
              <a:t>BUILDS THE RECORD</a:t>
            </a:r>
          </a:p>
        </p:txBody>
      </p:sp>
      <p:sp>
        <p:nvSpPr>
          <p:cNvPr id="8" name="TextBox 7"/>
          <p:cNvSpPr txBox="1"/>
          <p:nvPr/>
        </p:nvSpPr>
        <p:spPr>
          <a:xfrm>
            <a:off x="877824" y="2377440"/>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PRIMARY PURPOSE</a:t>
            </a:r>
          </a:p>
          <a:p>
            <a:pPr algn="l">
              <a:lnSpc>
                <a:spcPct val="114000"/>
              </a:lnSpc>
              <a:spcBef>
                <a:spcPts val="0"/>
              </a:spcBef>
              <a:spcAft>
                <a:spcPts val="0"/>
              </a:spcAft>
            </a:pPr>
            <a:r>
              <a:rPr sz="1300" b="0" i="0">
                <a:solidFill>
                  <a:srgbClr val="35464F"/>
                </a:solidFill>
                <a:latin typeface="Aptos"/>
                <a:cs typeface="Aptos"/>
              </a:rPr>
              <a:t>Build multiple proof points and a repeatable post-SMFL investment record.</a:t>
            </a:r>
          </a:p>
        </p:txBody>
      </p:sp>
      <p:sp>
        <p:nvSpPr>
          <p:cNvPr id="9" name="TextBox 8"/>
          <p:cNvSpPr txBox="1"/>
          <p:nvPr/>
        </p:nvSpPr>
        <p:spPr>
          <a:xfrm>
            <a:off x="877824" y="3035808"/>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TYPICAL OPPORTUNITY</a:t>
            </a:r>
          </a:p>
          <a:p>
            <a:pPr algn="l">
              <a:lnSpc>
                <a:spcPct val="114000"/>
              </a:lnSpc>
              <a:spcBef>
                <a:spcPts val="0"/>
              </a:spcBef>
              <a:spcAft>
                <a:spcPts val="0"/>
              </a:spcAft>
            </a:pPr>
            <a:r>
              <a:rPr sz="1300" b="0" i="0">
                <a:solidFill>
                  <a:srgbClr val="35464F"/>
                </a:solidFill>
                <a:latin typeface="Aptos"/>
                <a:cs typeface="Aptos"/>
              </a:rPr>
              <a:t>Selected small and medium transactions across repeatable themes.</a:t>
            </a:r>
          </a:p>
        </p:txBody>
      </p:sp>
      <p:sp>
        <p:nvSpPr>
          <p:cNvPr id="10" name="TextBox 9"/>
          <p:cNvSpPr txBox="1"/>
          <p:nvPr/>
        </p:nvSpPr>
        <p:spPr>
          <a:xfrm>
            <a:off x="877824" y="3694176"/>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CAPITAL PROFILE</a:t>
            </a:r>
          </a:p>
          <a:p>
            <a:pPr algn="l">
              <a:lnSpc>
                <a:spcPct val="114000"/>
              </a:lnSpc>
              <a:spcBef>
                <a:spcPts val="0"/>
              </a:spcBef>
              <a:spcAft>
                <a:spcPts val="0"/>
              </a:spcAft>
            </a:pPr>
            <a:r>
              <a:rPr sz="1300" b="0" i="0">
                <a:solidFill>
                  <a:srgbClr val="35464F"/>
                </a:solidFill>
                <a:latin typeface="Aptos"/>
                <a:cs typeface="Aptos"/>
              </a:rPr>
              <a:t>The existing US$300 million support, diversified across several investments.</a:t>
            </a:r>
          </a:p>
        </p:txBody>
      </p:sp>
      <p:sp>
        <p:nvSpPr>
          <p:cNvPr id="11" name="TextBox 10"/>
          <p:cNvSpPr txBox="1"/>
          <p:nvPr/>
        </p:nvSpPr>
        <p:spPr>
          <a:xfrm>
            <a:off x="877824" y="4352544"/>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RISK PROFILE</a:t>
            </a:r>
          </a:p>
          <a:p>
            <a:pPr algn="l">
              <a:lnSpc>
                <a:spcPct val="114000"/>
              </a:lnSpc>
              <a:spcBef>
                <a:spcPts val="0"/>
              </a:spcBef>
              <a:spcAft>
                <a:spcPts val="0"/>
              </a:spcAft>
            </a:pPr>
            <a:r>
              <a:rPr sz="1300" b="0" i="0">
                <a:solidFill>
                  <a:srgbClr val="35464F"/>
                </a:solidFill>
                <a:latin typeface="Aptos"/>
                <a:cs typeface="Aptos"/>
              </a:rPr>
              <a:t>More diversified, with lower single-asset concentration.</a:t>
            </a:r>
          </a:p>
        </p:txBody>
      </p:sp>
      <p:sp>
        <p:nvSpPr>
          <p:cNvPr id="12" name="TextBox 11"/>
          <p:cNvSpPr txBox="1"/>
          <p:nvPr/>
        </p:nvSpPr>
        <p:spPr>
          <a:xfrm>
            <a:off x="877824" y="4974336"/>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EXPECTED AUM EFFECT</a:t>
            </a:r>
          </a:p>
          <a:p>
            <a:pPr algn="l">
              <a:lnSpc>
                <a:spcPct val="114000"/>
              </a:lnSpc>
              <a:spcBef>
                <a:spcPts val="0"/>
              </a:spcBef>
              <a:spcAft>
                <a:spcPts val="0"/>
              </a:spcAft>
            </a:pPr>
            <a:r>
              <a:rPr sz="1300" b="0" i="0">
                <a:solidFill>
                  <a:srgbClr val="35464F"/>
                </a:solidFill>
                <a:latin typeface="Aptos"/>
                <a:cs typeface="Aptos"/>
              </a:rPr>
              <a:t>Gradual and potentially uneven growth.</a:t>
            </a:r>
          </a:p>
        </p:txBody>
      </p:sp>
      <p:sp>
        <p:nvSpPr>
          <p:cNvPr id="13" name="Rounded Rectangle 12"/>
          <p:cNvSpPr/>
          <p:nvPr/>
        </p:nvSpPr>
        <p:spPr>
          <a:xfrm>
            <a:off x="6245352" y="1408176"/>
            <a:ext cx="5303520" cy="4041648"/>
          </a:xfrm>
          <a:prstGeom prst="roundRect">
            <a:avLst>
              <a:gd name="adj" fmla="val 2036"/>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46520" y="1408176"/>
            <a:ext cx="4901184" cy="31750"/>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3096" y="1554480"/>
            <a:ext cx="4828032" cy="777240"/>
          </a:xfrm>
          <a:prstGeom prst="rect">
            <a:avLst/>
          </a:prstGeom>
          <a:noFill/>
        </p:spPr>
        <p:txBody>
          <a:bodyPr wrap="square" anchor="t" lIns="0" rIns="0" tIns="0" bIns="0">
            <a:spAutoFit/>
          </a:bodyPr>
          <a:lstStyle/>
          <a:p>
            <a:pPr algn="l">
              <a:lnSpc>
                <a:spcPct val="104000"/>
              </a:lnSpc>
              <a:spcBef>
                <a:spcPts val="0"/>
              </a:spcBef>
              <a:spcAft>
                <a:spcPts val="300"/>
              </a:spcAft>
            </a:pPr>
            <a:r>
              <a:rPr sz="1500" b="0" i="0">
                <a:solidFill>
                  <a:srgbClr val="002B5C"/>
                </a:solidFill>
                <a:latin typeface="Aptos Display"/>
                <a:cs typeface="Aptos Display"/>
              </a:rPr>
              <a:t>Pathway 2 — Institutional-Scale Opportunities</a:t>
            </a:r>
          </a:p>
          <a:p>
            <a:pPr algn="l">
              <a:spcBef>
                <a:spcPts val="0"/>
              </a:spcBef>
              <a:spcAft>
                <a:spcPts val="0"/>
              </a:spcAft>
            </a:pPr>
            <a:r>
              <a:rPr sz="950" b="1" i="0" spc="120">
                <a:solidFill>
                  <a:srgbClr val="4682B4"/>
                </a:solidFill>
                <a:latin typeface="Aptos"/>
                <a:cs typeface="Aptos"/>
              </a:rPr>
              <a:t>CAN ACCELERATE SCALE</a:t>
            </a:r>
          </a:p>
        </p:txBody>
      </p:sp>
      <p:sp>
        <p:nvSpPr>
          <p:cNvPr id="16" name="TextBox 15"/>
          <p:cNvSpPr txBox="1"/>
          <p:nvPr/>
        </p:nvSpPr>
        <p:spPr>
          <a:xfrm>
            <a:off x="6483096" y="2377440"/>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PRIMARY PURPOSE</a:t>
            </a:r>
          </a:p>
          <a:p>
            <a:pPr algn="l">
              <a:lnSpc>
                <a:spcPct val="114000"/>
              </a:lnSpc>
              <a:spcBef>
                <a:spcPts val="0"/>
              </a:spcBef>
              <a:spcAft>
                <a:spcPts val="0"/>
              </a:spcAft>
            </a:pPr>
            <a:r>
              <a:rPr sz="1300" b="0" i="0">
                <a:solidFill>
                  <a:srgbClr val="35464F"/>
                </a:solidFill>
                <a:latin typeface="Aptos"/>
                <a:cs typeface="Aptos"/>
              </a:rPr>
              <a:t>Accelerate AUM, institutional relevance and market visibility.</a:t>
            </a:r>
          </a:p>
        </p:txBody>
      </p:sp>
      <p:sp>
        <p:nvSpPr>
          <p:cNvPr id="17" name="TextBox 16"/>
          <p:cNvSpPr txBox="1"/>
          <p:nvPr/>
        </p:nvSpPr>
        <p:spPr>
          <a:xfrm>
            <a:off x="6483096" y="3035808"/>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TYPICAL OPPORTUNITY</a:t>
            </a:r>
          </a:p>
          <a:p>
            <a:pPr algn="l">
              <a:lnSpc>
                <a:spcPct val="114000"/>
              </a:lnSpc>
              <a:spcBef>
                <a:spcPts val="0"/>
              </a:spcBef>
              <a:spcAft>
                <a:spcPts val="0"/>
              </a:spcAft>
            </a:pPr>
            <a:r>
              <a:rPr sz="1300" b="0" i="0">
                <a:solidFill>
                  <a:srgbClr val="35464F"/>
                </a:solidFill>
                <a:latin typeface="Aptos"/>
                <a:cs typeface="Aptos"/>
              </a:rPr>
              <a:t>Selected large transactions capable of creating meaningful scale.</a:t>
            </a:r>
          </a:p>
        </p:txBody>
      </p:sp>
      <p:sp>
        <p:nvSpPr>
          <p:cNvPr id="18" name="TextBox 17"/>
          <p:cNvSpPr txBox="1"/>
          <p:nvPr/>
        </p:nvSpPr>
        <p:spPr>
          <a:xfrm>
            <a:off x="6483096" y="3694176"/>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CAPITAL PROFILE</a:t>
            </a:r>
          </a:p>
          <a:p>
            <a:pPr algn="l">
              <a:lnSpc>
                <a:spcPct val="114000"/>
              </a:lnSpc>
              <a:spcBef>
                <a:spcPts val="0"/>
              </a:spcBef>
              <a:spcAft>
                <a:spcPts val="0"/>
              </a:spcAft>
            </a:pPr>
            <a:r>
              <a:rPr sz="1300" b="0" i="0">
                <a:solidFill>
                  <a:srgbClr val="35464F"/>
                </a:solidFill>
                <a:latin typeface="Aptos"/>
                <a:cs typeface="Aptos"/>
              </a:rPr>
              <a:t>May require materially greater transaction-specific capital.</a:t>
            </a:r>
          </a:p>
        </p:txBody>
      </p:sp>
      <p:sp>
        <p:nvSpPr>
          <p:cNvPr id="19" name="TextBox 18"/>
          <p:cNvSpPr txBox="1"/>
          <p:nvPr/>
        </p:nvSpPr>
        <p:spPr>
          <a:xfrm>
            <a:off x="6483096" y="4352544"/>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RISK PROFILE</a:t>
            </a:r>
          </a:p>
          <a:p>
            <a:pPr algn="l">
              <a:lnSpc>
                <a:spcPct val="114000"/>
              </a:lnSpc>
              <a:spcBef>
                <a:spcPts val="0"/>
              </a:spcBef>
              <a:spcAft>
                <a:spcPts val="0"/>
              </a:spcAft>
            </a:pPr>
            <a:r>
              <a:rPr sz="1300" b="0" i="0">
                <a:solidFill>
                  <a:srgbClr val="35464F"/>
                </a:solidFill>
                <a:latin typeface="Aptos"/>
                <a:cs typeface="Aptos"/>
              </a:rPr>
              <a:t>Higher single-asset concentration and greater liquidity exposure.</a:t>
            </a:r>
          </a:p>
        </p:txBody>
      </p:sp>
      <p:sp>
        <p:nvSpPr>
          <p:cNvPr id="20" name="TextBox 19"/>
          <p:cNvSpPr txBox="1"/>
          <p:nvPr/>
        </p:nvSpPr>
        <p:spPr>
          <a:xfrm>
            <a:off x="6483096" y="4974336"/>
            <a:ext cx="4828032" cy="640080"/>
          </a:xfrm>
          <a:prstGeom prst="rect">
            <a:avLst/>
          </a:prstGeom>
          <a:noFill/>
        </p:spPr>
        <p:txBody>
          <a:bodyPr wrap="square" anchor="t" lIns="0" rIns="0" tIns="0" bIns="0">
            <a:spAutoFit/>
          </a:bodyPr>
          <a:lstStyle/>
          <a:p>
            <a:pPr algn="l">
              <a:spcBef>
                <a:spcPts val="0"/>
              </a:spcBef>
              <a:spcAft>
                <a:spcPts val="200"/>
              </a:spcAft>
            </a:pPr>
            <a:r>
              <a:rPr sz="900" b="1" i="0" spc="80">
                <a:solidFill>
                  <a:srgbClr val="35464F"/>
                </a:solidFill>
                <a:latin typeface="Aptos"/>
                <a:cs typeface="Aptos"/>
              </a:rPr>
              <a:t>EXPECTED AUM EFFECT</a:t>
            </a:r>
          </a:p>
          <a:p>
            <a:pPr algn="l">
              <a:lnSpc>
                <a:spcPct val="114000"/>
              </a:lnSpc>
              <a:spcBef>
                <a:spcPts val="0"/>
              </a:spcBef>
              <a:spcAft>
                <a:spcPts val="0"/>
              </a:spcAft>
            </a:pPr>
            <a:r>
              <a:rPr sz="1300" b="0" i="0">
                <a:solidFill>
                  <a:srgbClr val="35464F"/>
                </a:solidFill>
                <a:latin typeface="Aptos"/>
                <a:cs typeface="Aptos"/>
              </a:rPr>
              <a:t>Potential step-change growth.</a:t>
            </a:r>
          </a:p>
        </p:txBody>
      </p:sp>
      <p:sp>
        <p:nvSpPr>
          <p:cNvPr id="21" name="Rounded Rectangle 20"/>
          <p:cNvSpPr/>
          <p:nvPr/>
        </p:nvSpPr>
        <p:spPr>
          <a:xfrm>
            <a:off x="640080" y="5614416"/>
            <a:ext cx="10908792" cy="530352"/>
          </a:xfrm>
          <a:prstGeom prst="roundRect">
            <a:avLst>
              <a:gd name="adj" fmla="val 15517"/>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614416"/>
            <a:ext cx="10396728" cy="530352"/>
          </a:xfrm>
          <a:prstGeom prst="rect">
            <a:avLst/>
          </a:prstGeom>
          <a:noFill/>
        </p:spPr>
        <p:txBody>
          <a:bodyPr wrap="square" anchor="ctr" lIns="0" rIns="0" tIns="0" bIns="0">
            <a:spAutoFit/>
          </a:bodyPr>
          <a:lstStyle/>
          <a:p>
            <a:pPr>
              <a:spcAft>
                <a:spcPts val="0"/>
              </a:spcAft>
            </a:pPr>
            <a:r>
              <a:rPr sz="1000" b="1" i="0" spc="140">
                <a:solidFill>
                  <a:srgbClr val="D5DDE6"/>
                </a:solidFill>
                <a:latin typeface="Aptos"/>
                <a:cs typeface="Aptos"/>
              </a:rPr>
              <a:t>RUN IN PARALLEL   </a:t>
            </a:r>
            <a:r>
              <a:rPr sz="1300" b="1" i="0">
                <a:solidFill>
                  <a:srgbClr val="8FC6C6"/>
                </a:solidFill>
                <a:latin typeface="Aptos"/>
                <a:cs typeface="Aptos"/>
              </a:rPr>
              <a:t>Pathway 1 builds the record</a:t>
            </a:r>
            <a:r>
              <a:rPr sz="1300" b="0" i="0">
                <a:solidFill>
                  <a:srgbClr val="D5DDE6"/>
                </a:solidFill>
                <a:latin typeface="Aptos"/>
                <a:cs typeface="Aptos"/>
              </a:rPr>
              <a:t>;  </a:t>
            </a:r>
            <a:r>
              <a:rPr sz="1300" b="1" i="0">
                <a:solidFill>
                  <a:srgbClr val="A9C6E2"/>
                </a:solidFill>
                <a:latin typeface="Aptos"/>
                <a:cs typeface="Aptos"/>
              </a:rPr>
              <a:t>Pathway 2 can accelerate scale</a:t>
            </a:r>
            <a:r>
              <a:rPr sz="1300" b="0" i="0">
                <a:solidFill>
                  <a:srgbClr val="D5DDE6"/>
                </a:solidFill>
                <a:latin typeface="Aptos"/>
                <a:cs typeface="Aptos"/>
              </a:rPr>
              <a:t>.</a:t>
            </a:r>
          </a:p>
        </p:txBody>
      </p:sp>
      <p:sp>
        <p:nvSpPr>
          <p:cNvPr id="23" name="TextBox 22"/>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4" name="TextBox 23"/>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7</a:t>
            </a:r>
          </a:p>
        </p:txBody>
      </p:sp>
      <p:pic>
        <p:nvPicPr>
          <p:cNvPr id="25" name="Picture 24"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07 · Pathway 1 · Capital recycling</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Two routes to capital recycling: asset-level speed, or portfolio-level institutional scale.</a:t>
            </a:r>
          </a:p>
        </p:txBody>
      </p:sp>
      <p:sp>
        <p:nvSpPr>
          <p:cNvPr id="5" name="TextBox 4"/>
          <p:cNvSpPr txBox="1"/>
          <p:nvPr/>
        </p:nvSpPr>
        <p:spPr>
          <a:xfrm>
            <a:off x="3246120" y="1554480"/>
            <a:ext cx="3977639" cy="274320"/>
          </a:xfrm>
          <a:prstGeom prst="rect">
            <a:avLst/>
          </a:prstGeom>
          <a:noFill/>
        </p:spPr>
        <p:txBody>
          <a:bodyPr wrap="square" anchor="t" lIns="0" rIns="0" tIns="0" bIns="0">
            <a:spAutoFit/>
          </a:bodyPr>
          <a:lstStyle/>
          <a:p>
            <a:pPr algn="l">
              <a:spcBef>
                <a:spcPts val="0"/>
              </a:spcBef>
              <a:spcAft>
                <a:spcPts val="0"/>
              </a:spcAft>
            </a:pPr>
            <a:r>
              <a:rPr sz="950" b="1" i="0" spc="90">
                <a:solidFill>
                  <a:srgbClr val="35464F"/>
                </a:solidFill>
                <a:latin typeface="Aptos"/>
                <a:cs typeface="Aptos"/>
              </a:rPr>
              <a:t>ASSET-LEVEL RECYCLING</a:t>
            </a:r>
          </a:p>
        </p:txBody>
      </p:sp>
      <p:sp>
        <p:nvSpPr>
          <p:cNvPr id="6" name="TextBox 5"/>
          <p:cNvSpPr txBox="1"/>
          <p:nvPr/>
        </p:nvSpPr>
        <p:spPr>
          <a:xfrm>
            <a:off x="7452360" y="1554480"/>
            <a:ext cx="3977639" cy="274320"/>
          </a:xfrm>
          <a:prstGeom prst="rect">
            <a:avLst/>
          </a:prstGeom>
          <a:noFill/>
        </p:spPr>
        <p:txBody>
          <a:bodyPr wrap="square" anchor="t" lIns="0" rIns="0" tIns="0" bIns="0">
            <a:spAutoFit/>
          </a:bodyPr>
          <a:lstStyle/>
          <a:p>
            <a:pPr algn="l">
              <a:spcBef>
                <a:spcPts val="0"/>
              </a:spcBef>
              <a:spcAft>
                <a:spcPts val="0"/>
              </a:spcAft>
            </a:pPr>
            <a:r>
              <a:rPr sz="950" b="1" i="0" spc="90">
                <a:solidFill>
                  <a:srgbClr val="35464F"/>
                </a:solidFill>
                <a:latin typeface="Aptos"/>
                <a:cs typeface="Aptos"/>
              </a:rPr>
              <a:t>PORTFOLIO-LEVEL RECYCLING THROUGH AGGREGATION</a:t>
            </a:r>
          </a:p>
        </p:txBody>
      </p:sp>
      <p:sp>
        <p:nvSpPr>
          <p:cNvPr id="7" name="Rectangle 6"/>
          <p:cNvSpPr/>
          <p:nvPr/>
        </p:nvSpPr>
        <p:spPr>
          <a:xfrm>
            <a:off x="640080" y="1865376"/>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2066544"/>
            <a:ext cx="38100" cy="50292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66544"/>
            <a:ext cx="2148840" cy="640080"/>
          </a:xfrm>
          <a:prstGeom prst="rect">
            <a:avLst/>
          </a:prstGeom>
          <a:noFill/>
        </p:spPr>
        <p:txBody>
          <a:bodyPr wrap="square" anchor="t" lIns="0" rIns="0" tIns="0" bIns="0">
            <a:spAutoFit/>
          </a:bodyPr>
          <a:lstStyle/>
          <a:p>
            <a:pPr algn="l">
              <a:lnSpc>
                <a:spcPct val="110000"/>
              </a:lnSpc>
              <a:spcBef>
                <a:spcPts val="0"/>
              </a:spcBef>
              <a:spcAft>
                <a:spcPts val="0"/>
              </a:spcAft>
            </a:pPr>
            <a:r>
              <a:rPr sz="950" b="1" i="0" spc="80">
                <a:solidFill>
                  <a:srgbClr val="35464F"/>
                </a:solidFill>
                <a:latin typeface="Aptos"/>
                <a:cs typeface="Aptos"/>
              </a:rPr>
              <a:t>APPROACH</a:t>
            </a:r>
          </a:p>
        </p:txBody>
      </p:sp>
      <p:sp>
        <p:nvSpPr>
          <p:cNvPr id="10" name="TextBox 9"/>
          <p:cNvSpPr txBox="1"/>
          <p:nvPr/>
        </p:nvSpPr>
        <p:spPr>
          <a:xfrm>
            <a:off x="3246120" y="204825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Sell, recapitalise or introduce third-party capital into an individual asset.</a:t>
            </a:r>
          </a:p>
        </p:txBody>
      </p:sp>
      <p:sp>
        <p:nvSpPr>
          <p:cNvPr id="11" name="TextBox 10"/>
          <p:cNvSpPr txBox="1"/>
          <p:nvPr/>
        </p:nvSpPr>
        <p:spPr>
          <a:xfrm>
            <a:off x="7452360" y="204825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Combine related assets into a coherent portfolio before introducing third-party capital.</a:t>
            </a:r>
          </a:p>
        </p:txBody>
      </p:sp>
      <p:sp>
        <p:nvSpPr>
          <p:cNvPr id="12" name="Rectangle 11"/>
          <p:cNvSpPr/>
          <p:nvPr/>
        </p:nvSpPr>
        <p:spPr>
          <a:xfrm>
            <a:off x="640080" y="268833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798064"/>
            <a:ext cx="38100" cy="50292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798064"/>
            <a:ext cx="2148840" cy="640080"/>
          </a:xfrm>
          <a:prstGeom prst="rect">
            <a:avLst/>
          </a:prstGeom>
          <a:noFill/>
        </p:spPr>
        <p:txBody>
          <a:bodyPr wrap="square" anchor="t" lIns="0" rIns="0" tIns="0" bIns="0">
            <a:spAutoFit/>
          </a:bodyPr>
          <a:lstStyle/>
          <a:p>
            <a:pPr algn="l">
              <a:lnSpc>
                <a:spcPct val="110000"/>
              </a:lnSpc>
              <a:spcBef>
                <a:spcPts val="0"/>
              </a:spcBef>
              <a:spcAft>
                <a:spcPts val="0"/>
              </a:spcAft>
            </a:pPr>
            <a:r>
              <a:rPr sz="950" b="1" i="0" spc="80">
                <a:solidFill>
                  <a:srgbClr val="35464F"/>
                </a:solidFill>
                <a:latin typeface="Aptos"/>
                <a:cs typeface="Aptos"/>
              </a:rPr>
              <a:t>TIMING</a:t>
            </a:r>
          </a:p>
        </p:txBody>
      </p:sp>
      <p:sp>
        <p:nvSpPr>
          <p:cNvPr id="15" name="TextBox 14"/>
          <p:cNvSpPr txBox="1"/>
          <p:nvPr/>
        </p:nvSpPr>
        <p:spPr>
          <a:xfrm>
            <a:off x="3246120" y="277977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Potentially earlier where there is sufficient demand for the individual asset.</a:t>
            </a:r>
          </a:p>
        </p:txBody>
      </p:sp>
      <p:sp>
        <p:nvSpPr>
          <p:cNvPr id="16" name="TextBox 15"/>
          <p:cNvSpPr txBox="1"/>
          <p:nvPr/>
        </p:nvSpPr>
        <p:spPr>
          <a:xfrm>
            <a:off x="7452360" y="277977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Usually requires more time to assemble sufficient scale.</a:t>
            </a:r>
          </a:p>
        </p:txBody>
      </p:sp>
      <p:sp>
        <p:nvSpPr>
          <p:cNvPr id="17" name="Rectangle 16"/>
          <p:cNvSpPr/>
          <p:nvPr/>
        </p:nvSpPr>
        <p:spPr>
          <a:xfrm>
            <a:off x="640080" y="341985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529584"/>
            <a:ext cx="38100" cy="50292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3529584"/>
            <a:ext cx="2148840" cy="640080"/>
          </a:xfrm>
          <a:prstGeom prst="rect">
            <a:avLst/>
          </a:prstGeom>
          <a:noFill/>
        </p:spPr>
        <p:txBody>
          <a:bodyPr wrap="square" anchor="t" lIns="0" rIns="0" tIns="0" bIns="0">
            <a:spAutoFit/>
          </a:bodyPr>
          <a:lstStyle/>
          <a:p>
            <a:pPr algn="l">
              <a:lnSpc>
                <a:spcPct val="110000"/>
              </a:lnSpc>
              <a:spcBef>
                <a:spcPts val="0"/>
              </a:spcBef>
              <a:spcAft>
                <a:spcPts val="0"/>
              </a:spcAft>
            </a:pPr>
            <a:r>
              <a:rPr sz="950" b="1" i="0" spc="80">
                <a:solidFill>
                  <a:srgbClr val="35464F"/>
                </a:solidFill>
                <a:latin typeface="Aptos"/>
                <a:cs typeface="Aptos"/>
              </a:rPr>
              <a:t>INVESTOR RELEVANCE</a:t>
            </a:r>
          </a:p>
        </p:txBody>
      </p:sp>
      <p:sp>
        <p:nvSpPr>
          <p:cNvPr id="20" name="TextBox 19"/>
          <p:cNvSpPr txBox="1"/>
          <p:nvPr/>
        </p:nvSpPr>
        <p:spPr>
          <a:xfrm>
            <a:off x="3246120" y="351129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The individual ticket may be too small for larger institutions.</a:t>
            </a:r>
          </a:p>
        </p:txBody>
      </p:sp>
      <p:sp>
        <p:nvSpPr>
          <p:cNvPr id="21" name="TextBox 20"/>
          <p:cNvSpPr txBox="1"/>
          <p:nvPr/>
        </p:nvSpPr>
        <p:spPr>
          <a:xfrm>
            <a:off x="7452360" y="351129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The portfolio can provide a more meaningful ticket and greater diversification.</a:t>
            </a:r>
          </a:p>
        </p:txBody>
      </p:sp>
      <p:sp>
        <p:nvSpPr>
          <p:cNvPr id="22" name="Rectangle 21"/>
          <p:cNvSpPr/>
          <p:nvPr/>
        </p:nvSpPr>
        <p:spPr>
          <a:xfrm>
            <a:off x="640080" y="415137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261104"/>
            <a:ext cx="38100" cy="50292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4261104"/>
            <a:ext cx="2148840" cy="640080"/>
          </a:xfrm>
          <a:prstGeom prst="rect">
            <a:avLst/>
          </a:prstGeom>
          <a:noFill/>
        </p:spPr>
        <p:txBody>
          <a:bodyPr wrap="square" anchor="t" lIns="0" rIns="0" tIns="0" bIns="0">
            <a:spAutoFit/>
          </a:bodyPr>
          <a:lstStyle/>
          <a:p>
            <a:pPr algn="l">
              <a:lnSpc>
                <a:spcPct val="110000"/>
              </a:lnSpc>
              <a:spcBef>
                <a:spcPts val="0"/>
              </a:spcBef>
              <a:spcAft>
                <a:spcPts val="0"/>
              </a:spcAft>
            </a:pPr>
            <a:r>
              <a:rPr sz="950" b="1" i="0" spc="80">
                <a:solidFill>
                  <a:srgbClr val="35464F"/>
                </a:solidFill>
                <a:latin typeface="Aptos"/>
                <a:cs typeface="Aptos"/>
              </a:rPr>
              <a:t>STRATEGIC BENEFIT</a:t>
            </a:r>
          </a:p>
        </p:txBody>
      </p:sp>
      <p:sp>
        <p:nvSpPr>
          <p:cNvPr id="25" name="TextBox 24"/>
          <p:cNvSpPr txBox="1"/>
          <p:nvPr/>
        </p:nvSpPr>
        <p:spPr>
          <a:xfrm>
            <a:off x="3246120" y="424281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Releases capital earlier and creates a realised proof point.</a:t>
            </a:r>
          </a:p>
        </p:txBody>
      </p:sp>
      <p:sp>
        <p:nvSpPr>
          <p:cNvPr id="26" name="TextBox 25"/>
          <p:cNvSpPr txBox="1"/>
          <p:nvPr/>
        </p:nvSpPr>
        <p:spPr>
          <a:xfrm>
            <a:off x="7452360" y="424281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Creates a scalable strategy or platform, rather than a single investment.</a:t>
            </a:r>
          </a:p>
        </p:txBody>
      </p:sp>
      <p:sp>
        <p:nvSpPr>
          <p:cNvPr id="27" name="Rectangle 26"/>
          <p:cNvSpPr/>
          <p:nvPr/>
        </p:nvSpPr>
        <p:spPr>
          <a:xfrm>
            <a:off x="640080" y="4882896"/>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4992624"/>
            <a:ext cx="38100" cy="50292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 y="4992624"/>
            <a:ext cx="2148840" cy="640080"/>
          </a:xfrm>
          <a:prstGeom prst="rect">
            <a:avLst/>
          </a:prstGeom>
          <a:noFill/>
        </p:spPr>
        <p:txBody>
          <a:bodyPr wrap="square" anchor="t" lIns="0" rIns="0" tIns="0" bIns="0">
            <a:spAutoFit/>
          </a:bodyPr>
          <a:lstStyle/>
          <a:p>
            <a:pPr algn="l">
              <a:lnSpc>
                <a:spcPct val="110000"/>
              </a:lnSpc>
              <a:spcBef>
                <a:spcPts val="0"/>
              </a:spcBef>
              <a:spcAft>
                <a:spcPts val="0"/>
              </a:spcAft>
            </a:pPr>
            <a:r>
              <a:rPr sz="950" b="1" i="0" spc="80">
                <a:solidFill>
                  <a:srgbClr val="35464F"/>
                </a:solidFill>
                <a:latin typeface="Aptos"/>
                <a:cs typeface="Aptos"/>
              </a:rPr>
              <a:t>AUM IMPLICATION</a:t>
            </a:r>
          </a:p>
        </p:txBody>
      </p:sp>
      <p:sp>
        <p:nvSpPr>
          <p:cNvPr id="30" name="TextBox 29"/>
          <p:cNvSpPr txBox="1"/>
          <p:nvPr/>
        </p:nvSpPr>
        <p:spPr>
          <a:xfrm>
            <a:off x="3246120" y="497433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A full disposal may reduce AUM; a partial sell-down may retain it.</a:t>
            </a:r>
          </a:p>
        </p:txBody>
      </p:sp>
      <p:sp>
        <p:nvSpPr>
          <p:cNvPr id="31" name="TextBox 30"/>
          <p:cNvSpPr txBox="1"/>
          <p:nvPr/>
        </p:nvSpPr>
        <p:spPr>
          <a:xfrm>
            <a:off x="7452360" y="4974336"/>
            <a:ext cx="3977639" cy="685800"/>
          </a:xfrm>
          <a:prstGeom prst="rect">
            <a:avLst/>
          </a:prstGeom>
          <a:noFill/>
        </p:spPr>
        <p:txBody>
          <a:bodyPr wrap="square" anchor="t" lIns="0" rIns="0" tIns="0" bIns="0">
            <a:spAutoFit/>
          </a:bodyPr>
          <a:lstStyle/>
          <a:p>
            <a:pPr algn="l">
              <a:lnSpc>
                <a:spcPct val="116000"/>
              </a:lnSpc>
              <a:spcBef>
                <a:spcPts val="0"/>
              </a:spcBef>
              <a:spcAft>
                <a:spcPts val="0"/>
              </a:spcAft>
            </a:pPr>
            <a:r>
              <a:rPr sz="1200" b="0" i="0">
                <a:solidFill>
                  <a:srgbClr val="35464F"/>
                </a:solidFill>
                <a:latin typeface="Aptos"/>
                <a:cs typeface="Aptos"/>
              </a:rPr>
              <a:t>Can create larger and more durable portfolio-level AUM.</a:t>
            </a:r>
          </a:p>
        </p:txBody>
      </p:sp>
      <p:sp>
        <p:nvSpPr>
          <p:cNvPr id="32" name="Rectangle 31"/>
          <p:cNvSpPr/>
          <p:nvPr/>
        </p:nvSpPr>
        <p:spPr>
          <a:xfrm>
            <a:off x="640080" y="561441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705856"/>
            <a:ext cx="10908792" cy="411480"/>
          </a:xfrm>
          <a:prstGeom prst="rect">
            <a:avLst/>
          </a:prstGeom>
          <a:noFill/>
        </p:spPr>
        <p:txBody>
          <a:bodyPr wrap="square" anchor="t" lIns="0" rIns="0" tIns="0" bIns="0">
            <a:spAutoFit/>
          </a:bodyPr>
          <a:lstStyle/>
          <a:p>
            <a:pPr algn="l">
              <a:lnSpc>
                <a:spcPct val="120000"/>
              </a:lnSpc>
              <a:spcBef>
                <a:spcPts val="0"/>
              </a:spcBef>
              <a:spcAft>
                <a:spcPts val="0"/>
              </a:spcAft>
            </a:pPr>
            <a:r>
              <a:rPr sz="1150" b="0" i="0">
                <a:solidFill>
                  <a:srgbClr val="35464F"/>
                </a:solidFill>
                <a:latin typeface="Aptos"/>
                <a:cs typeface="Aptos"/>
              </a:rPr>
              <a:t>Capital recycling remains important because sponsor capital is finite; the immediate priority is the investment record from which longer-term capital efficiency can develop.</a:t>
            </a:r>
          </a:p>
        </p:txBody>
      </p:sp>
      <p:sp>
        <p:nvSpPr>
          <p:cNvPr id="34" name="TextBox 3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35" name="TextBox 3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8</a:t>
            </a:r>
          </a:p>
        </p:txBody>
      </p:sp>
      <p:pic>
        <p:nvPicPr>
          <p:cNvPr id="36" name="Picture 3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09 · Warehousing as an execution enabler</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Warehousing bridges the timing gap between securing a transaction and forming third-party capital.</a:t>
            </a:r>
          </a:p>
        </p:txBody>
      </p:sp>
      <p:sp>
        <p:nvSpPr>
          <p:cNvPr id="5" name="Rounded Rectangle 4"/>
          <p:cNvSpPr/>
          <p:nvPr/>
        </p:nvSpPr>
        <p:spPr>
          <a:xfrm>
            <a:off x="640080" y="1627632"/>
            <a:ext cx="5303520" cy="2103120"/>
          </a:xfrm>
          <a:prstGeom prst="roundRect">
            <a:avLst>
              <a:gd name="adj" fmla="val 391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627632"/>
            <a:ext cx="4901184" cy="31750"/>
          </a:xfrm>
          <a:prstGeom prst="rect">
            <a:avLst/>
          </a:prstGeom>
          <a:solidFill>
            <a:srgbClr val="354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792224"/>
            <a:ext cx="4828032" cy="1773936"/>
          </a:xfrm>
          <a:prstGeom prst="rect">
            <a:avLst/>
          </a:prstGeom>
          <a:noFill/>
        </p:spPr>
        <p:txBody>
          <a:bodyPr wrap="square" anchor="t" lIns="0" rIns="0" tIns="0" bIns="0">
            <a:spAutoFit/>
          </a:bodyPr>
          <a:lstStyle/>
          <a:p>
            <a:pPr algn="l">
              <a:spcBef>
                <a:spcPts val="0"/>
              </a:spcBef>
              <a:spcAft>
                <a:spcPts val="400"/>
              </a:spcAft>
            </a:pPr>
            <a:r>
              <a:rPr sz="950" b="1" i="0" spc="120">
                <a:solidFill>
                  <a:srgbClr val="35464F"/>
                </a:solidFill>
                <a:latin typeface="Aptos"/>
                <a:cs typeface="Aptos"/>
              </a:rPr>
              <a:t>WITHOUT WAREHOUSING</a:t>
            </a:r>
          </a:p>
          <a:p>
            <a:pPr algn="l">
              <a:lnSpc>
                <a:spcPct val="104000"/>
              </a:lnSpc>
              <a:spcBef>
                <a:spcPts val="0"/>
              </a:spcBef>
              <a:spcAft>
                <a:spcPts val="700"/>
              </a:spcAft>
            </a:pPr>
            <a:r>
              <a:rPr sz="1500" b="0" i="0">
                <a:solidFill>
                  <a:srgbClr val="002B5C"/>
                </a:solidFill>
                <a:latin typeface="Aptos Display"/>
                <a:cs typeface="Aptos Display"/>
              </a:rPr>
              <a:t>The record cannot form</a:t>
            </a:r>
          </a:p>
          <a:p>
            <a:pPr algn="l">
              <a:lnSpc>
                <a:spcPct val="128000"/>
              </a:lnSpc>
              <a:spcBef>
                <a:spcPts val="0"/>
              </a:spcBef>
              <a:spcAft>
                <a:spcPts val="0"/>
              </a:spcAft>
            </a:pPr>
            <a:r>
              <a:rPr sz="1300" b="0" i="0">
                <a:solidFill>
                  <a:srgbClr val="35464F"/>
                </a:solidFill>
                <a:latin typeface="Aptos"/>
                <a:cs typeface="Aptos"/>
              </a:rPr>
              <a:t>Limited advance third-party commitments → fewer secured transactions → insufficient post-SMFL proof → continued difficulty attracting third-party capital.</a:t>
            </a:r>
          </a:p>
        </p:txBody>
      </p:sp>
      <p:sp>
        <p:nvSpPr>
          <p:cNvPr id="8" name="Rounded Rectangle 7"/>
          <p:cNvSpPr/>
          <p:nvPr/>
        </p:nvSpPr>
        <p:spPr>
          <a:xfrm>
            <a:off x="6245352" y="1627632"/>
            <a:ext cx="5303520" cy="2103120"/>
          </a:xfrm>
          <a:prstGeom prst="roundRect">
            <a:avLst>
              <a:gd name="adj" fmla="val 3913"/>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627632"/>
            <a:ext cx="4901184" cy="3175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1792224"/>
            <a:ext cx="4828032" cy="1773936"/>
          </a:xfrm>
          <a:prstGeom prst="rect">
            <a:avLst/>
          </a:prstGeom>
          <a:noFill/>
        </p:spPr>
        <p:txBody>
          <a:bodyPr wrap="square" anchor="t" lIns="0" rIns="0" tIns="0" bIns="0">
            <a:spAutoFit/>
          </a:bodyPr>
          <a:lstStyle/>
          <a:p>
            <a:pPr algn="l">
              <a:spcBef>
                <a:spcPts val="0"/>
              </a:spcBef>
              <a:spcAft>
                <a:spcPts val="400"/>
              </a:spcAft>
            </a:pPr>
            <a:r>
              <a:rPr sz="950" b="1" i="0" spc="120">
                <a:solidFill>
                  <a:srgbClr val="008080"/>
                </a:solidFill>
                <a:latin typeface="Aptos"/>
                <a:cs typeface="Aptos"/>
              </a:rPr>
              <a:t>WITH WAREHOUSING</a:t>
            </a:r>
          </a:p>
          <a:p>
            <a:pPr algn="l">
              <a:lnSpc>
                <a:spcPct val="104000"/>
              </a:lnSpc>
              <a:spcBef>
                <a:spcPts val="0"/>
              </a:spcBef>
              <a:spcAft>
                <a:spcPts val="700"/>
              </a:spcAft>
            </a:pPr>
            <a:r>
              <a:rPr sz="1500" b="0" i="0">
                <a:solidFill>
                  <a:srgbClr val="002B5C"/>
                </a:solidFill>
                <a:latin typeface="Aptos Display"/>
                <a:cs typeface="Aptos Display"/>
              </a:rPr>
              <a:t>Execution builds the record</a:t>
            </a:r>
          </a:p>
          <a:p>
            <a:pPr algn="l">
              <a:lnSpc>
                <a:spcPct val="128000"/>
              </a:lnSpc>
              <a:spcBef>
                <a:spcPts val="0"/>
              </a:spcBef>
              <a:spcAft>
                <a:spcPts val="0"/>
              </a:spcAft>
            </a:pPr>
            <a:r>
              <a:rPr sz="1300" b="0" i="0">
                <a:solidFill>
                  <a:srgbClr val="35464F"/>
                </a:solidFill>
                <a:latin typeface="Aptos"/>
                <a:cs typeface="Aptos"/>
              </a:rPr>
              <a:t>Secure and execute transactions → demonstrate the full investment lifecycle → establish investor confidence → introduce or raise third-party capital → repeat.</a:t>
            </a:r>
          </a:p>
        </p:txBody>
      </p:sp>
      <p:sp>
        <p:nvSpPr>
          <p:cNvPr id="11" name="TextBox 10"/>
          <p:cNvSpPr txBox="1"/>
          <p:nvPr/>
        </p:nvSpPr>
        <p:spPr>
          <a:xfrm>
            <a:off x="640080" y="4005072"/>
            <a:ext cx="10908792" cy="777240"/>
          </a:xfrm>
          <a:prstGeom prst="rect">
            <a:avLst/>
          </a:prstGeom>
          <a:noFill/>
        </p:spPr>
        <p:txBody>
          <a:bodyPr wrap="square" anchor="t" lIns="0" rIns="0" tIns="0" bIns="0">
            <a:spAutoFit/>
          </a:bodyPr>
          <a:lstStyle/>
          <a:p>
            <a:pPr algn="l">
              <a:lnSpc>
                <a:spcPct val="130000"/>
              </a:lnSpc>
              <a:spcBef>
                <a:spcPts val="0"/>
              </a:spcBef>
              <a:spcAft>
                <a:spcPts val="0"/>
              </a:spcAft>
            </a:pPr>
            <a:r>
              <a:rPr sz="1350" b="0" i="0">
                <a:solidFill>
                  <a:srgbClr val="35464F"/>
                </a:solidFill>
                <a:latin typeface="Aptos"/>
                <a:cs typeface="Aptos"/>
              </a:rPr>
              <a:t>Institutional investors generally require a specific and sufficiently secured opportunity, while sellers require certainty and speed — the two timetables often do not align. Without the ability to bridge this gap, Aravest may be unable to secure opportunities at the point they are available.</a:t>
            </a:r>
          </a:p>
        </p:txBody>
      </p:sp>
      <p:sp>
        <p:nvSpPr>
          <p:cNvPr id="12" name="Rounded Rectangle 11"/>
          <p:cNvSpPr/>
          <p:nvPr/>
        </p:nvSpPr>
        <p:spPr>
          <a:xfrm>
            <a:off x="640080" y="5074920"/>
            <a:ext cx="10908792" cy="548640"/>
          </a:xfrm>
          <a:prstGeom prst="roundRect">
            <a:avLst>
              <a:gd name="adj" fmla="val 1500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5074920"/>
            <a:ext cx="10396728" cy="548640"/>
          </a:xfrm>
          <a:prstGeom prst="rect">
            <a:avLst/>
          </a:prstGeom>
          <a:noFill/>
        </p:spPr>
        <p:txBody>
          <a:bodyPr wrap="square" anchor="ctr" lIns="0" rIns="0" tIns="0" bIns="0">
            <a:spAutoFit/>
          </a:bodyPr>
          <a:lstStyle/>
          <a:p>
            <a:pPr>
              <a:spcAft>
                <a:spcPts val="0"/>
              </a:spcAft>
            </a:pPr>
            <a:r>
              <a:rPr sz="1300" b="0" i="0">
                <a:solidFill>
                  <a:srgbClr val="FFFFFF"/>
                </a:solidFill>
                <a:latin typeface="Aptos Display"/>
                <a:cs typeface="Aptos Display"/>
              </a:rPr>
              <a:t>The chain:  </a:t>
            </a:r>
            <a:r>
              <a:rPr sz="1300" b="0" i="0">
                <a:solidFill>
                  <a:srgbClr val="D5DDE6"/>
                </a:solidFill>
                <a:latin typeface="Aptos"/>
                <a:cs typeface="Aptos"/>
              </a:rPr>
              <a:t>warehousing enables execution; execution builds the track record; the track record supports long-term third-party capital formation.</a:t>
            </a:r>
          </a:p>
        </p:txBody>
      </p:sp>
      <p:sp>
        <p:nvSpPr>
          <p:cNvPr id="14" name="TextBox 1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5" name="TextBox 1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9</a:t>
            </a:r>
          </a:p>
        </p:txBody>
      </p:sp>
      <p:pic>
        <p:nvPicPr>
          <p:cNvPr id="16" name="Picture 1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10 · Capital &amp; AUM</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two pathways are expected to produce different AUM profiles.</a:t>
            </a:r>
          </a:p>
        </p:txBody>
      </p:sp>
      <p:sp>
        <p:nvSpPr>
          <p:cNvPr id="5" name="Rectangle 4"/>
          <p:cNvSpPr/>
          <p:nvPr/>
        </p:nvSpPr>
        <p:spPr>
          <a:xfrm>
            <a:off x="640080" y="1426464"/>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36192"/>
            <a:ext cx="10908792" cy="365760"/>
          </a:xfrm>
          <a:prstGeom prst="rect">
            <a:avLst/>
          </a:prstGeom>
          <a:noFill/>
        </p:spPr>
        <p:txBody>
          <a:bodyPr wrap="square" anchor="ctr" lIns="0" rIns="0" tIns="0" bIns="0">
            <a:spAutoFit/>
          </a:bodyPr>
          <a:lstStyle/>
          <a:p>
            <a:pPr algn="ctr">
              <a:spcBef>
                <a:spcPts val="0"/>
              </a:spcBef>
              <a:spcAft>
                <a:spcPts val="0"/>
              </a:spcAft>
            </a:pPr>
            <a:r>
              <a:rPr sz="1450" b="0" i="0">
                <a:solidFill>
                  <a:srgbClr val="002B5C"/>
                </a:solidFill>
                <a:latin typeface="Aptos Display"/>
                <a:cs typeface="Aptos Display"/>
              </a:rPr>
              <a:t>Closing AUM  =  Opening AUM  +  New investments  −  Realisations  ±  Valuation and FX movements</a:t>
            </a:r>
          </a:p>
        </p:txBody>
      </p:sp>
      <p:sp>
        <p:nvSpPr>
          <p:cNvPr id="7" name="Rectangle 6"/>
          <p:cNvSpPr/>
          <p:nvPr/>
        </p:nvSpPr>
        <p:spPr>
          <a:xfrm>
            <a:off x="640080" y="201168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231136"/>
            <a:ext cx="2788920" cy="3127248"/>
          </a:xfrm>
          <a:prstGeom prst="roundRect">
            <a:avLst>
              <a:gd name="adj" fmla="val 295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432304"/>
            <a:ext cx="2331720" cy="2724912"/>
          </a:xfrm>
          <a:prstGeom prst="rect">
            <a:avLst/>
          </a:prstGeom>
          <a:noFill/>
        </p:spPr>
        <p:txBody>
          <a:bodyPr wrap="square" anchor="t" lIns="0" rIns="0" tIns="0" bIns="0">
            <a:spAutoFit/>
          </a:bodyPr>
          <a:lstStyle/>
          <a:p>
            <a:pPr algn="l">
              <a:spcBef>
                <a:spcPts val="0"/>
              </a:spcBef>
              <a:spcAft>
                <a:spcPts val="800"/>
              </a:spcAft>
            </a:pPr>
            <a:r>
              <a:rPr sz="900" b="1" i="0" spc="100">
                <a:solidFill>
                  <a:srgbClr val="D5DDE6"/>
                </a:solidFill>
                <a:latin typeface="Aptos"/>
                <a:cs typeface="Aptos"/>
              </a:rPr>
              <a:t>SPONSOR CAPITAL SUPPORT</a:t>
            </a:r>
          </a:p>
          <a:p>
            <a:pPr algn="l">
              <a:lnSpc>
                <a:spcPct val="100000"/>
              </a:lnSpc>
              <a:spcBef>
                <a:spcPts val="0"/>
              </a:spcBef>
              <a:spcAft>
                <a:spcPts val="900"/>
              </a:spcAft>
            </a:pPr>
            <a:r>
              <a:rPr sz="3400" b="0" i="0">
                <a:solidFill>
                  <a:srgbClr val="FFFFFF"/>
                </a:solidFill>
                <a:latin typeface="Aptos Display"/>
                <a:cs typeface="Aptos Display"/>
              </a:rPr>
              <a:t>US$300m</a:t>
            </a:r>
          </a:p>
          <a:p>
            <a:pPr algn="l">
              <a:lnSpc>
                <a:spcPct val="126000"/>
              </a:lnSpc>
              <a:spcBef>
                <a:spcPts val="0"/>
              </a:spcBef>
              <a:spcAft>
                <a:spcPts val="600"/>
              </a:spcAft>
            </a:pPr>
            <a:r>
              <a:rPr sz="1300" b="0" i="0">
                <a:solidFill>
                  <a:srgbClr val="D5DDE6"/>
                </a:solidFill>
                <a:latin typeface="Aptos"/>
                <a:cs typeface="Aptos"/>
              </a:rPr>
              <a:t>Existing support, diversified across several Pathway 1 investments.</a:t>
            </a:r>
          </a:p>
          <a:p>
            <a:pPr algn="l">
              <a:lnSpc>
                <a:spcPct val="126000"/>
              </a:lnSpc>
              <a:spcBef>
                <a:spcPts val="0"/>
              </a:spcBef>
              <a:spcAft>
                <a:spcPts val="0"/>
              </a:spcAft>
            </a:pPr>
            <a:r>
              <a:rPr sz="1300" b="0" i="0">
                <a:solidFill>
                  <a:srgbClr val="D5DDE6"/>
                </a:solidFill>
                <a:latin typeface="Aptos"/>
                <a:cs typeface="Aptos"/>
              </a:rPr>
              <a:t>Warehousing bridges execution and third-party capital formation.</a:t>
            </a:r>
          </a:p>
        </p:txBody>
      </p:sp>
      <p:sp>
        <p:nvSpPr>
          <p:cNvPr id="10" name="Rounded Rectangle 9"/>
          <p:cNvSpPr/>
          <p:nvPr/>
        </p:nvSpPr>
        <p:spPr>
          <a:xfrm>
            <a:off x="3611880" y="2231136"/>
            <a:ext cx="3913632" cy="3127248"/>
          </a:xfrm>
          <a:prstGeom prst="roundRect">
            <a:avLst>
              <a:gd name="adj" fmla="val 2631"/>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31336" y="2395728"/>
            <a:ext cx="3474720" cy="457200"/>
          </a:xfrm>
          <a:prstGeom prst="rect">
            <a:avLst/>
          </a:prstGeom>
          <a:noFill/>
        </p:spPr>
        <p:txBody>
          <a:bodyPr wrap="square" anchor="t" lIns="0" rIns="0" tIns="0" bIns="0">
            <a:spAutoFit/>
          </a:bodyPr>
          <a:lstStyle/>
          <a:p>
            <a:pPr algn="l">
              <a:lnSpc>
                <a:spcPct val="103000"/>
              </a:lnSpc>
              <a:spcBef>
                <a:spcPts val="0"/>
              </a:spcBef>
              <a:spcAft>
                <a:spcPts val="0"/>
              </a:spcAft>
            </a:pPr>
            <a:r>
              <a:rPr sz="1350" b="0" i="0">
                <a:solidFill>
                  <a:srgbClr val="008080"/>
                </a:solidFill>
                <a:latin typeface="Aptos Display"/>
                <a:cs typeface="Aptos Display"/>
              </a:rPr>
              <a:t>Pathway 1 — gradual and uneven</a:t>
            </a:r>
          </a:p>
        </p:txBody>
      </p:sp>
      <p:sp>
        <p:nvSpPr>
          <p:cNvPr id="12" name="Rectangle 11"/>
          <p:cNvSpPr/>
          <p:nvPr/>
        </p:nvSpPr>
        <p:spPr>
          <a:xfrm>
            <a:off x="3831336" y="3625048"/>
            <a:ext cx="347472" cy="453176"/>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3484779"/>
            <a:ext cx="347472" cy="59344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3752" y="3571098"/>
            <a:ext cx="347472" cy="507126"/>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94960" y="3409249"/>
            <a:ext cx="347472" cy="66897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16168" y="3517149"/>
            <a:ext cx="347472" cy="561075"/>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37376" y="3322930"/>
            <a:ext cx="347472" cy="755294"/>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58584" y="3398460"/>
            <a:ext cx="347472" cy="679764"/>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31336" y="4078224"/>
            <a:ext cx="3474720"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4187952"/>
            <a:ext cx="3474720" cy="1051560"/>
          </a:xfrm>
          <a:prstGeom prst="rect">
            <a:avLst/>
          </a:prstGeom>
          <a:noFill/>
        </p:spPr>
        <p:txBody>
          <a:bodyPr wrap="square" anchor="t" lIns="0" rIns="0" tIns="0" bIns="0">
            <a:spAutoFit/>
          </a:bodyPr>
          <a:lstStyle/>
          <a:p>
            <a:pPr algn="l">
              <a:lnSpc>
                <a:spcPct val="118000"/>
              </a:lnSpc>
              <a:spcBef>
                <a:spcPts val="0"/>
              </a:spcBef>
              <a:spcAft>
                <a:spcPts val="300"/>
              </a:spcAft>
            </a:pPr>
            <a:r>
              <a:rPr sz="1300" b="0" i="0">
                <a:solidFill>
                  <a:srgbClr val="35464F"/>
                </a:solidFill>
                <a:latin typeface="Aptos"/>
                <a:cs typeface="Aptos"/>
              </a:rPr>
              <a:t>AUM may grow gradually, remain flat where investments replace realisations, or decline temporarily after disposals or sell-downs.</a:t>
            </a:r>
          </a:p>
          <a:p>
            <a:pPr algn="l">
              <a:spcBef>
                <a:spcPts val="0"/>
              </a:spcBef>
              <a:spcAft>
                <a:spcPts val="0"/>
              </a:spcAft>
            </a:pPr>
            <a:r>
              <a:rPr sz="900" b="0" i="1">
                <a:solidFill>
                  <a:srgbClr val="869397"/>
                </a:solidFill>
                <a:latin typeface="Aptos"/>
                <a:cs typeface="Aptos"/>
              </a:rPr>
              <a:t>Illustrative profile only — not a forecast.</a:t>
            </a:r>
          </a:p>
        </p:txBody>
      </p:sp>
      <p:sp>
        <p:nvSpPr>
          <p:cNvPr id="21" name="Rounded Rectangle 20"/>
          <p:cNvSpPr/>
          <p:nvPr/>
        </p:nvSpPr>
        <p:spPr>
          <a:xfrm>
            <a:off x="7708392" y="2231136"/>
            <a:ext cx="3840480" cy="3127248"/>
          </a:xfrm>
          <a:prstGeom prst="roundRect">
            <a:avLst>
              <a:gd name="adj" fmla="val 2631"/>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27848" y="2395728"/>
            <a:ext cx="3401568" cy="457200"/>
          </a:xfrm>
          <a:prstGeom prst="rect">
            <a:avLst/>
          </a:prstGeom>
          <a:noFill/>
        </p:spPr>
        <p:txBody>
          <a:bodyPr wrap="square" anchor="t" lIns="0" rIns="0" tIns="0" bIns="0">
            <a:spAutoFit/>
          </a:bodyPr>
          <a:lstStyle/>
          <a:p>
            <a:pPr algn="l">
              <a:lnSpc>
                <a:spcPct val="103000"/>
              </a:lnSpc>
              <a:spcBef>
                <a:spcPts val="0"/>
              </a:spcBef>
              <a:spcAft>
                <a:spcPts val="0"/>
              </a:spcAft>
            </a:pPr>
            <a:r>
              <a:rPr sz="1350" b="0" i="0">
                <a:solidFill>
                  <a:srgbClr val="4682B4"/>
                </a:solidFill>
                <a:latin typeface="Aptos Display"/>
                <a:cs typeface="Aptos Display"/>
              </a:rPr>
              <a:t>Pathway 2 — potential step-change</a:t>
            </a:r>
          </a:p>
        </p:txBody>
      </p:sp>
      <p:sp>
        <p:nvSpPr>
          <p:cNvPr id="23" name="Rectangle 22"/>
          <p:cNvSpPr/>
          <p:nvPr/>
        </p:nvSpPr>
        <p:spPr>
          <a:xfrm>
            <a:off x="7927848" y="3689787"/>
            <a:ext cx="347472" cy="388437"/>
          </a:xfrm>
          <a:prstGeom prst="rect">
            <a:avLst/>
          </a:prstGeom>
          <a:solidFill>
            <a:srgbClr val="B9D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36864" y="3668208"/>
            <a:ext cx="347472" cy="410016"/>
          </a:xfrm>
          <a:prstGeom prst="rect">
            <a:avLst/>
          </a:prstGeom>
          <a:solidFill>
            <a:srgbClr val="B9D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45880" y="3646628"/>
            <a:ext cx="347472" cy="431596"/>
          </a:xfrm>
          <a:prstGeom prst="rect">
            <a:avLst/>
          </a:prstGeom>
          <a:solidFill>
            <a:srgbClr val="B9D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454896" y="3074762"/>
            <a:ext cx="347472" cy="100346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63912" y="3053182"/>
            <a:ext cx="347472" cy="102504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472928" y="2999232"/>
            <a:ext cx="347472" cy="107899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981944" y="2999232"/>
            <a:ext cx="347472" cy="107899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27848" y="4078224"/>
            <a:ext cx="3401568" cy="12700"/>
          </a:xfrm>
          <a:prstGeom prst="rect">
            <a:avLst/>
          </a:prstGeom>
          <a:solidFill>
            <a:srgbClr val="CCD1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27848" y="4187952"/>
            <a:ext cx="3401568" cy="1051560"/>
          </a:xfrm>
          <a:prstGeom prst="rect">
            <a:avLst/>
          </a:prstGeom>
          <a:noFill/>
        </p:spPr>
        <p:txBody>
          <a:bodyPr wrap="square" anchor="t" lIns="0" rIns="0" tIns="0" bIns="0">
            <a:spAutoFit/>
          </a:bodyPr>
          <a:lstStyle/>
          <a:p>
            <a:pPr algn="l">
              <a:lnSpc>
                <a:spcPct val="118000"/>
              </a:lnSpc>
              <a:spcBef>
                <a:spcPts val="0"/>
              </a:spcBef>
              <a:spcAft>
                <a:spcPts val="300"/>
              </a:spcAft>
            </a:pPr>
            <a:r>
              <a:rPr sz="1300" b="0" i="0">
                <a:solidFill>
                  <a:srgbClr val="35464F"/>
                </a:solidFill>
                <a:latin typeface="Aptos"/>
                <a:cs typeface="Aptos"/>
              </a:rPr>
              <a:t>A single institutional-scale transaction can create a material or step-change increase in AUM and more meaningful ticket sizes.</a:t>
            </a:r>
          </a:p>
          <a:p>
            <a:pPr algn="l">
              <a:spcBef>
                <a:spcPts val="0"/>
              </a:spcBef>
              <a:spcAft>
                <a:spcPts val="0"/>
              </a:spcAft>
            </a:pPr>
            <a:r>
              <a:rPr sz="900" b="0" i="1">
                <a:solidFill>
                  <a:srgbClr val="869397"/>
                </a:solidFill>
                <a:latin typeface="Aptos"/>
                <a:cs typeface="Aptos"/>
              </a:rPr>
              <a:t>Illustrative profile only — not a forecast.</a:t>
            </a:r>
          </a:p>
        </p:txBody>
      </p:sp>
      <p:sp>
        <p:nvSpPr>
          <p:cNvPr id="32" name="Rounded Rectangle 31"/>
          <p:cNvSpPr/>
          <p:nvPr/>
        </p:nvSpPr>
        <p:spPr>
          <a:xfrm>
            <a:off x="640080" y="5541264"/>
            <a:ext cx="10908792" cy="512064"/>
          </a:xfrm>
          <a:prstGeom prst="roundRect">
            <a:avLst>
              <a:gd name="adj" fmla="val 16071"/>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5541264"/>
            <a:ext cx="10433304" cy="512064"/>
          </a:xfrm>
          <a:prstGeom prst="rect">
            <a:avLst/>
          </a:prstGeom>
          <a:noFill/>
        </p:spPr>
        <p:txBody>
          <a:bodyPr wrap="square" anchor="ctr" lIns="0" rIns="0" tIns="0" bIns="0">
            <a:spAutoFit/>
          </a:bodyPr>
          <a:lstStyle/>
          <a:p>
            <a:pPr>
              <a:lnSpc>
                <a:spcPct val="112000"/>
              </a:lnSpc>
              <a:spcAft>
                <a:spcPts val="0"/>
              </a:spcAft>
            </a:pPr>
            <a:r>
              <a:rPr sz="950" b="1" i="0" spc="100">
                <a:solidFill>
                  <a:srgbClr val="002B5C"/>
                </a:solidFill>
                <a:latin typeface="Aptos"/>
                <a:cs typeface="Aptos"/>
              </a:rPr>
              <a:t>BASIS   </a:t>
            </a:r>
            <a:r>
              <a:rPr sz="1200" b="0" i="0">
                <a:solidFill>
                  <a:srgbClr val="35464F"/>
                </a:solidFill>
                <a:latin typeface="Aptos"/>
                <a:cs typeface="Aptos"/>
              </a:rPr>
              <a:t>Financial figures to be populated by Finance and refreshed by transaction teams before Board circulation. Source: Locked Board Strategy Narrative v8.</a:t>
            </a:r>
          </a:p>
        </p:txBody>
      </p:sp>
      <p:sp>
        <p:nvSpPr>
          <p:cNvPr id="34" name="TextBox 3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35" name="TextBox 3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10</a:t>
            </a:r>
          </a:p>
        </p:txBody>
      </p:sp>
      <p:pic>
        <p:nvPicPr>
          <p:cNvPr id="36" name="Picture 3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11 · Conrad Seoul illustration</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Conrad Seoul illustrates the sequencing of warehousing, execution and institutional capital formation.</a:t>
            </a:r>
          </a:p>
        </p:txBody>
      </p:sp>
      <p:pic>
        <p:nvPicPr>
          <p:cNvPr id="5" name="Picture 4" descr="hero_seoul.jpg"/>
          <p:cNvPicPr>
            <a:picLocks noChangeAspect="1"/>
          </p:cNvPicPr>
          <p:nvPr/>
        </p:nvPicPr>
        <p:blipFill>
          <a:blip r:embed="rId2"/>
          <a:stretch>
            <a:fillRect/>
          </a:stretch>
        </p:blipFill>
        <p:spPr>
          <a:xfrm>
            <a:off x="640080" y="1627632"/>
            <a:ext cx="4023360" cy="3538728"/>
          </a:xfrm>
          <a:prstGeom prst="rect">
            <a:avLst/>
          </a:prstGeom>
        </p:spPr>
      </p:pic>
      <p:sp>
        <p:nvSpPr>
          <p:cNvPr id="6" name="Rectangle 5"/>
          <p:cNvSpPr/>
          <p:nvPr/>
        </p:nvSpPr>
        <p:spPr>
          <a:xfrm>
            <a:off x="640080" y="1627632"/>
            <a:ext cx="4023360" cy="3538728"/>
          </a:xfrm>
          <a:prstGeom prst="rect">
            <a:avLst/>
          </a:prstGeom>
          <a:noFill/>
          <a:ln w="9525">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83480" y="1645920"/>
            <a:ext cx="6565392" cy="3108960"/>
          </a:xfrm>
          <a:prstGeom prst="rect">
            <a:avLst/>
          </a:prstGeom>
          <a:noFill/>
        </p:spPr>
        <p:txBody>
          <a:bodyPr wrap="square" anchor="t" lIns="0" rIns="0" tIns="0" bIns="0">
            <a:spAutoFit/>
          </a:bodyPr>
          <a:lstStyle/>
          <a:p>
            <a:pPr algn="l">
              <a:spcBef>
                <a:spcPts val="0"/>
              </a:spcBef>
              <a:spcAft>
                <a:spcPts val="700"/>
              </a:spcAft>
            </a:pPr>
            <a:r>
              <a:rPr sz="950" b="1" i="0" spc="120">
                <a:solidFill>
                  <a:srgbClr val="35464F"/>
                </a:solidFill>
                <a:latin typeface="Aptos"/>
                <a:cs typeface="Aptos"/>
              </a:rPr>
              <a:t>THE SEQUENCE</a:t>
            </a:r>
          </a:p>
          <a:p>
            <a:pPr>
              <a:lnSpc>
                <a:spcPct val="122000"/>
              </a:lnSpc>
              <a:spcAft>
                <a:spcPts val="800"/>
              </a:spcAft>
            </a:pPr>
            <a:r>
              <a:rPr sz="1100" b="1" i="0" spc="100">
                <a:solidFill>
                  <a:srgbClr val="008080"/>
                </a:solidFill>
                <a:latin typeface="Aptos"/>
                <a:cs typeface="Aptos"/>
              </a:rPr>
              <a:t>01  </a:t>
            </a:r>
            <a:r>
              <a:rPr sz="1350" b="0" i="0">
                <a:solidFill>
                  <a:srgbClr val="35464F"/>
                </a:solidFill>
                <a:latin typeface="Aptos"/>
                <a:cs typeface="Aptos"/>
              </a:rPr>
              <a:t>Sponsor-supported capital enabled the transaction to be secured and completed.</a:t>
            </a:r>
          </a:p>
          <a:p>
            <a:pPr>
              <a:lnSpc>
                <a:spcPct val="122000"/>
              </a:lnSpc>
              <a:spcAft>
                <a:spcPts val="800"/>
              </a:spcAft>
            </a:pPr>
            <a:r>
              <a:rPr sz="1100" b="1" i="0" spc="100">
                <a:solidFill>
                  <a:srgbClr val="008080"/>
                </a:solidFill>
                <a:latin typeface="Aptos"/>
                <a:cs typeface="Aptos"/>
              </a:rPr>
              <a:t>02  </a:t>
            </a:r>
            <a:r>
              <a:rPr sz="1350" b="0" i="0">
                <a:solidFill>
                  <a:srgbClr val="35464F"/>
                </a:solidFill>
                <a:latin typeface="Aptos"/>
                <a:cs typeface="Aptos"/>
              </a:rPr>
              <a:t>Execution became visible and established confidence in the platform.</a:t>
            </a:r>
          </a:p>
          <a:p>
            <a:pPr>
              <a:lnSpc>
                <a:spcPct val="122000"/>
              </a:lnSpc>
              <a:spcAft>
                <a:spcPts val="800"/>
              </a:spcAft>
            </a:pPr>
            <a:r>
              <a:rPr sz="1100" b="1" i="0" spc="100">
                <a:solidFill>
                  <a:srgbClr val="008080"/>
                </a:solidFill>
                <a:latin typeface="Aptos"/>
                <a:cs typeface="Aptos"/>
              </a:rPr>
              <a:t>03  </a:t>
            </a:r>
            <a:r>
              <a:rPr sz="1350" b="0" i="0">
                <a:solidFill>
                  <a:srgbClr val="35464F"/>
                </a:solidFill>
                <a:latin typeface="Aptos"/>
                <a:cs typeface="Aptos"/>
              </a:rPr>
              <a:t>Institutional investors — including GIC and M&amp;G — were subsequently introduced.</a:t>
            </a:r>
          </a:p>
          <a:p>
            <a:pPr>
              <a:lnSpc>
                <a:spcPct val="122000"/>
              </a:lnSpc>
              <a:spcAft>
                <a:spcPts val="800"/>
              </a:spcAft>
            </a:pPr>
            <a:r>
              <a:rPr sz="1100" b="1" i="0" spc="100">
                <a:solidFill>
                  <a:srgbClr val="008080"/>
                </a:solidFill>
                <a:latin typeface="Aptos"/>
                <a:cs typeface="Aptos"/>
              </a:rPr>
              <a:t>04  </a:t>
            </a:r>
            <a:r>
              <a:rPr sz="1350" b="0" i="0">
                <a:solidFill>
                  <a:srgbClr val="35464F"/>
                </a:solidFill>
                <a:latin typeface="Aptos"/>
                <a:cs typeface="Aptos"/>
              </a:rPr>
              <a:t>Capital was recycled while Aravest retained the management relationship and strengthened its post-SMFL record.</a:t>
            </a:r>
          </a:p>
        </p:txBody>
      </p:sp>
      <p:sp>
        <p:nvSpPr>
          <p:cNvPr id="8" name="Rounded Rectangle 7"/>
          <p:cNvSpPr/>
          <p:nvPr/>
        </p:nvSpPr>
        <p:spPr>
          <a:xfrm>
            <a:off x="4983480" y="4590288"/>
            <a:ext cx="6565392" cy="932688"/>
          </a:xfrm>
          <a:prstGeom prst="roundRect">
            <a:avLst>
              <a:gd name="adj" fmla="val 8823"/>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02936" y="4590288"/>
            <a:ext cx="6126480" cy="932688"/>
          </a:xfrm>
          <a:prstGeom prst="rect">
            <a:avLst/>
          </a:prstGeom>
          <a:noFill/>
        </p:spPr>
        <p:txBody>
          <a:bodyPr wrap="square" anchor="ctr" lIns="0" rIns="0" tIns="0" bIns="0">
            <a:spAutoFit/>
          </a:bodyPr>
          <a:lstStyle/>
          <a:p>
            <a:pPr algn="l">
              <a:spcBef>
                <a:spcPts val="0"/>
              </a:spcBef>
              <a:spcAft>
                <a:spcPts val="400"/>
              </a:spcAft>
            </a:pPr>
            <a:r>
              <a:rPr sz="900" b="1" i="0" spc="100">
                <a:solidFill>
                  <a:srgbClr val="002B5C"/>
                </a:solidFill>
                <a:latin typeface="Aptos"/>
                <a:cs typeface="Aptos"/>
              </a:rPr>
              <a:t>HOW THE EXAMPLE SHOULD BE UNDERSTOOD</a:t>
            </a:r>
          </a:p>
          <a:p>
            <a:pPr algn="l">
              <a:lnSpc>
                <a:spcPct val="120000"/>
              </a:lnSpc>
              <a:spcBef>
                <a:spcPts val="0"/>
              </a:spcBef>
              <a:spcAft>
                <a:spcPts val="0"/>
              </a:spcAft>
            </a:pPr>
            <a:r>
              <a:rPr sz="1250" b="0" i="0">
                <a:solidFill>
                  <a:srgbClr val="35464F"/>
                </a:solidFill>
                <a:latin typeface="Aptos"/>
                <a:cs typeface="Aptos"/>
              </a:rPr>
              <a:t>The sequence demonstrates an available model, not an assured timetable; the sponsor may need to retain the investment for longer if external capital takes time to form.</a:t>
            </a:r>
          </a:p>
        </p:txBody>
      </p:sp>
      <p:sp>
        <p:nvSpPr>
          <p:cNvPr id="10" name="TextBox 9"/>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1" name="TextBox 10"/>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11</a:t>
            </a:r>
          </a:p>
        </p:txBody>
      </p:sp>
      <p:pic>
        <p:nvPicPr>
          <p:cNvPr id="12" name="Picture 11" descr="logo_navy.png"/>
          <p:cNvPicPr>
            <a:picLocks noChangeAspect="1"/>
          </p:cNvPicPr>
          <p:nvPr/>
        </p:nvPicPr>
        <p:blipFill>
          <a:blip r:embed="rId3"/>
          <a:stretch>
            <a:fillRect/>
          </a:stretch>
        </p:blipFill>
        <p:spPr>
          <a:xfrm>
            <a:off x="10881360" y="329184"/>
            <a:ext cx="600980" cy="3474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12 · Investment case · Current pipeline</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Current opportunities illustrate how the two pathways may develop in practice.</a:t>
            </a:r>
          </a:p>
        </p:txBody>
      </p:sp>
      <p:sp>
        <p:nvSpPr>
          <p:cNvPr id="5" name="TextBox 4"/>
          <p:cNvSpPr txBox="1"/>
          <p:nvPr/>
        </p:nvSpPr>
        <p:spPr>
          <a:xfrm>
            <a:off x="932688" y="1554480"/>
            <a:ext cx="278892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STRATEGIC ROLE</a:t>
            </a:r>
          </a:p>
        </p:txBody>
      </p:sp>
      <p:sp>
        <p:nvSpPr>
          <p:cNvPr id="6" name="TextBox 5"/>
          <p:cNvSpPr txBox="1"/>
          <p:nvPr/>
        </p:nvSpPr>
        <p:spPr>
          <a:xfrm>
            <a:off x="3950208" y="1554480"/>
            <a:ext cx="3977639"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ILLUSTRATIVE OPPORTUNITIES</a:t>
            </a:r>
          </a:p>
        </p:txBody>
      </p:sp>
      <p:sp>
        <p:nvSpPr>
          <p:cNvPr id="7" name="TextBox 6"/>
          <p:cNvSpPr txBox="1"/>
          <p:nvPr/>
        </p:nvSpPr>
        <p:spPr>
          <a:xfrm>
            <a:off x="8202168" y="1554480"/>
            <a:ext cx="315468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CONNECTION TO THE PATHWAY</a:t>
            </a:r>
          </a:p>
        </p:txBody>
      </p:sp>
      <p:sp>
        <p:nvSpPr>
          <p:cNvPr id="8" name="Rounded Rectangle 7"/>
          <p:cNvSpPr/>
          <p:nvPr/>
        </p:nvSpPr>
        <p:spPr>
          <a:xfrm>
            <a:off x="640080" y="1920240"/>
            <a:ext cx="10908792" cy="1225296"/>
          </a:xfrm>
          <a:prstGeom prst="roundRect">
            <a:avLst>
              <a:gd name="adj" fmla="val 6716"/>
            </a:avLst>
          </a:prstGeom>
          <a:solidFill>
            <a:srgbClr val="F2F6FA"/>
          </a:solidFill>
          <a:ln w="9525">
            <a:solidFill>
              <a:srgbClr val="B5CDE1"/>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084832"/>
            <a:ext cx="38100" cy="896112"/>
          </a:xfrm>
          <a:prstGeom prst="rect">
            <a:avLst/>
          </a:prstGeom>
          <a:solidFill>
            <a:srgbClr val="468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1031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Institutional-scale opportunity</a:t>
            </a:r>
          </a:p>
          <a:p>
            <a:pPr algn="l">
              <a:spcBef>
                <a:spcPts val="0"/>
              </a:spcBef>
              <a:spcAft>
                <a:spcPts val="0"/>
              </a:spcAft>
            </a:pPr>
            <a:r>
              <a:rPr sz="950" b="1" i="0" spc="120">
                <a:solidFill>
                  <a:srgbClr val="4682B4"/>
                </a:solidFill>
                <a:latin typeface="Aptos"/>
                <a:cs typeface="Aptos"/>
              </a:rPr>
              <a:t>PATHWAY 2</a:t>
            </a:r>
          </a:p>
        </p:txBody>
      </p:sp>
      <p:sp>
        <p:nvSpPr>
          <p:cNvPr id="11" name="TextBox 10"/>
          <p:cNvSpPr txBox="1"/>
          <p:nvPr/>
        </p:nvSpPr>
        <p:spPr>
          <a:xfrm>
            <a:off x="3950208" y="2121408"/>
            <a:ext cx="3977639"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Marina One and other selected large opportunities.</a:t>
            </a:r>
          </a:p>
        </p:txBody>
      </p:sp>
      <p:sp>
        <p:nvSpPr>
          <p:cNvPr id="12" name="TextBox 11"/>
          <p:cNvSpPr txBox="1"/>
          <p:nvPr/>
        </p:nvSpPr>
        <p:spPr>
          <a:xfrm>
            <a:off x="8202168" y="2121408"/>
            <a:ext cx="3154680"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Potential to create a material increase in AUM, institutional relevance and market visibility.</a:t>
            </a:r>
          </a:p>
        </p:txBody>
      </p:sp>
      <p:sp>
        <p:nvSpPr>
          <p:cNvPr id="13" name="Rounded Rectangle 12"/>
          <p:cNvSpPr/>
          <p:nvPr/>
        </p:nvSpPr>
        <p:spPr>
          <a:xfrm>
            <a:off x="640080" y="3291840"/>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3456432"/>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4747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Portfolio building block</a:t>
            </a:r>
          </a:p>
          <a:p>
            <a:pPr algn="l">
              <a:spcBef>
                <a:spcPts val="0"/>
              </a:spcBef>
              <a:spcAft>
                <a:spcPts val="0"/>
              </a:spcAft>
            </a:pPr>
            <a:r>
              <a:rPr sz="950" b="1" i="0" spc="120">
                <a:solidFill>
                  <a:srgbClr val="008080"/>
                </a:solidFill>
                <a:latin typeface="Aptos"/>
                <a:cs typeface="Aptos"/>
              </a:rPr>
              <a:t>PATHWAY 1</a:t>
            </a:r>
          </a:p>
        </p:txBody>
      </p:sp>
      <p:sp>
        <p:nvSpPr>
          <p:cNvPr id="16" name="TextBox 15"/>
          <p:cNvSpPr txBox="1"/>
          <p:nvPr/>
        </p:nvSpPr>
        <p:spPr>
          <a:xfrm>
            <a:off x="3950208" y="3493008"/>
            <a:ext cx="3977639"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Project Guardian / PBSA and subsequent PBSA opportunities.</a:t>
            </a:r>
          </a:p>
        </p:txBody>
      </p:sp>
      <p:sp>
        <p:nvSpPr>
          <p:cNvPr id="17" name="TextBox 16"/>
          <p:cNvSpPr txBox="1"/>
          <p:nvPr/>
        </p:nvSpPr>
        <p:spPr>
          <a:xfrm>
            <a:off x="8202168" y="3493008"/>
            <a:ext cx="3154680"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Build a repeatable strategy through aggregation into a portfolio of institutional scale.</a:t>
            </a:r>
          </a:p>
        </p:txBody>
      </p:sp>
      <p:sp>
        <p:nvSpPr>
          <p:cNvPr id="18" name="Rounded Rectangle 17"/>
          <p:cNvSpPr/>
          <p:nvPr/>
        </p:nvSpPr>
        <p:spPr>
          <a:xfrm>
            <a:off x="640080" y="4663440"/>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828032"/>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846320"/>
            <a:ext cx="2788920" cy="859536"/>
          </a:xfrm>
          <a:prstGeom prst="rect">
            <a:avLst/>
          </a:prstGeom>
          <a:noFill/>
        </p:spPr>
        <p:txBody>
          <a:bodyPr wrap="square" anchor="t" lIns="0" rIns="0" tIns="0" bIns="0">
            <a:spAutoFit/>
          </a:bodyPr>
          <a:lstStyle/>
          <a:p>
            <a:pPr algn="l">
              <a:lnSpc>
                <a:spcPct val="105000"/>
              </a:lnSpc>
              <a:spcBef>
                <a:spcPts val="0"/>
              </a:spcBef>
              <a:spcAft>
                <a:spcPts val="500"/>
              </a:spcAft>
            </a:pPr>
            <a:r>
              <a:rPr sz="1400" b="0" i="0">
                <a:solidFill>
                  <a:srgbClr val="002B5C"/>
                </a:solidFill>
                <a:latin typeface="Aptos Display"/>
                <a:cs typeface="Aptos Display"/>
              </a:rPr>
              <a:t>Track-record proof point</a:t>
            </a:r>
          </a:p>
          <a:p>
            <a:pPr algn="l">
              <a:spcBef>
                <a:spcPts val="0"/>
              </a:spcBef>
              <a:spcAft>
                <a:spcPts val="0"/>
              </a:spcAft>
            </a:pPr>
            <a:r>
              <a:rPr sz="950" b="1" i="0" spc="120">
                <a:solidFill>
                  <a:srgbClr val="008080"/>
                </a:solidFill>
                <a:latin typeface="Aptos"/>
                <a:cs typeface="Aptos"/>
              </a:rPr>
              <a:t>PATHWAY 1</a:t>
            </a:r>
          </a:p>
        </p:txBody>
      </p:sp>
      <p:sp>
        <p:nvSpPr>
          <p:cNvPr id="21" name="TextBox 20"/>
          <p:cNvSpPr txBox="1"/>
          <p:nvPr/>
        </p:nvSpPr>
        <p:spPr>
          <a:xfrm>
            <a:off x="3950208" y="4864608"/>
            <a:ext cx="3977639"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Courtyard by Marriott Suwon, ARA-NH Fund 2, Aberdeen / Shinyoung recapitalisation and other relevant transactions.</a:t>
            </a:r>
          </a:p>
        </p:txBody>
      </p:sp>
      <p:sp>
        <p:nvSpPr>
          <p:cNvPr id="22" name="TextBox 21"/>
          <p:cNvSpPr txBox="1"/>
          <p:nvPr/>
        </p:nvSpPr>
        <p:spPr>
          <a:xfrm>
            <a:off x="8202168" y="4864608"/>
            <a:ext cx="3154680" cy="859536"/>
          </a:xfrm>
          <a:prstGeom prst="rect">
            <a:avLst/>
          </a:prstGeom>
          <a:noFill/>
        </p:spPr>
        <p:txBody>
          <a:bodyPr wrap="square" anchor="t" lIns="0" rIns="0" tIns="0" bIns="0">
            <a:spAutoFit/>
          </a:bodyPr>
          <a:lstStyle/>
          <a:p>
            <a:pPr algn="l">
              <a:lnSpc>
                <a:spcPct val="120000"/>
              </a:lnSpc>
              <a:spcBef>
                <a:spcPts val="0"/>
              </a:spcBef>
              <a:spcAft>
                <a:spcPts val="0"/>
              </a:spcAft>
            </a:pPr>
            <a:r>
              <a:rPr sz="1300" b="0" i="0">
                <a:solidFill>
                  <a:srgbClr val="35464F"/>
                </a:solidFill>
                <a:latin typeface="Aptos"/>
                <a:cs typeface="Aptos"/>
              </a:rPr>
              <a:t>Deepen post-SMFL execution evidence and create additional realisation or recycling pathways.</a:t>
            </a:r>
          </a:p>
        </p:txBody>
      </p:sp>
      <p:sp>
        <p:nvSpPr>
          <p:cNvPr id="23" name="TextBox 22"/>
          <p:cNvSpPr txBox="1"/>
          <p:nvPr/>
        </p:nvSpPr>
        <p:spPr>
          <a:xfrm>
            <a:off x="640080" y="6071616"/>
            <a:ext cx="10908792" cy="502920"/>
          </a:xfrm>
          <a:prstGeom prst="rect">
            <a:avLst/>
          </a:prstGeom>
          <a:noFill/>
        </p:spPr>
        <p:txBody>
          <a:bodyPr wrap="square" anchor="t" lIns="0" rIns="0" tIns="0" bIns="0">
            <a:spAutoFit/>
          </a:bodyPr>
          <a:lstStyle/>
          <a:p>
            <a:pPr algn="l">
              <a:lnSpc>
                <a:spcPct val="122000"/>
              </a:lnSpc>
              <a:spcBef>
                <a:spcPts val="0"/>
              </a:spcBef>
              <a:spcAft>
                <a:spcPts val="0"/>
              </a:spcAft>
            </a:pPr>
            <a:r>
              <a:rPr sz="900" b="0" i="1">
                <a:solidFill>
                  <a:srgbClr val="869397"/>
                </a:solidFill>
                <a:latin typeface="Aptos"/>
                <a:cs typeface="Aptos"/>
              </a:rPr>
              <a:t>Private credit is excluded as a core Aravest growth strategy (an agreed SMDAM strategy, with Aravest providing support where relevant). Transaction names, figures and status to be refreshed by the relevant transaction teams before Board circulation.</a:t>
            </a:r>
          </a:p>
        </p:txBody>
      </p:sp>
      <p:sp>
        <p:nvSpPr>
          <p:cNvPr id="24" name="TextBox 23"/>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5" name="TextBox 24"/>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12</a:t>
            </a:r>
          </a:p>
        </p:txBody>
      </p:sp>
      <p:pic>
        <p:nvPicPr>
          <p:cNvPr id="26" name="Picture 25"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634472" y="365760"/>
            <a:ext cx="600980" cy="347472"/>
          </a:xfrm>
          <a:prstGeom prst="rect">
            <a:avLst/>
          </a:prstGeom>
        </p:spPr>
      </p:pic>
      <p:sp>
        <p:nvSpPr>
          <p:cNvPr id="4" name="TextBox 3"/>
          <p:cNvSpPr txBox="1"/>
          <p:nvPr/>
        </p:nvSpPr>
        <p:spPr>
          <a:xfrm>
            <a:off x="914400" y="2331720"/>
            <a:ext cx="2194560" cy="1371600"/>
          </a:xfrm>
          <a:prstGeom prst="rect">
            <a:avLst/>
          </a:prstGeom>
          <a:noFill/>
        </p:spPr>
        <p:txBody>
          <a:bodyPr wrap="square" anchor="t" lIns="0" rIns="0" tIns="0" bIns="0">
            <a:spAutoFit/>
          </a:bodyPr>
          <a:lstStyle/>
          <a:p>
            <a:pPr algn="l">
              <a:spcBef>
                <a:spcPts val="0"/>
              </a:spcBef>
              <a:spcAft>
                <a:spcPts val="0"/>
              </a:spcAft>
            </a:pPr>
            <a:r>
              <a:rPr sz="6000" b="0" i="0">
                <a:solidFill>
                  <a:srgbClr val="D5DDE6"/>
                </a:solidFill>
                <a:latin typeface="Spectral Light"/>
                <a:cs typeface="Spectral Light"/>
              </a:rPr>
              <a:t>03</a:t>
            </a:r>
          </a:p>
        </p:txBody>
      </p:sp>
      <p:sp>
        <p:nvSpPr>
          <p:cNvPr id="5" name="Rectangle 4"/>
          <p:cNvSpPr/>
          <p:nvPr/>
        </p:nvSpPr>
        <p:spPr>
          <a:xfrm>
            <a:off x="932688" y="3611880"/>
            <a:ext cx="355600" cy="19050"/>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51760" y="2487168"/>
            <a:ext cx="8595360" cy="1463040"/>
          </a:xfrm>
          <a:prstGeom prst="rect">
            <a:avLst/>
          </a:prstGeom>
          <a:noFill/>
        </p:spPr>
        <p:txBody>
          <a:bodyPr wrap="square" anchor="t" lIns="0" rIns="0" tIns="0" bIns="0">
            <a:spAutoFit/>
          </a:bodyPr>
          <a:lstStyle/>
          <a:p>
            <a:pPr algn="l">
              <a:lnSpc>
                <a:spcPct val="110000"/>
              </a:lnSpc>
              <a:spcBef>
                <a:spcPts val="0"/>
              </a:spcBef>
              <a:spcAft>
                <a:spcPts val="0"/>
              </a:spcAft>
            </a:pPr>
            <a:r>
              <a:rPr sz="3000" b="0" i="0">
                <a:solidFill>
                  <a:srgbClr val="FFFFFF"/>
                </a:solidFill>
                <a:latin typeface="Spectral Light"/>
                <a:cs typeface="Spectral Light"/>
              </a:rPr>
              <a:t>2027 focus and value creation</a:t>
            </a:r>
          </a:p>
        </p:txBody>
      </p:sp>
      <p:sp>
        <p:nvSpPr>
          <p:cNvPr id="7" name="TextBox 6"/>
          <p:cNvSpPr txBox="1"/>
          <p:nvPr/>
        </p:nvSpPr>
        <p:spPr>
          <a:xfrm>
            <a:off x="2670048" y="3703320"/>
            <a:ext cx="7863840" cy="731520"/>
          </a:xfrm>
          <a:prstGeom prst="rect">
            <a:avLst/>
          </a:prstGeom>
          <a:noFill/>
        </p:spPr>
        <p:txBody>
          <a:bodyPr wrap="square" anchor="t" lIns="0" rIns="0" tIns="0" bIns="0">
            <a:spAutoFit/>
          </a:bodyPr>
          <a:lstStyle/>
          <a:p>
            <a:pPr algn="l">
              <a:lnSpc>
                <a:spcPct val="130000"/>
              </a:lnSpc>
              <a:spcBef>
                <a:spcPts val="0"/>
              </a:spcBef>
              <a:spcAft>
                <a:spcPts val="0"/>
              </a:spcAft>
            </a:pPr>
            <a:r>
              <a:rPr sz="1250" b="0" i="0">
                <a:solidFill>
                  <a:srgbClr val="D5DDE6"/>
                </a:solidFill>
                <a:latin typeface="Aptos"/>
                <a:cs typeface="Aptos"/>
              </a:rPr>
              <a:t>Where we will look, and why we would invest.</a:t>
            </a:r>
          </a:p>
        </p:txBody>
      </p:sp>
      <p:sp>
        <p:nvSpPr>
          <p:cNvPr id="8" name="TextBox 7"/>
          <p:cNvSpPr txBox="1"/>
          <p:nvPr/>
        </p:nvSpPr>
        <p:spPr>
          <a:xfrm>
            <a:off x="914400" y="6455664"/>
            <a:ext cx="4572000" cy="274320"/>
          </a:xfrm>
          <a:prstGeom prst="rect">
            <a:avLst/>
          </a:prstGeom>
          <a:noFill/>
        </p:spPr>
        <p:txBody>
          <a:bodyPr wrap="square" anchor="t"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13 · 2027 investment focus</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Near-term focus combines established capabilities with selected areas of current market opportunity.</a:t>
            </a:r>
          </a:p>
        </p:txBody>
      </p:sp>
      <p:sp>
        <p:nvSpPr>
          <p:cNvPr id="5" name="TextBox 4"/>
          <p:cNvSpPr txBox="1"/>
          <p:nvPr/>
        </p:nvSpPr>
        <p:spPr>
          <a:xfrm>
            <a:off x="932688" y="1517904"/>
            <a:ext cx="301752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FOCUS</a:t>
            </a:r>
          </a:p>
        </p:txBody>
      </p:sp>
      <p:sp>
        <p:nvSpPr>
          <p:cNvPr id="6" name="TextBox 5"/>
          <p:cNvSpPr txBox="1"/>
          <p:nvPr/>
        </p:nvSpPr>
        <p:spPr>
          <a:xfrm>
            <a:off x="4206240" y="1517904"/>
            <a:ext cx="32918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2027 STRATEGIC ROLE</a:t>
            </a:r>
          </a:p>
        </p:txBody>
      </p:sp>
      <p:sp>
        <p:nvSpPr>
          <p:cNvPr id="7" name="TextBox 6"/>
          <p:cNvSpPr txBox="1"/>
          <p:nvPr/>
        </p:nvSpPr>
        <p:spPr>
          <a:xfrm>
            <a:off x="7772400" y="1517904"/>
            <a:ext cx="356616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HOW WE WILL APPROACH THEM</a:t>
            </a:r>
          </a:p>
        </p:txBody>
      </p:sp>
      <p:sp>
        <p:nvSpPr>
          <p:cNvPr id="8" name="Rounded Rectangle 7"/>
          <p:cNvSpPr/>
          <p:nvPr/>
        </p:nvSpPr>
        <p:spPr>
          <a:xfrm>
            <a:off x="640080" y="1865376"/>
            <a:ext cx="10908792"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11680"/>
            <a:ext cx="3017520" cy="932688"/>
          </a:xfrm>
          <a:prstGeom prst="rect">
            <a:avLst/>
          </a:prstGeom>
          <a:noFill/>
        </p:spPr>
        <p:txBody>
          <a:bodyPr wrap="square" anchor="t" lIns="0" rIns="0" tIns="0" bIns="0">
            <a:spAutoFit/>
          </a:bodyPr>
          <a:lstStyle/>
          <a:p>
            <a:pPr algn="l">
              <a:spcBef>
                <a:spcPts val="0"/>
              </a:spcBef>
              <a:spcAft>
                <a:spcPts val="300"/>
              </a:spcAft>
            </a:pPr>
            <a:r>
              <a:rPr sz="900" b="1" i="0" spc="90">
                <a:solidFill>
                  <a:srgbClr val="35464F"/>
                </a:solidFill>
                <a:latin typeface="Aptos"/>
                <a:cs typeface="Aptos"/>
              </a:rPr>
              <a:t>ESTABLISHED SECTORS</a:t>
            </a:r>
          </a:p>
          <a:p>
            <a:pPr algn="l">
              <a:lnSpc>
                <a:spcPct val="106000"/>
              </a:lnSpc>
              <a:spcBef>
                <a:spcPts val="0"/>
              </a:spcBef>
              <a:spcAft>
                <a:spcPts val="0"/>
              </a:spcAft>
            </a:pPr>
            <a:r>
              <a:rPr sz="1350" b="0" i="0">
                <a:solidFill>
                  <a:srgbClr val="002B5C"/>
                </a:solidFill>
                <a:latin typeface="Aptos Display"/>
                <a:cs typeface="Aptos Display"/>
              </a:rPr>
              <a:t>Office, logistics and selective retail or mixed-use</a:t>
            </a:r>
          </a:p>
        </p:txBody>
      </p:sp>
      <p:sp>
        <p:nvSpPr>
          <p:cNvPr id="10" name="TextBox 9"/>
          <p:cNvSpPr txBox="1"/>
          <p:nvPr/>
        </p:nvSpPr>
        <p:spPr>
          <a:xfrm>
            <a:off x="4206240" y="2011680"/>
            <a:ext cx="3291840" cy="932688"/>
          </a:xfrm>
          <a:prstGeom prst="rect">
            <a:avLst/>
          </a:prstGeom>
          <a:noFill/>
        </p:spPr>
        <p:txBody>
          <a:bodyPr wrap="square" anchor="t" lIns="0" rIns="0" tIns="0" bIns="0">
            <a:spAutoFit/>
          </a:bodyPr>
          <a:lstStyle/>
          <a:p>
            <a:pPr algn="l">
              <a:lnSpc>
                <a:spcPct val="118000"/>
              </a:lnSpc>
              <a:spcBef>
                <a:spcPts val="0"/>
              </a:spcBef>
              <a:spcAft>
                <a:spcPts val="0"/>
              </a:spcAft>
            </a:pPr>
            <a:r>
              <a:rPr sz="1200" b="0" i="0">
                <a:solidFill>
                  <a:srgbClr val="35464F"/>
                </a:solidFill>
                <a:latin typeface="Aptos"/>
                <a:cs typeface="Aptos"/>
              </a:rPr>
              <a:t>Remain the principal investment base, supported by existing experience, local market knowledge and asset-management capabilities.</a:t>
            </a:r>
          </a:p>
        </p:txBody>
      </p:sp>
      <p:sp>
        <p:nvSpPr>
          <p:cNvPr id="11" name="TextBox 10"/>
          <p:cNvSpPr txBox="1"/>
          <p:nvPr/>
        </p:nvSpPr>
        <p:spPr>
          <a:xfrm>
            <a:off x="7772400" y="2011680"/>
            <a:ext cx="3566160" cy="932688"/>
          </a:xfrm>
          <a:prstGeom prst="rect">
            <a:avLst/>
          </a:prstGeom>
          <a:noFill/>
        </p:spPr>
        <p:txBody>
          <a:bodyPr wrap="square" anchor="t" lIns="0" rIns="0" tIns="0" bIns="0">
            <a:spAutoFit/>
          </a:bodyPr>
          <a:lstStyle/>
          <a:p>
            <a:pPr algn="l">
              <a:lnSpc>
                <a:spcPct val="118000"/>
              </a:lnSpc>
              <a:spcBef>
                <a:spcPts val="0"/>
              </a:spcBef>
              <a:spcAft>
                <a:spcPts val="0"/>
              </a:spcAft>
            </a:pPr>
            <a:r>
              <a:rPr sz="1200" b="0" i="0">
                <a:solidFill>
                  <a:srgbClr val="35464F"/>
                </a:solidFill>
                <a:latin typeface="Aptos"/>
                <a:cs typeface="Aptos"/>
              </a:rPr>
              <a:t>Prioritise opportunities where repositioning, lease-up, AEI, redevelopment or market dislocation can create a clear and defensible value proposition.</a:t>
            </a:r>
          </a:p>
        </p:txBody>
      </p:sp>
      <p:sp>
        <p:nvSpPr>
          <p:cNvPr id="12" name="Rounded Rectangle 11"/>
          <p:cNvSpPr/>
          <p:nvPr/>
        </p:nvSpPr>
        <p:spPr>
          <a:xfrm>
            <a:off x="640080" y="3218688"/>
            <a:ext cx="10908792" cy="1225296"/>
          </a:xfrm>
          <a:prstGeom prst="roundRect">
            <a:avLst>
              <a:gd name="adj" fmla="val 6716"/>
            </a:avLst>
          </a:prstGeom>
          <a:solidFill>
            <a:srgbClr val="EDF6F6"/>
          </a:solidFill>
          <a:ln w="9525">
            <a:solidFill>
              <a:srgbClr val="99CCCC"/>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3383280"/>
            <a:ext cx="38100" cy="896112"/>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364992"/>
            <a:ext cx="3017520" cy="932688"/>
          </a:xfrm>
          <a:prstGeom prst="rect">
            <a:avLst/>
          </a:prstGeom>
          <a:noFill/>
        </p:spPr>
        <p:txBody>
          <a:bodyPr wrap="square" anchor="t" lIns="0" rIns="0" tIns="0" bIns="0">
            <a:spAutoFit/>
          </a:bodyPr>
          <a:lstStyle/>
          <a:p>
            <a:pPr algn="l">
              <a:spcBef>
                <a:spcPts val="0"/>
              </a:spcBef>
              <a:spcAft>
                <a:spcPts val="300"/>
              </a:spcAft>
            </a:pPr>
            <a:r>
              <a:rPr sz="900" b="1" i="0" spc="90">
                <a:solidFill>
                  <a:srgbClr val="008080"/>
                </a:solidFill>
                <a:latin typeface="Aptos"/>
                <a:cs typeface="Aptos"/>
              </a:rPr>
              <a:t>CURRENT TARGET PRIORITIES</a:t>
            </a:r>
          </a:p>
          <a:p>
            <a:pPr algn="l">
              <a:lnSpc>
                <a:spcPct val="106000"/>
              </a:lnSpc>
              <a:spcBef>
                <a:spcPts val="0"/>
              </a:spcBef>
              <a:spcAft>
                <a:spcPts val="0"/>
              </a:spcAft>
            </a:pPr>
            <a:r>
              <a:rPr sz="1350" b="0" i="0">
                <a:solidFill>
                  <a:srgbClr val="002B5C"/>
                </a:solidFill>
                <a:latin typeface="Aptos Display"/>
                <a:cs typeface="Aptos Display"/>
              </a:rPr>
              <a:t>Hospitality and living</a:t>
            </a:r>
          </a:p>
        </p:txBody>
      </p:sp>
      <p:sp>
        <p:nvSpPr>
          <p:cNvPr id="15" name="TextBox 14"/>
          <p:cNvSpPr txBox="1"/>
          <p:nvPr/>
        </p:nvSpPr>
        <p:spPr>
          <a:xfrm>
            <a:off x="4206240" y="3364992"/>
            <a:ext cx="3291840" cy="932688"/>
          </a:xfrm>
          <a:prstGeom prst="rect">
            <a:avLst/>
          </a:prstGeom>
          <a:noFill/>
        </p:spPr>
        <p:txBody>
          <a:bodyPr wrap="square" anchor="t" lIns="0" rIns="0" tIns="0" bIns="0">
            <a:spAutoFit/>
          </a:bodyPr>
          <a:lstStyle/>
          <a:p>
            <a:pPr algn="l">
              <a:lnSpc>
                <a:spcPct val="118000"/>
              </a:lnSpc>
              <a:spcBef>
                <a:spcPts val="0"/>
              </a:spcBef>
              <a:spcAft>
                <a:spcPts val="0"/>
              </a:spcAft>
            </a:pPr>
            <a:r>
              <a:rPr sz="1200" b="0" i="0">
                <a:solidFill>
                  <a:srgbClr val="35464F"/>
                </a:solidFill>
                <a:latin typeface="Aptos"/>
                <a:cs typeface="Aptos"/>
              </a:rPr>
              <a:t>Focus origination and capability development where current demand, market conditions and developing experience provide attractive opportunities.</a:t>
            </a:r>
          </a:p>
        </p:txBody>
      </p:sp>
      <p:sp>
        <p:nvSpPr>
          <p:cNvPr id="16" name="TextBox 15"/>
          <p:cNvSpPr txBox="1"/>
          <p:nvPr/>
        </p:nvSpPr>
        <p:spPr>
          <a:xfrm>
            <a:off x="7772400" y="3364992"/>
            <a:ext cx="3566160" cy="932688"/>
          </a:xfrm>
          <a:prstGeom prst="rect">
            <a:avLst/>
          </a:prstGeom>
          <a:noFill/>
        </p:spPr>
        <p:txBody>
          <a:bodyPr wrap="square" anchor="t" lIns="0" rIns="0" tIns="0" bIns="0">
            <a:spAutoFit/>
          </a:bodyPr>
          <a:lstStyle/>
          <a:p>
            <a:pPr algn="l">
              <a:lnSpc>
                <a:spcPct val="118000"/>
              </a:lnSpc>
              <a:spcBef>
                <a:spcPts val="0"/>
              </a:spcBef>
              <a:spcAft>
                <a:spcPts val="0"/>
              </a:spcAft>
            </a:pPr>
            <a:r>
              <a:rPr sz="1200" b="0" i="0">
                <a:solidFill>
                  <a:srgbClr val="35464F"/>
                </a:solidFill>
                <a:latin typeface="Aptos"/>
                <a:cs typeface="Aptos"/>
              </a:rPr>
              <a:t>Pursue repeatable strategies with strong operating partners, clear demand drivers and a credible path from individual opportunities to institutional portfolios.</a:t>
            </a:r>
          </a:p>
        </p:txBody>
      </p:sp>
      <p:sp>
        <p:nvSpPr>
          <p:cNvPr id="17" name="Rounded Rectangle 16"/>
          <p:cNvSpPr/>
          <p:nvPr/>
        </p:nvSpPr>
        <p:spPr>
          <a:xfrm>
            <a:off x="640080" y="4572000"/>
            <a:ext cx="10908792"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718304"/>
            <a:ext cx="3017520" cy="932688"/>
          </a:xfrm>
          <a:prstGeom prst="rect">
            <a:avLst/>
          </a:prstGeom>
          <a:noFill/>
        </p:spPr>
        <p:txBody>
          <a:bodyPr wrap="square" anchor="t" lIns="0" rIns="0" tIns="0" bIns="0">
            <a:spAutoFit/>
          </a:bodyPr>
          <a:lstStyle/>
          <a:p>
            <a:pPr algn="l">
              <a:spcBef>
                <a:spcPts val="0"/>
              </a:spcBef>
              <a:spcAft>
                <a:spcPts val="300"/>
              </a:spcAft>
            </a:pPr>
            <a:r>
              <a:rPr sz="900" b="1" i="0" spc="90">
                <a:solidFill>
                  <a:srgbClr val="35464F"/>
                </a:solidFill>
                <a:latin typeface="Aptos"/>
                <a:cs typeface="Aptos"/>
              </a:rPr>
              <a:t>OPPORTUNISTIC ADJACENCIES</a:t>
            </a:r>
          </a:p>
          <a:p>
            <a:pPr algn="l">
              <a:lnSpc>
                <a:spcPct val="106000"/>
              </a:lnSpc>
              <a:spcBef>
                <a:spcPts val="0"/>
              </a:spcBef>
              <a:spcAft>
                <a:spcPts val="0"/>
              </a:spcAft>
            </a:pPr>
            <a:r>
              <a:rPr sz="1350" b="0" i="0">
                <a:solidFill>
                  <a:srgbClr val="002B5C"/>
                </a:solidFill>
                <a:latin typeface="Aptos Display"/>
                <a:cs typeface="Aptos Display"/>
              </a:rPr>
              <a:t>Data centres and other emerging real asset sectors</a:t>
            </a:r>
          </a:p>
        </p:txBody>
      </p:sp>
      <p:sp>
        <p:nvSpPr>
          <p:cNvPr id="19" name="TextBox 18"/>
          <p:cNvSpPr txBox="1"/>
          <p:nvPr/>
        </p:nvSpPr>
        <p:spPr>
          <a:xfrm>
            <a:off x="4206240" y="4718304"/>
            <a:ext cx="3291840" cy="932688"/>
          </a:xfrm>
          <a:prstGeom prst="rect">
            <a:avLst/>
          </a:prstGeom>
          <a:noFill/>
        </p:spPr>
        <p:txBody>
          <a:bodyPr wrap="square" anchor="t" lIns="0" rIns="0" tIns="0" bIns="0">
            <a:spAutoFit/>
          </a:bodyPr>
          <a:lstStyle/>
          <a:p>
            <a:pPr algn="l">
              <a:lnSpc>
                <a:spcPct val="118000"/>
              </a:lnSpc>
              <a:spcBef>
                <a:spcPts val="0"/>
              </a:spcBef>
              <a:spcAft>
                <a:spcPts val="0"/>
              </a:spcAft>
            </a:pPr>
            <a:r>
              <a:rPr sz="1200" b="0" i="0">
                <a:solidFill>
                  <a:srgbClr val="35464F"/>
                </a:solidFill>
                <a:latin typeface="Aptos"/>
                <a:cs typeface="Aptos"/>
              </a:rPr>
              <a:t>Consider selectively rather than as a standing capital allocation or broad commitment to build every capability internally.</a:t>
            </a:r>
          </a:p>
        </p:txBody>
      </p:sp>
      <p:sp>
        <p:nvSpPr>
          <p:cNvPr id="20" name="TextBox 19"/>
          <p:cNvSpPr txBox="1"/>
          <p:nvPr/>
        </p:nvSpPr>
        <p:spPr>
          <a:xfrm>
            <a:off x="7772400" y="4718304"/>
            <a:ext cx="3566160" cy="932688"/>
          </a:xfrm>
          <a:prstGeom prst="rect">
            <a:avLst/>
          </a:prstGeom>
          <a:noFill/>
        </p:spPr>
        <p:txBody>
          <a:bodyPr wrap="square" anchor="t" lIns="0" rIns="0" tIns="0" bIns="0">
            <a:spAutoFit/>
          </a:bodyPr>
          <a:lstStyle/>
          <a:p>
            <a:pPr algn="l">
              <a:lnSpc>
                <a:spcPct val="118000"/>
              </a:lnSpc>
              <a:spcBef>
                <a:spcPts val="0"/>
              </a:spcBef>
              <a:spcAft>
                <a:spcPts val="0"/>
              </a:spcAft>
            </a:pPr>
            <a:r>
              <a:rPr sz="1200" b="0" i="0">
                <a:solidFill>
                  <a:srgbClr val="35464F"/>
                </a:solidFill>
                <a:latin typeface="Aptos"/>
                <a:cs typeface="Aptos"/>
              </a:rPr>
              <a:t>Proceed only where there is differentiated access, a compelling value thesis and the required technical, development and operating capabilities have been secured.</a:t>
            </a:r>
          </a:p>
        </p:txBody>
      </p:sp>
      <p:sp>
        <p:nvSpPr>
          <p:cNvPr id="21" name="TextBox 20"/>
          <p:cNvSpPr txBox="1"/>
          <p:nvPr/>
        </p:nvSpPr>
        <p:spPr>
          <a:xfrm>
            <a:off x="640080" y="5952744"/>
            <a:ext cx="10908792" cy="457200"/>
          </a:xfrm>
          <a:prstGeom prst="rect">
            <a:avLst/>
          </a:prstGeom>
          <a:noFill/>
        </p:spPr>
        <p:txBody>
          <a:bodyPr wrap="square" anchor="t" lIns="0" rIns="0" tIns="0" bIns="0">
            <a:spAutoFit/>
          </a:bodyPr>
          <a:lstStyle/>
          <a:p>
            <a:pPr algn="l">
              <a:lnSpc>
                <a:spcPct val="120000"/>
              </a:lnSpc>
              <a:spcBef>
                <a:spcPts val="0"/>
              </a:spcBef>
              <a:spcAft>
                <a:spcPts val="0"/>
              </a:spcAft>
            </a:pPr>
            <a:r>
              <a:rPr sz="1100" b="0" i="0">
                <a:solidFill>
                  <a:srgbClr val="35464F"/>
                </a:solidFill>
                <a:latin typeface="Aptos"/>
                <a:cs typeface="Aptos"/>
              </a:rPr>
              <a:t>These priorities guide origination and capability development for 2027. They are not fixed capital allocations and may evolve with market conditions, investor demand and demonstrated investment outcomes.</a:t>
            </a:r>
          </a:p>
        </p:txBody>
      </p:sp>
      <p:sp>
        <p:nvSpPr>
          <p:cNvPr id="22" name="TextBox 21"/>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3" name="TextBox 22"/>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13</a:t>
            </a:r>
          </a:p>
        </p:txBody>
      </p:sp>
      <p:pic>
        <p:nvPicPr>
          <p:cNvPr id="24" name="Picture 23"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14 · How Aravest creates value</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Sector selection identifies where we invest; the value-creation plan determines why.</a:t>
            </a:r>
          </a:p>
        </p:txBody>
      </p:sp>
      <p:sp>
        <p:nvSpPr>
          <p:cNvPr id="5" name="TextBox 4"/>
          <p:cNvSpPr txBox="1"/>
          <p:nvPr/>
        </p:nvSpPr>
        <p:spPr>
          <a:xfrm>
            <a:off x="932688" y="1645920"/>
            <a:ext cx="32918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VALUE-CREATION PLAYBOOK</a:t>
            </a:r>
          </a:p>
        </p:txBody>
      </p:sp>
      <p:sp>
        <p:nvSpPr>
          <p:cNvPr id="6" name="TextBox 5"/>
          <p:cNvSpPr txBox="1"/>
          <p:nvPr/>
        </p:nvSpPr>
        <p:spPr>
          <a:xfrm>
            <a:off x="4572000" y="1645920"/>
            <a:ext cx="6949440" cy="274320"/>
          </a:xfrm>
          <a:prstGeom prst="rect">
            <a:avLst/>
          </a:prstGeom>
          <a:noFill/>
        </p:spPr>
        <p:txBody>
          <a:bodyPr wrap="square" anchor="t" lIns="0" rIns="0" tIns="0" bIns="0">
            <a:spAutoFit/>
          </a:bodyPr>
          <a:lstStyle/>
          <a:p>
            <a:pPr algn="l">
              <a:spcBef>
                <a:spcPts val="0"/>
              </a:spcBef>
              <a:spcAft>
                <a:spcPts val="0"/>
              </a:spcAft>
            </a:pPr>
            <a:r>
              <a:rPr sz="950" b="1" i="0" spc="110">
                <a:solidFill>
                  <a:srgbClr val="35464F"/>
                </a:solidFill>
                <a:latin typeface="Aptos"/>
                <a:cs typeface="Aptos"/>
              </a:rPr>
              <a:t>TYPICAL APPLICATION</a:t>
            </a:r>
          </a:p>
        </p:txBody>
      </p:sp>
      <p:sp>
        <p:nvSpPr>
          <p:cNvPr id="7" name="Rectangle 6"/>
          <p:cNvSpPr/>
          <p:nvPr/>
        </p:nvSpPr>
        <p:spPr>
          <a:xfrm>
            <a:off x="640080" y="1920240"/>
            <a:ext cx="10908792"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084832"/>
            <a:ext cx="329184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Repositioning and lease-up</a:t>
            </a:r>
          </a:p>
        </p:txBody>
      </p:sp>
      <p:sp>
        <p:nvSpPr>
          <p:cNvPr id="9" name="TextBox 8"/>
          <p:cNvSpPr txBox="1"/>
          <p:nvPr/>
        </p:nvSpPr>
        <p:spPr>
          <a:xfrm>
            <a:off x="4572000" y="2093976"/>
            <a:ext cx="6949440"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Improve occupancy, tenant mix, rental performance and market positioning.</a:t>
            </a:r>
          </a:p>
        </p:txBody>
      </p:sp>
      <p:sp>
        <p:nvSpPr>
          <p:cNvPr id="10" name="Rectangle 9"/>
          <p:cNvSpPr/>
          <p:nvPr/>
        </p:nvSpPr>
        <p:spPr>
          <a:xfrm>
            <a:off x="640080" y="2528315"/>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2601467"/>
            <a:ext cx="329184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Asset enhancement and conversion</a:t>
            </a:r>
          </a:p>
        </p:txBody>
      </p:sp>
      <p:sp>
        <p:nvSpPr>
          <p:cNvPr id="12" name="TextBox 11"/>
          <p:cNvSpPr txBox="1"/>
          <p:nvPr/>
        </p:nvSpPr>
        <p:spPr>
          <a:xfrm>
            <a:off x="4572000" y="2610611"/>
            <a:ext cx="6949440"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Undertake refurbishment, AEI, change of use or physical repositioning.</a:t>
            </a:r>
          </a:p>
        </p:txBody>
      </p:sp>
      <p:sp>
        <p:nvSpPr>
          <p:cNvPr id="13" name="Rectangle 12"/>
          <p:cNvSpPr/>
          <p:nvPr/>
        </p:nvSpPr>
        <p:spPr>
          <a:xfrm>
            <a:off x="640080" y="304495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118102"/>
            <a:ext cx="329184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Development and redevelopment</a:t>
            </a:r>
          </a:p>
        </p:txBody>
      </p:sp>
      <p:sp>
        <p:nvSpPr>
          <p:cNvPr id="15" name="TextBox 14"/>
          <p:cNvSpPr txBox="1"/>
          <p:nvPr/>
        </p:nvSpPr>
        <p:spPr>
          <a:xfrm>
            <a:off x="4572000" y="3127246"/>
            <a:ext cx="6949440"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Create value through ground-up development or material redevelopment where the capability and risk controls are established.</a:t>
            </a:r>
          </a:p>
        </p:txBody>
      </p:sp>
      <p:sp>
        <p:nvSpPr>
          <p:cNvPr id="16" name="Rectangle 15"/>
          <p:cNvSpPr/>
          <p:nvPr/>
        </p:nvSpPr>
        <p:spPr>
          <a:xfrm>
            <a:off x="640080" y="3561585"/>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 y="3634737"/>
            <a:ext cx="329184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Operational improvement</a:t>
            </a:r>
          </a:p>
        </p:txBody>
      </p:sp>
      <p:sp>
        <p:nvSpPr>
          <p:cNvPr id="18" name="TextBox 17"/>
          <p:cNvSpPr txBox="1"/>
          <p:nvPr/>
        </p:nvSpPr>
        <p:spPr>
          <a:xfrm>
            <a:off x="4572000" y="3643881"/>
            <a:ext cx="6949440"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Improve performance through stronger management, branding, service delivery or specialist operating partners.</a:t>
            </a:r>
          </a:p>
        </p:txBody>
      </p:sp>
      <p:sp>
        <p:nvSpPr>
          <p:cNvPr id="19" name="Rectangle 18"/>
          <p:cNvSpPr/>
          <p:nvPr/>
        </p:nvSpPr>
        <p:spPr>
          <a:xfrm>
            <a:off x="640080" y="4078220"/>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4151372"/>
            <a:ext cx="329184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Market or capital dislocation</a:t>
            </a:r>
          </a:p>
        </p:txBody>
      </p:sp>
      <p:sp>
        <p:nvSpPr>
          <p:cNvPr id="21" name="TextBox 20"/>
          <p:cNvSpPr txBox="1"/>
          <p:nvPr/>
        </p:nvSpPr>
        <p:spPr>
          <a:xfrm>
            <a:off x="4572000" y="4160516"/>
            <a:ext cx="6949440"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Invest where pricing, ownership constraints, refinancing pressure or capital scarcity create an attractive entry point.</a:t>
            </a:r>
          </a:p>
        </p:txBody>
      </p:sp>
      <p:sp>
        <p:nvSpPr>
          <p:cNvPr id="22" name="Rectangle 21"/>
          <p:cNvSpPr/>
          <p:nvPr/>
        </p:nvSpPr>
        <p:spPr>
          <a:xfrm>
            <a:off x="640080" y="4594855"/>
            <a:ext cx="10908792" cy="9525"/>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4668007"/>
            <a:ext cx="3291840" cy="502920"/>
          </a:xfrm>
          <a:prstGeom prst="rect">
            <a:avLst/>
          </a:prstGeom>
          <a:noFill/>
        </p:spPr>
        <p:txBody>
          <a:bodyPr wrap="square" anchor="t" lIns="0" rIns="0" tIns="0" bIns="0">
            <a:spAutoFit/>
          </a:bodyPr>
          <a:lstStyle/>
          <a:p>
            <a:pPr algn="l">
              <a:lnSpc>
                <a:spcPct val="108000"/>
              </a:lnSpc>
              <a:spcBef>
                <a:spcPts val="0"/>
              </a:spcBef>
              <a:spcAft>
                <a:spcPts val="0"/>
              </a:spcAft>
            </a:pPr>
            <a:r>
              <a:rPr sz="1250" b="0" i="0">
                <a:solidFill>
                  <a:srgbClr val="002B5C"/>
                </a:solidFill>
                <a:latin typeface="Aptos Display"/>
                <a:cs typeface="Aptos Display"/>
              </a:rPr>
              <a:t>Aggregation and portfolio formation</a:t>
            </a:r>
          </a:p>
        </p:txBody>
      </p:sp>
      <p:sp>
        <p:nvSpPr>
          <p:cNvPr id="24" name="TextBox 23"/>
          <p:cNvSpPr txBox="1"/>
          <p:nvPr/>
        </p:nvSpPr>
        <p:spPr>
          <a:xfrm>
            <a:off x="4572000" y="4677151"/>
            <a:ext cx="6949440" cy="502920"/>
          </a:xfrm>
          <a:prstGeom prst="rect">
            <a:avLst/>
          </a:prstGeom>
          <a:noFill/>
        </p:spPr>
        <p:txBody>
          <a:bodyPr wrap="square" anchor="t" lIns="0" rIns="0" tIns="0" bIns="0">
            <a:spAutoFit/>
          </a:bodyPr>
          <a:lstStyle/>
          <a:p>
            <a:pPr algn="l">
              <a:lnSpc>
                <a:spcPct val="115000"/>
              </a:lnSpc>
              <a:spcBef>
                <a:spcPts val="0"/>
              </a:spcBef>
              <a:spcAft>
                <a:spcPts val="0"/>
              </a:spcAft>
            </a:pPr>
            <a:r>
              <a:rPr sz="1200" b="0" i="0">
                <a:solidFill>
                  <a:srgbClr val="35464F"/>
                </a:solidFill>
                <a:latin typeface="Aptos"/>
                <a:cs typeface="Aptos"/>
              </a:rPr>
              <a:t>Combine related investments into portfolios or repeatable strategies capable of attracting institutional capital.</a:t>
            </a:r>
          </a:p>
        </p:txBody>
      </p:sp>
      <p:sp>
        <p:nvSpPr>
          <p:cNvPr id="25" name="Rectangle 24"/>
          <p:cNvSpPr/>
          <p:nvPr/>
        </p:nvSpPr>
        <p:spPr>
          <a:xfrm>
            <a:off x="640080" y="5111490"/>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0080" y="5239506"/>
            <a:ext cx="10908792" cy="859536"/>
          </a:xfrm>
          <a:prstGeom prst="roundRect">
            <a:avLst>
              <a:gd name="adj" fmla="val 9574"/>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6112" y="5340090"/>
            <a:ext cx="10396728" cy="685800"/>
          </a:xfrm>
          <a:prstGeom prst="rect">
            <a:avLst/>
          </a:prstGeom>
          <a:noFill/>
        </p:spPr>
        <p:txBody>
          <a:bodyPr wrap="square" anchor="t" lIns="0" rIns="0" tIns="0" bIns="0">
            <a:spAutoFit/>
          </a:bodyPr>
          <a:lstStyle/>
          <a:p>
            <a:pPr algn="l">
              <a:spcBef>
                <a:spcPts val="0"/>
              </a:spcBef>
              <a:spcAft>
                <a:spcPts val="400"/>
              </a:spcAft>
            </a:pPr>
            <a:r>
              <a:rPr sz="900" b="1" i="0" spc="120">
                <a:solidFill>
                  <a:srgbClr val="D5DDE6"/>
                </a:solidFill>
                <a:latin typeface="Aptos"/>
                <a:cs typeface="Aptos"/>
              </a:rPr>
              <a:t>CAPABILITY COVERAGE IS AN INVESTMENT GATE</a:t>
            </a:r>
          </a:p>
          <a:p>
            <a:pPr algn="l">
              <a:lnSpc>
                <a:spcPct val="120000"/>
              </a:lnSpc>
              <a:spcBef>
                <a:spcPts val="0"/>
              </a:spcBef>
              <a:spcAft>
                <a:spcPts val="0"/>
              </a:spcAft>
            </a:pPr>
            <a:r>
              <a:rPr sz="1200" b="0" i="0">
                <a:solidFill>
                  <a:srgbClr val="FFFFFF"/>
                </a:solidFill>
                <a:latin typeface="Aptos"/>
                <a:cs typeface="Aptos"/>
              </a:rPr>
              <a:t>Aravest will proceed only where all capabilities required for origination, underwriting, financing, development, operations, asset management and realisation are covered internally or through secured partners.</a:t>
            </a:r>
          </a:p>
        </p:txBody>
      </p:sp>
      <p:sp>
        <p:nvSpPr>
          <p:cNvPr id="28" name="TextBox 2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9" name="TextBox 2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14</a:t>
            </a:r>
          </a:p>
        </p:txBody>
      </p:sp>
      <p:pic>
        <p:nvPicPr>
          <p:cNvPr id="30" name="Picture 29"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38912"/>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15 · Institutional structuring standard</a:t>
            </a:r>
          </a:p>
        </p:txBody>
      </p:sp>
      <p:sp>
        <p:nvSpPr>
          <p:cNvPr id="4" name="TextBox 3"/>
          <p:cNvSpPr txBox="1"/>
          <p:nvPr/>
        </p:nvSpPr>
        <p:spPr>
          <a:xfrm>
            <a:off x="640080" y="731520"/>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Every fund and investment must be structured to standards acceptable to institutional investors.</a:t>
            </a:r>
          </a:p>
        </p:txBody>
      </p:sp>
      <p:sp>
        <p:nvSpPr>
          <p:cNvPr id="5" name="Rounded Rectangle 4"/>
          <p:cNvSpPr/>
          <p:nvPr/>
        </p:nvSpPr>
        <p:spPr>
          <a:xfrm>
            <a:off x="640080" y="1783080"/>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783080"/>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Institutional investors and approved co-investors</a:t>
            </a:r>
          </a:p>
        </p:txBody>
      </p:sp>
      <p:sp>
        <p:nvSpPr>
          <p:cNvPr id="7" name="TextBox 6"/>
          <p:cNvSpPr txBox="1"/>
          <p:nvPr/>
        </p:nvSpPr>
        <p:spPr>
          <a:xfrm>
            <a:off x="3035808" y="2057400"/>
            <a:ext cx="441960"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8" name="Rounded Rectangle 7"/>
          <p:cNvSpPr/>
          <p:nvPr/>
        </p:nvSpPr>
        <p:spPr>
          <a:xfrm>
            <a:off x="3477768" y="1783080"/>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5784" y="1783080"/>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Fund vehicle</a:t>
            </a:r>
          </a:p>
        </p:txBody>
      </p:sp>
      <p:sp>
        <p:nvSpPr>
          <p:cNvPr id="10" name="TextBox 9"/>
          <p:cNvSpPr txBox="1"/>
          <p:nvPr/>
        </p:nvSpPr>
        <p:spPr>
          <a:xfrm>
            <a:off x="5873496" y="2057400"/>
            <a:ext cx="441960"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1" name="Rounded Rectangle 10"/>
          <p:cNvSpPr/>
          <p:nvPr/>
        </p:nvSpPr>
        <p:spPr>
          <a:xfrm>
            <a:off x="6315456" y="1783080"/>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3472" y="1783080"/>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Investment SPV / borrower</a:t>
            </a:r>
          </a:p>
        </p:txBody>
      </p:sp>
      <p:sp>
        <p:nvSpPr>
          <p:cNvPr id="13" name="TextBox 12"/>
          <p:cNvSpPr txBox="1"/>
          <p:nvPr/>
        </p:nvSpPr>
        <p:spPr>
          <a:xfrm>
            <a:off x="8711184" y="2057400"/>
            <a:ext cx="441960" cy="365760"/>
          </a:xfrm>
          <a:prstGeom prst="rect">
            <a:avLst/>
          </a:prstGeom>
          <a:noFill/>
        </p:spPr>
        <p:txBody>
          <a:bodyPr wrap="square" anchor="ctr" lIns="0" rIns="0" tIns="0" bIns="0">
            <a:spAutoFit/>
          </a:bodyPr>
          <a:lstStyle/>
          <a:p>
            <a:pPr algn="ctr">
              <a:spcBef>
                <a:spcPts val="0"/>
              </a:spcBef>
              <a:spcAft>
                <a:spcPts val="0"/>
              </a:spcAft>
            </a:pPr>
            <a:r>
              <a:rPr sz="1500" b="0" i="0">
                <a:solidFill>
                  <a:srgbClr val="35464F"/>
                </a:solidFill>
                <a:latin typeface="Aptos"/>
                <a:cs typeface="Aptos"/>
              </a:rPr>
              <a:t>→</a:t>
            </a:r>
          </a:p>
        </p:txBody>
      </p:sp>
      <p:sp>
        <p:nvSpPr>
          <p:cNvPr id="14" name="Rounded Rectangle 13"/>
          <p:cNvSpPr/>
          <p:nvPr/>
        </p:nvSpPr>
        <p:spPr>
          <a:xfrm>
            <a:off x="9153144" y="1783080"/>
            <a:ext cx="2395728" cy="932688"/>
          </a:xfrm>
          <a:prstGeom prst="roundRect">
            <a:avLst>
              <a:gd name="adj" fmla="val 8823"/>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783080"/>
            <a:ext cx="2139696" cy="932688"/>
          </a:xfrm>
          <a:prstGeom prst="rect">
            <a:avLst/>
          </a:prstGeom>
          <a:noFill/>
        </p:spPr>
        <p:txBody>
          <a:bodyPr wrap="square" anchor="ctr" lIns="0" rIns="0" tIns="0" bIns="0">
            <a:spAutoFit/>
          </a:bodyPr>
          <a:lstStyle/>
          <a:p>
            <a:pPr algn="ctr">
              <a:lnSpc>
                <a:spcPct val="110000"/>
              </a:lnSpc>
              <a:spcBef>
                <a:spcPts val="0"/>
              </a:spcBef>
              <a:spcAft>
                <a:spcPts val="0"/>
              </a:spcAft>
            </a:pPr>
            <a:r>
              <a:rPr sz="1250" b="0" i="0">
                <a:solidFill>
                  <a:srgbClr val="002B5C"/>
                </a:solidFill>
                <a:latin typeface="Aptos Display"/>
                <a:cs typeface="Aptos Display"/>
              </a:rPr>
              <a:t>Underlying asset</a:t>
            </a:r>
          </a:p>
        </p:txBody>
      </p:sp>
      <p:sp>
        <p:nvSpPr>
          <p:cNvPr id="16" name="Rounded Rectangle 15"/>
          <p:cNvSpPr/>
          <p:nvPr/>
        </p:nvSpPr>
        <p:spPr>
          <a:xfrm>
            <a:off x="640080" y="3017520"/>
            <a:ext cx="10908792" cy="786384"/>
          </a:xfrm>
          <a:prstGeom prst="roundRect">
            <a:avLst>
              <a:gd name="adj" fmla="val 10465"/>
            </a:avLst>
          </a:prstGeom>
          <a:solidFill>
            <a:srgbClr val="F6F7F7"/>
          </a:solidFill>
          <a:ln w="9525">
            <a:solidFill>
              <a:srgbClr val="CCD1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3017520"/>
            <a:ext cx="10433304" cy="786384"/>
          </a:xfrm>
          <a:prstGeom prst="rect">
            <a:avLst/>
          </a:prstGeom>
          <a:noFill/>
        </p:spPr>
        <p:txBody>
          <a:bodyPr wrap="square" anchor="ctr" lIns="0" rIns="0" tIns="0" bIns="0">
            <a:spAutoFit/>
          </a:bodyPr>
          <a:lstStyle/>
          <a:p>
            <a:pPr algn="l">
              <a:spcBef>
                <a:spcPts val="0"/>
              </a:spcBef>
              <a:spcAft>
                <a:spcPts val="400"/>
              </a:spcAft>
            </a:pPr>
            <a:r>
              <a:rPr sz="900" b="1" i="0" spc="100">
                <a:solidFill>
                  <a:srgbClr val="002B5C"/>
                </a:solidFill>
                <a:latin typeface="Aptos"/>
                <a:cs typeface="Aptos"/>
              </a:rPr>
              <a:t>RISK AND LIABILITIES ARE GENERALLY RING-FENCED</a:t>
            </a:r>
          </a:p>
          <a:p>
            <a:pPr algn="l">
              <a:lnSpc>
                <a:spcPct val="120000"/>
              </a:lnSpc>
              <a:spcBef>
                <a:spcPts val="0"/>
              </a:spcBef>
              <a:spcAft>
                <a:spcPts val="0"/>
              </a:spcAft>
            </a:pPr>
            <a:r>
              <a:rPr sz="1250" b="0" i="0">
                <a:solidFill>
                  <a:srgbClr val="35464F"/>
                </a:solidFill>
                <a:latin typeface="Aptos"/>
                <a:cs typeface="Aptos"/>
              </a:rPr>
              <a:t>Risk and liabilities are generally contained within the relevant fund and asset-level structure; financing should generally have recourse only to the relevant borrower, secured assets and expressly agreed credit support.</a:t>
            </a:r>
          </a:p>
        </p:txBody>
      </p:sp>
      <p:sp>
        <p:nvSpPr>
          <p:cNvPr id="18" name="Rounded Rectangle 17"/>
          <p:cNvSpPr/>
          <p:nvPr/>
        </p:nvSpPr>
        <p:spPr>
          <a:xfrm>
            <a:off x="640080" y="4041648"/>
            <a:ext cx="3520440" cy="786384"/>
          </a:xfrm>
          <a:prstGeom prst="roundRect">
            <a:avLst>
              <a:gd name="adj" fmla="val 10465"/>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041648"/>
            <a:ext cx="3154680" cy="786384"/>
          </a:xfrm>
          <a:prstGeom prst="rect">
            <a:avLst/>
          </a:prstGeom>
          <a:noFill/>
        </p:spPr>
        <p:txBody>
          <a:bodyPr wrap="square" anchor="ctr" lIns="0" rIns="0" tIns="0" bIns="0">
            <a:spAutoFit/>
          </a:bodyPr>
          <a:lstStyle/>
          <a:p>
            <a:pPr algn="ctr">
              <a:lnSpc>
                <a:spcPct val="115000"/>
              </a:lnSpc>
              <a:spcBef>
                <a:spcPts val="0"/>
              </a:spcBef>
              <a:spcAft>
                <a:spcPts val="0"/>
              </a:spcAft>
            </a:pPr>
            <a:r>
              <a:rPr sz="1250" b="0" i="0">
                <a:solidFill>
                  <a:srgbClr val="FFFFFF"/>
                </a:solidFill>
                <a:latin typeface="Aptos"/>
                <a:cs typeface="Aptos"/>
              </a:rPr>
              <a:t>Committed capital is exposed to investment performance</a:t>
            </a:r>
          </a:p>
        </p:txBody>
      </p:sp>
      <p:sp>
        <p:nvSpPr>
          <p:cNvPr id="20" name="Rounded Rectangle 19"/>
          <p:cNvSpPr/>
          <p:nvPr/>
        </p:nvSpPr>
        <p:spPr>
          <a:xfrm>
            <a:off x="4334256" y="4041648"/>
            <a:ext cx="3520440" cy="786384"/>
          </a:xfrm>
          <a:prstGeom prst="roundRect">
            <a:avLst>
              <a:gd name="adj" fmla="val 10465"/>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7136" y="4041648"/>
            <a:ext cx="3154680" cy="786384"/>
          </a:xfrm>
          <a:prstGeom prst="rect">
            <a:avLst/>
          </a:prstGeom>
          <a:noFill/>
        </p:spPr>
        <p:txBody>
          <a:bodyPr wrap="square" anchor="ctr" lIns="0" rIns="0" tIns="0" bIns="0">
            <a:spAutoFit/>
          </a:bodyPr>
          <a:lstStyle/>
          <a:p>
            <a:pPr algn="ctr">
              <a:lnSpc>
                <a:spcPct val="115000"/>
              </a:lnSpc>
              <a:spcBef>
                <a:spcPts val="0"/>
              </a:spcBef>
              <a:spcAft>
                <a:spcPts val="0"/>
              </a:spcAft>
            </a:pPr>
            <a:r>
              <a:rPr sz="1250" b="0" i="0">
                <a:solidFill>
                  <a:srgbClr val="FFFFFF"/>
                </a:solidFill>
                <a:latin typeface="Aptos"/>
                <a:cs typeface="Aptos"/>
              </a:rPr>
              <a:t>Wider fund and asset liabilities are ring-fenced</a:t>
            </a:r>
          </a:p>
        </p:txBody>
      </p:sp>
      <p:sp>
        <p:nvSpPr>
          <p:cNvPr id="22" name="Rounded Rectangle 21"/>
          <p:cNvSpPr/>
          <p:nvPr/>
        </p:nvSpPr>
        <p:spPr>
          <a:xfrm>
            <a:off x="8028432" y="4041648"/>
            <a:ext cx="3520440" cy="786384"/>
          </a:xfrm>
          <a:prstGeom prst="roundRect">
            <a:avLst>
              <a:gd name="adj" fmla="val 10465"/>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4041648"/>
            <a:ext cx="3154680" cy="786384"/>
          </a:xfrm>
          <a:prstGeom prst="rect">
            <a:avLst/>
          </a:prstGeom>
          <a:noFill/>
        </p:spPr>
        <p:txBody>
          <a:bodyPr wrap="square" anchor="ctr" lIns="0" rIns="0" tIns="0" bIns="0">
            <a:spAutoFit/>
          </a:bodyPr>
          <a:lstStyle/>
          <a:p>
            <a:pPr algn="ctr">
              <a:lnSpc>
                <a:spcPct val="115000"/>
              </a:lnSpc>
              <a:spcBef>
                <a:spcPts val="0"/>
              </a:spcBef>
              <a:spcAft>
                <a:spcPts val="0"/>
              </a:spcAft>
            </a:pPr>
            <a:r>
              <a:rPr sz="1250" b="0" i="0">
                <a:solidFill>
                  <a:srgbClr val="FFFFFF"/>
                </a:solidFill>
                <a:latin typeface="Aptos"/>
                <a:cs typeface="Aptos"/>
              </a:rPr>
              <a:t>Manager or shareholder recourse is not automatic</a:t>
            </a:r>
          </a:p>
        </p:txBody>
      </p:sp>
      <p:sp>
        <p:nvSpPr>
          <p:cNvPr id="24" name="TextBox 23"/>
          <p:cNvSpPr txBox="1"/>
          <p:nvPr/>
        </p:nvSpPr>
        <p:spPr>
          <a:xfrm>
            <a:off x="640080" y="5047488"/>
            <a:ext cx="10908792" cy="777240"/>
          </a:xfrm>
          <a:prstGeom prst="rect">
            <a:avLst/>
          </a:prstGeom>
          <a:noFill/>
        </p:spPr>
        <p:txBody>
          <a:bodyPr wrap="square" anchor="t" lIns="0" rIns="0" tIns="0" bIns="0">
            <a:spAutoFit/>
          </a:bodyPr>
          <a:lstStyle/>
          <a:p>
            <a:pPr>
              <a:lnSpc>
                <a:spcPct val="124000"/>
              </a:lnSpc>
              <a:spcAft>
                <a:spcPts val="0"/>
              </a:spcAft>
            </a:pPr>
            <a:r>
              <a:rPr sz="1250" b="1" i="0">
                <a:solidFill>
                  <a:srgbClr val="002B5C"/>
                </a:solidFill>
                <a:latin typeface="Aptos"/>
                <a:cs typeface="Aptos"/>
              </a:rPr>
              <a:t>Exceptions must be explicit and separately approved.  </a:t>
            </a:r>
            <a:r>
              <a:rPr sz="1250" b="0" i="0">
                <a:solidFill>
                  <a:srgbClr val="35464F"/>
                </a:solidFill>
                <a:latin typeface="Aptos"/>
                <a:cs typeface="Aptos"/>
              </a:rPr>
              <a:t>Any guarantee, keepwell, completion support, cost-overrun undertaking, indemnity or other manager- or shareholder-level obligation must be specifically identified, assessed, quantified and expressly approved through the applicable governance process.</a:t>
            </a:r>
          </a:p>
        </p:txBody>
      </p:sp>
      <p:sp>
        <p:nvSpPr>
          <p:cNvPr id="25" name="TextBox 24"/>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26" name="TextBox 25"/>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15</a:t>
            </a:r>
          </a:p>
        </p:txBody>
      </p:sp>
      <p:pic>
        <p:nvPicPr>
          <p:cNvPr id="27" name="Picture 26"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84632"/>
            <a:ext cx="100584" cy="100584"/>
          </a:xfrm>
          <a:prstGeom prst="rect">
            <a:avLst/>
          </a:prstGeom>
          <a:solidFill>
            <a:srgbClr val="C8A9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59536" y="438912"/>
            <a:ext cx="82296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002B5C"/>
                </a:solidFill>
                <a:latin typeface="Aptos"/>
                <a:cs typeface="Aptos"/>
              </a:rPr>
              <a:t>For decision</a:t>
            </a:r>
          </a:p>
        </p:txBody>
      </p:sp>
      <p:sp>
        <p:nvSpPr>
          <p:cNvPr id="5" name="TextBox 4"/>
          <p:cNvSpPr txBox="1"/>
          <p:nvPr/>
        </p:nvSpPr>
        <p:spPr>
          <a:xfrm>
            <a:off x="640080" y="749808"/>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002B5C"/>
                </a:solidFill>
                <a:latin typeface="Aptos Display"/>
                <a:cs typeface="Aptos Display"/>
              </a:rPr>
              <a:t>The Board is asked to endorse the two-pathway strategy and the basis on which capital is committed.</a:t>
            </a:r>
          </a:p>
        </p:txBody>
      </p:sp>
      <p:sp>
        <p:nvSpPr>
          <p:cNvPr id="6" name="Rounded Rectangle 5"/>
          <p:cNvSpPr/>
          <p:nvPr/>
        </p:nvSpPr>
        <p:spPr>
          <a:xfrm>
            <a:off x="640080" y="18470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842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01   </a:t>
            </a:r>
            <a:r>
              <a:rPr sz="1500" b="0" i="0" spc="100">
                <a:solidFill>
                  <a:srgbClr val="002147"/>
                </a:solidFill>
                <a:latin typeface="Aptos Display"/>
                <a:cs typeface="Aptos Display"/>
              </a:rPr>
              <a:t>ENDORSE</a:t>
            </a:r>
          </a:p>
          <a:p>
            <a:pPr algn="l">
              <a:lnSpc>
                <a:spcPct val="116000"/>
              </a:lnSpc>
              <a:spcBef>
                <a:spcPts val="0"/>
              </a:spcBef>
              <a:spcAft>
                <a:spcPts val="0"/>
              </a:spcAft>
            </a:pPr>
            <a:r>
              <a:rPr sz="1300" b="0" i="0">
                <a:solidFill>
                  <a:srgbClr val="35464F"/>
                </a:solidFill>
                <a:latin typeface="Aptos"/>
                <a:cs typeface="Aptos"/>
              </a:rPr>
              <a:t>the two parallel pathways as the basis for building the Aravest platform — diversified track-record building alongside selective institutional-scale opportunities.</a:t>
            </a:r>
          </a:p>
        </p:txBody>
      </p:sp>
      <p:sp>
        <p:nvSpPr>
          <p:cNvPr id="8" name="Rounded Rectangle 7"/>
          <p:cNvSpPr/>
          <p:nvPr/>
        </p:nvSpPr>
        <p:spPr>
          <a:xfrm>
            <a:off x="6190488" y="18470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9944" y="19842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02   </a:t>
            </a:r>
            <a:r>
              <a:rPr sz="1500" b="0" i="0" spc="100">
                <a:solidFill>
                  <a:srgbClr val="002147"/>
                </a:solidFill>
                <a:latin typeface="Aptos Display"/>
                <a:cs typeface="Aptos Display"/>
              </a:rPr>
              <a:t>SUPPORT</a:t>
            </a:r>
          </a:p>
          <a:p>
            <a:pPr algn="l">
              <a:lnSpc>
                <a:spcPct val="116000"/>
              </a:lnSpc>
              <a:spcBef>
                <a:spcPts val="0"/>
              </a:spcBef>
              <a:spcAft>
                <a:spcPts val="0"/>
              </a:spcAft>
            </a:pPr>
            <a:r>
              <a:rPr sz="1300" b="0" i="0">
                <a:solidFill>
                  <a:srgbClr val="35464F"/>
                </a:solidFill>
                <a:latin typeface="Aptos"/>
                <a:cs typeface="Aptos"/>
              </a:rPr>
              <a:t>deployment of the existing US$300 million across Pathway 1 to build multiple proof points and diversify risk.</a:t>
            </a:r>
          </a:p>
        </p:txBody>
      </p:sp>
      <p:sp>
        <p:nvSpPr>
          <p:cNvPr id="10" name="Rounded Rectangle 9"/>
          <p:cNvSpPr/>
          <p:nvPr/>
        </p:nvSpPr>
        <p:spPr>
          <a:xfrm>
            <a:off x="640080" y="32186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3558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03   </a:t>
            </a:r>
            <a:r>
              <a:rPr sz="1500" b="0" i="0" spc="100">
                <a:solidFill>
                  <a:srgbClr val="002147"/>
                </a:solidFill>
                <a:latin typeface="Aptos Display"/>
                <a:cs typeface="Aptos Display"/>
              </a:rPr>
              <a:t>ENDORSE</a:t>
            </a:r>
          </a:p>
          <a:p>
            <a:pPr algn="l">
              <a:lnSpc>
                <a:spcPct val="116000"/>
              </a:lnSpc>
              <a:spcBef>
                <a:spcPts val="0"/>
              </a:spcBef>
              <a:spcAft>
                <a:spcPts val="0"/>
              </a:spcAft>
            </a:pPr>
            <a:r>
              <a:rPr sz="1300" b="0" i="0">
                <a:solidFill>
                  <a:srgbClr val="35464F"/>
                </a:solidFill>
                <a:latin typeface="Aptos"/>
                <a:cs typeface="Aptos"/>
              </a:rPr>
              <a:t>warehousing as an execution enabler, bridging the timing gap between securing a transaction and forming third-party capital.</a:t>
            </a:r>
          </a:p>
        </p:txBody>
      </p:sp>
      <p:sp>
        <p:nvSpPr>
          <p:cNvPr id="12" name="Rounded Rectangle 11"/>
          <p:cNvSpPr/>
          <p:nvPr/>
        </p:nvSpPr>
        <p:spPr>
          <a:xfrm>
            <a:off x="6190488" y="3218688"/>
            <a:ext cx="5358384" cy="1225296"/>
          </a:xfrm>
          <a:prstGeom prst="roundRect">
            <a:avLst>
              <a:gd name="adj" fmla="val 6716"/>
            </a:avLst>
          </a:prstGeom>
          <a:solidFill>
            <a:srgbClr val="FFFFFF"/>
          </a:solidFill>
          <a:ln w="9525">
            <a:solidFill>
              <a:srgbClr val="CCD1D3"/>
            </a:solid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3355848"/>
            <a:ext cx="4919472" cy="950976"/>
          </a:xfrm>
          <a:prstGeom prst="rect">
            <a:avLst/>
          </a:prstGeom>
          <a:noFill/>
        </p:spPr>
        <p:txBody>
          <a:bodyPr wrap="square" anchor="t" lIns="0" rIns="0" tIns="0" bIns="0">
            <a:spAutoFit/>
          </a:bodyPr>
          <a:lstStyle/>
          <a:p>
            <a:pPr>
              <a:spcAft>
                <a:spcPts val="400"/>
              </a:spcAft>
            </a:pPr>
            <a:r>
              <a:rPr sz="1100" b="1" i="0" spc="100">
                <a:solidFill>
                  <a:srgbClr val="869397"/>
                </a:solidFill>
                <a:latin typeface="Aptos"/>
                <a:cs typeface="Aptos"/>
              </a:rPr>
              <a:t>04   </a:t>
            </a:r>
            <a:r>
              <a:rPr sz="1500" b="0" i="0" spc="100">
                <a:solidFill>
                  <a:srgbClr val="002147"/>
                </a:solidFill>
                <a:latin typeface="Aptos Display"/>
                <a:cs typeface="Aptos Display"/>
              </a:rPr>
              <a:t>AGREE</a:t>
            </a:r>
          </a:p>
          <a:p>
            <a:pPr algn="l">
              <a:lnSpc>
                <a:spcPct val="116000"/>
              </a:lnSpc>
              <a:spcBef>
                <a:spcPts val="0"/>
              </a:spcBef>
              <a:spcAft>
                <a:spcPts val="0"/>
              </a:spcAft>
            </a:pPr>
            <a:r>
              <a:rPr sz="1300" b="0" i="0">
                <a:solidFill>
                  <a:srgbClr val="35464F"/>
                </a:solidFill>
                <a:latin typeface="Aptos"/>
                <a:cs typeface="Aptos"/>
              </a:rPr>
              <a:t>that each Institutional-Scale Opportunity is brought to the Board separately — with its investment merits, capital requirement and risk profile — for decision case-by-case.</a:t>
            </a:r>
          </a:p>
        </p:txBody>
      </p:sp>
      <p:sp>
        <p:nvSpPr>
          <p:cNvPr id="14" name="Rounded Rectangle 13"/>
          <p:cNvSpPr/>
          <p:nvPr/>
        </p:nvSpPr>
        <p:spPr>
          <a:xfrm>
            <a:off x="640080" y="4663440"/>
            <a:ext cx="10908792" cy="969264"/>
          </a:xfrm>
          <a:prstGeom prst="roundRect">
            <a:avLst>
              <a:gd name="adj" fmla="val 8490"/>
            </a:avLst>
          </a:prstGeom>
          <a:solidFill>
            <a:srgbClr val="002147"/>
          </a:solidFill>
          <a:ln>
            <a:noFill/>
          </a:ln>
          <a:effectLst>
            <a:outerShdw blurRad="63500" dist="25400" dir="5400000" rotWithShape="0">
              <a:srgbClr val="002147">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782312"/>
            <a:ext cx="10396728" cy="777240"/>
          </a:xfrm>
          <a:prstGeom prst="rect">
            <a:avLst/>
          </a:prstGeom>
          <a:noFill/>
        </p:spPr>
        <p:txBody>
          <a:bodyPr wrap="square" anchor="t" lIns="0" rIns="0" tIns="0" bIns="0">
            <a:spAutoFit/>
          </a:bodyPr>
          <a:lstStyle/>
          <a:p>
            <a:pPr algn="l">
              <a:spcBef>
                <a:spcPts val="0"/>
              </a:spcBef>
              <a:spcAft>
                <a:spcPts val="500"/>
              </a:spcAft>
            </a:pPr>
            <a:r>
              <a:rPr sz="900" b="1" i="0" spc="120">
                <a:solidFill>
                  <a:srgbClr val="D5DDE6"/>
                </a:solidFill>
                <a:latin typeface="Aptos"/>
                <a:cs typeface="Aptos"/>
              </a:rPr>
              <a:t>GOVERNING PRINCIPLE</a:t>
            </a:r>
          </a:p>
          <a:p>
            <a:pPr algn="l">
              <a:lnSpc>
                <a:spcPct val="122000"/>
              </a:lnSpc>
              <a:spcBef>
                <a:spcPts val="0"/>
              </a:spcBef>
              <a:spcAft>
                <a:spcPts val="0"/>
              </a:spcAft>
            </a:pPr>
            <a:r>
              <a:rPr sz="1300" b="0" i="0">
                <a:solidFill>
                  <a:srgbClr val="FFFFFF"/>
                </a:solidFill>
                <a:latin typeface="Aptos"/>
                <a:cs typeface="Aptos"/>
              </a:rPr>
              <a:t>Committed equity is exposed to investment performance; wider fund and asset liabilities are generally ring-fenced, with no automatic recourse to Aravest as manager or SMFL as shareholder. Any exception must be explicit and separately approved.</a:t>
            </a:r>
          </a:p>
        </p:txBody>
      </p:sp>
      <p:sp>
        <p:nvSpPr>
          <p:cNvPr id="16" name="TextBox 15"/>
          <p:cNvSpPr txBox="1"/>
          <p:nvPr/>
        </p:nvSpPr>
        <p:spPr>
          <a:xfrm>
            <a:off x="640080" y="5852160"/>
            <a:ext cx="10908792" cy="274320"/>
          </a:xfrm>
          <a:prstGeom prst="rect">
            <a:avLst/>
          </a:prstGeom>
          <a:noFill/>
        </p:spPr>
        <p:txBody>
          <a:bodyPr wrap="square" anchor="t" lIns="0" rIns="0" tIns="0" bIns="0">
            <a:spAutoFit/>
          </a:bodyPr>
          <a:lstStyle/>
          <a:p>
            <a:pPr algn="l">
              <a:spcBef>
                <a:spcPts val="0"/>
              </a:spcBef>
              <a:spcAft>
                <a:spcPts val="0"/>
              </a:spcAft>
            </a:pPr>
            <a:r>
              <a:rPr sz="850" b="0" i="1">
                <a:solidFill>
                  <a:srgbClr val="869397"/>
                </a:solidFill>
                <a:latin typeface="Aptos"/>
                <a:cs typeface="Aptos"/>
              </a:rPr>
              <a:t>Formal resolutions to be confirmed by management and the company secretary; this slide reflects the locked Board Strategy Narrative v8 and does not itself constitute a resolution.</a:t>
            </a:r>
          </a:p>
        </p:txBody>
      </p:sp>
      <p:sp>
        <p:nvSpPr>
          <p:cNvPr id="17" name="TextBox 1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18" name="TextBox 1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16</a:t>
            </a:r>
          </a:p>
        </p:txBody>
      </p:sp>
      <p:pic>
        <p:nvPicPr>
          <p:cNvPr id="19" name="Picture 1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75488"/>
            <a:ext cx="82296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D5DDE6"/>
                </a:solidFill>
                <a:latin typeface="Aptos"/>
                <a:cs typeface="Aptos"/>
              </a:rPr>
              <a:t>16 · The v8 proposition</a:t>
            </a:r>
          </a:p>
        </p:txBody>
      </p:sp>
      <p:sp>
        <p:nvSpPr>
          <p:cNvPr id="4" name="TextBox 3"/>
          <p:cNvSpPr txBox="1"/>
          <p:nvPr/>
        </p:nvSpPr>
        <p:spPr>
          <a:xfrm>
            <a:off x="640080" y="786384"/>
            <a:ext cx="10881360" cy="914400"/>
          </a:xfrm>
          <a:prstGeom prst="rect">
            <a:avLst/>
          </a:prstGeom>
          <a:noFill/>
        </p:spPr>
        <p:txBody>
          <a:bodyPr wrap="square" anchor="t" lIns="0" rIns="0" tIns="0" bIns="0">
            <a:spAutoFit/>
          </a:bodyPr>
          <a:lstStyle/>
          <a:p>
            <a:pPr algn="l">
              <a:lnSpc>
                <a:spcPct val="104000"/>
              </a:lnSpc>
              <a:spcBef>
                <a:spcPts val="0"/>
              </a:spcBef>
              <a:spcAft>
                <a:spcPts val="0"/>
              </a:spcAft>
            </a:pPr>
            <a:r>
              <a:rPr sz="2400" b="0" i="0">
                <a:solidFill>
                  <a:srgbClr val="FFFFFF"/>
                </a:solidFill>
                <a:latin typeface="Aptos Display"/>
                <a:cs typeface="Aptos Display"/>
              </a:rPr>
              <a:t>One coherent proposition for Aravest's next phase.</a:t>
            </a:r>
          </a:p>
        </p:txBody>
      </p:sp>
      <p:sp>
        <p:nvSpPr>
          <p:cNvPr id="5" name="Rounded Rectangle 4"/>
          <p:cNvSpPr/>
          <p:nvPr/>
        </p:nvSpPr>
        <p:spPr>
          <a:xfrm>
            <a:off x="640080" y="1828800"/>
            <a:ext cx="10908792" cy="2834640"/>
          </a:xfrm>
          <a:prstGeom prst="roundRect">
            <a:avLst>
              <a:gd name="adj" fmla="val 2903"/>
            </a:avLst>
          </a:prstGeom>
          <a:solidFill>
            <a:srgbClr val="123154"/>
          </a:solidFill>
          <a:ln w="9525">
            <a:solidFill>
              <a:srgbClr val="3852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084831"/>
            <a:ext cx="10287000" cy="2377440"/>
          </a:xfrm>
          <a:prstGeom prst="rect">
            <a:avLst/>
          </a:prstGeom>
          <a:noFill/>
        </p:spPr>
        <p:txBody>
          <a:bodyPr wrap="square" anchor="t" lIns="0" rIns="0" tIns="0" bIns="0">
            <a:spAutoFit/>
          </a:bodyPr>
          <a:lstStyle/>
          <a:p>
            <a:pPr algn="l">
              <a:lnSpc>
                <a:spcPct val="140000"/>
              </a:lnSpc>
              <a:spcBef>
                <a:spcPts val="0"/>
              </a:spcBef>
              <a:spcAft>
                <a:spcPts val="1000"/>
              </a:spcAft>
            </a:pPr>
            <a:r>
              <a:rPr sz="1500" b="0" i="0">
                <a:solidFill>
                  <a:srgbClr val="FFFFFF"/>
                </a:solidFill>
                <a:latin typeface="Aptos"/>
                <a:cs typeface="Aptos"/>
              </a:rPr>
              <a:t>Aravest is values-led in how it invests and value-focused in where it deploys. It will remain sector-flexible within a defined 2027 investment focus, pursue opportunities only where there is a clear value-creation plan and complete capability coverage, and structure every fund and investment to institutional standards.</a:t>
            </a:r>
          </a:p>
          <a:p>
            <a:pPr algn="l">
              <a:lnSpc>
                <a:spcPct val="140000"/>
              </a:lnSpc>
              <a:spcBef>
                <a:spcPts val="0"/>
              </a:spcBef>
              <a:spcAft>
                <a:spcPts val="0"/>
              </a:spcAft>
            </a:pPr>
            <a:r>
              <a:rPr sz="1500" b="0" i="0">
                <a:solidFill>
                  <a:srgbClr val="FFFFFF"/>
                </a:solidFill>
                <a:latin typeface="Aptos"/>
                <a:cs typeface="Aptos"/>
              </a:rPr>
              <a:t>Committed equity is exposed to investment performance, but wider liabilities are generally ring-fenced, with no automatic recourse to Aravest as manager or SMFL as shareholder.</a:t>
            </a:r>
          </a:p>
        </p:txBody>
      </p:sp>
      <p:sp>
        <p:nvSpPr>
          <p:cNvPr id="7" name="TextBox 6"/>
          <p:cNvSpPr txBox="1"/>
          <p:nvPr/>
        </p:nvSpPr>
        <p:spPr>
          <a:xfrm>
            <a:off x="640080" y="5029200"/>
            <a:ext cx="10908792" cy="365760"/>
          </a:xfrm>
          <a:prstGeom prst="rect">
            <a:avLst/>
          </a:prstGeom>
          <a:noFill/>
        </p:spPr>
        <p:txBody>
          <a:bodyPr wrap="square" anchor="t" lIns="0" rIns="0" tIns="0" bIns="0">
            <a:spAutoFit/>
          </a:bodyPr>
          <a:lstStyle/>
          <a:p>
            <a:pPr>
              <a:spcAft>
                <a:spcPts val="0"/>
              </a:spcAft>
            </a:pPr>
            <a:r>
              <a:rPr sz="1250" b="1" i="0">
                <a:solidFill>
                  <a:srgbClr val="8FC6C6"/>
                </a:solidFill>
                <a:latin typeface="Aptos"/>
                <a:cs typeface="Aptos"/>
              </a:rPr>
              <a:t>Pathway 1 builds the record</a:t>
            </a:r>
            <a:r>
              <a:rPr sz="1250" b="0" i="0">
                <a:solidFill>
                  <a:srgbClr val="D5DDE6"/>
                </a:solidFill>
                <a:latin typeface="Aptos"/>
                <a:cs typeface="Aptos"/>
              </a:rPr>
              <a:t>   ·   </a:t>
            </a:r>
            <a:r>
              <a:rPr sz="1250" b="1" i="0">
                <a:solidFill>
                  <a:srgbClr val="A9C6E2"/>
                </a:solidFill>
                <a:latin typeface="Aptos"/>
                <a:cs typeface="Aptos"/>
              </a:rPr>
              <a:t>Pathway 2 can accelerate scale</a:t>
            </a:r>
          </a:p>
        </p:txBody>
      </p:sp>
      <p:sp>
        <p:nvSpPr>
          <p:cNvPr id="8" name="TextBox 7"/>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D5DDE6"/>
                </a:solidFill>
                <a:latin typeface="Aptos"/>
                <a:cs typeface="Aptos"/>
              </a:rPr>
              <a:t>Private and Confidential</a:t>
            </a:r>
          </a:p>
        </p:txBody>
      </p:sp>
      <p:sp>
        <p:nvSpPr>
          <p:cNvPr id="9" name="TextBox 8"/>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D5DDE6"/>
                </a:solidFill>
                <a:latin typeface="Aptos"/>
                <a:cs typeface="Aptos"/>
              </a:rPr>
              <a:t>17</a:t>
            </a:r>
          </a:p>
        </p:txBody>
      </p:sp>
      <p:pic>
        <p:nvPicPr>
          <p:cNvPr id="10" name="Picture 9" descr="logo_white.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navy.png"/>
          <p:cNvPicPr>
            <a:picLocks noChangeAspect="1"/>
          </p:cNvPicPr>
          <p:nvPr/>
        </p:nvPicPr>
        <p:blipFill>
          <a:blip r:embed="rId2"/>
          <a:stretch>
            <a:fillRect/>
          </a:stretch>
        </p:blipFill>
        <p:spPr>
          <a:xfrm>
            <a:off x="10881360" y="329184"/>
            <a:ext cx="600980" cy="347472"/>
          </a:xfrm>
          <a:prstGeom prst="rect">
            <a:avLst/>
          </a:prstGeom>
        </p:spPr>
      </p:pic>
      <p:sp>
        <p:nvSpPr>
          <p:cNvPr id="4" name="Rectangle 3"/>
          <p:cNvSpPr/>
          <p:nvPr/>
        </p:nvSpPr>
        <p:spPr>
          <a:xfrm>
            <a:off x="932688" y="2615184"/>
            <a:ext cx="777240" cy="1905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88920"/>
            <a:ext cx="9144000" cy="1280160"/>
          </a:xfrm>
          <a:prstGeom prst="rect">
            <a:avLst/>
          </a:prstGeom>
          <a:noFill/>
        </p:spPr>
        <p:txBody>
          <a:bodyPr wrap="square" anchor="t" lIns="0" rIns="0" tIns="0" bIns="0">
            <a:spAutoFit/>
          </a:bodyPr>
          <a:lstStyle/>
          <a:p>
            <a:pPr algn="l">
              <a:spcBef>
                <a:spcPts val="0"/>
              </a:spcBef>
              <a:spcAft>
                <a:spcPts val="600"/>
              </a:spcAft>
            </a:pPr>
            <a:r>
              <a:rPr sz="3400" b="0" i="0">
                <a:solidFill>
                  <a:srgbClr val="002B5C"/>
                </a:solidFill>
                <a:latin typeface="Spectral Light"/>
                <a:cs typeface="Spectral Light"/>
              </a:rPr>
              <a:t>Appendix</a:t>
            </a:r>
          </a:p>
          <a:p>
            <a:pPr algn="l">
              <a:spcBef>
                <a:spcPts val="0"/>
              </a:spcBef>
              <a:spcAft>
                <a:spcPts val="0"/>
              </a:spcAft>
            </a:pPr>
            <a:r>
              <a:rPr sz="1300" b="0" i="0">
                <a:solidFill>
                  <a:srgbClr val="35464F"/>
                </a:solidFill>
                <a:latin typeface="Aptos"/>
                <a:cs typeface="Aptos"/>
              </a:rPr>
              <a:t>Important notice and registered office.</a:t>
            </a:r>
          </a:p>
        </p:txBody>
      </p:sp>
      <p:sp>
        <p:nvSpPr>
          <p:cNvPr id="6" name="TextBox 5"/>
          <p:cNvSpPr txBox="1"/>
          <p:nvPr/>
        </p:nvSpPr>
        <p:spPr>
          <a:xfrm>
            <a:off x="914400" y="6455664"/>
            <a:ext cx="4572000" cy="274320"/>
          </a:xfrm>
          <a:prstGeom prst="rect">
            <a:avLst/>
          </a:prstGeom>
          <a:noFill/>
        </p:spPr>
        <p:txBody>
          <a:bodyPr wrap="square" anchor="t"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256032"/>
          </a:xfrm>
          <a:prstGeom prst="rect">
            <a:avLst/>
          </a:prstGeom>
          <a:noFill/>
        </p:spPr>
        <p:txBody>
          <a:bodyPr wrap="square" anchor="t" lIns="0" rIns="0" tIns="0" bIns="0">
            <a:spAutoFit/>
          </a:bodyPr>
          <a:lstStyle/>
          <a:p>
            <a:pPr algn="l">
              <a:spcBef>
                <a:spcPts val="0"/>
              </a:spcBef>
              <a:spcAft>
                <a:spcPts val="0"/>
              </a:spcAft>
            </a:pPr>
            <a:r>
              <a:rPr sz="1000" b="1" i="0" spc="160" cap="all">
                <a:solidFill>
                  <a:srgbClr val="35464F"/>
                </a:solidFill>
                <a:latin typeface="Aptos"/>
                <a:cs typeface="Aptos"/>
              </a:rPr>
              <a:t>Important notice · Singapore</a:t>
            </a:r>
          </a:p>
        </p:txBody>
      </p:sp>
      <p:sp>
        <p:nvSpPr>
          <p:cNvPr id="4" name="Rectangle 3"/>
          <p:cNvSpPr/>
          <p:nvPr/>
        </p:nvSpPr>
        <p:spPr>
          <a:xfrm>
            <a:off x="640080" y="676656"/>
            <a:ext cx="10908792" cy="12700"/>
          </a:xfrm>
          <a:prstGeom prst="rect">
            <a:avLst/>
          </a:prstGeom>
          <a:solidFill>
            <a:srgbClr val="002B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 Copyright 2024, Aravest. The concepts and information contained in this paper are the property of Aravest. You acknowledge Aravest is the owner of the intellectual or industrial property owned or used in connection with any business of Aravest and which is set out in this paper. </a:t>
            </a:r>
          </a:p>
          <a:p>
            <a:pPr algn="l">
              <a:lnSpc>
                <a:spcPct val="112000"/>
              </a:lnSpc>
              <a:spcBef>
                <a:spcPts val="0"/>
              </a:spcBef>
              <a:spcAft>
                <a:spcPts val="500"/>
              </a:spcAft>
            </a:pPr>
            <a:r>
              <a:rPr sz="750" b="0" i="0">
                <a:solidFill>
                  <a:srgbClr val="35464F"/>
                </a:solidFill>
                <a:latin typeface="Aptos"/>
                <a:cs typeface="Aptos"/>
              </a:rPr>
              <a:t>This paper has been prepared by or on behalf of Aravest Fund Management Pte. Ltd. (“Aravest”) solely for preliminary general information purposes and without considering your individual objectives, financial situation or needs. Aravest is licensed by the Monetary Authority of Singapore to provide fund management services only to (i) accredited investors, (ii) institutional investors, (iii) collective investment schemes or closed-end funds, the units of which are the subject of an offer or invitation for subscription or purchase made only to accredited investors, or investors in an equivalent class under the laws of the country or territory in which the offer or invitation is made, or institutional investors, or both, and (iv) limited partnerships, where the limited partners comprise solely of accredited investors or investors in an equivalent class under the laws of the country or territory in which the partnership is formed, or institutional investors, or both. </a:t>
            </a:r>
          </a:p>
          <a:p>
            <a:pPr algn="l">
              <a:lnSpc>
                <a:spcPct val="112000"/>
              </a:lnSpc>
              <a:spcBef>
                <a:spcPts val="0"/>
              </a:spcBef>
              <a:spcAft>
                <a:spcPts val="500"/>
              </a:spcAft>
            </a:pPr>
            <a:r>
              <a:rPr sz="750" b="0" i="0">
                <a:solidFill>
                  <a:srgbClr val="35464F"/>
                </a:solidFill>
                <a:latin typeface="Aptos"/>
                <a:cs typeface="Aptos"/>
              </a:rPr>
              <a:t>This paper is strictly confidential and is solely for your own use and that of your necessary professional advisers. It must not be provided to any other party without the prior written consent of Aravest, which may be withheld in the absolute discretion of Aravest. No part of this paper may be copied, reproduced, transmitted or re-distributed without Aravest’ prior written consent. </a:t>
            </a:r>
          </a:p>
          <a:p>
            <a:pPr algn="l">
              <a:lnSpc>
                <a:spcPct val="112000"/>
              </a:lnSpc>
              <a:spcBef>
                <a:spcPts val="0"/>
              </a:spcBef>
              <a:spcAft>
                <a:spcPts val="500"/>
              </a:spcAft>
            </a:pPr>
            <a:r>
              <a:rPr sz="750" b="0" i="0">
                <a:solidFill>
                  <a:srgbClr val="35464F"/>
                </a:solidFill>
                <a:latin typeface="Aptos"/>
                <a:cs typeface="Aptos"/>
              </a:rPr>
              <a:t>The content in this paper does not constitute financial product advice (nor investment, tax or legal advice) by Aravest or its officers, employees, affiliates, holding companies, subsidiaries or controlling persons, directors, officers, partners, agents, representatives or advisers (collectively with Aravest, the “Aravest Representatives”). The information in this paper is general information only and has been prepared without considering your objectives, financial situation or needs. Before acting on any information in this paper, you should consider its appropriateness to your circumstances and obtain appropriate professional advice. Under no circumstances should shareholders, customers, suppliers or transaction counterparties of Aravest be contacted directly concerning this information or a possible transaction.</a:t>
            </a:r>
          </a:p>
          <a:p>
            <a:pPr algn="l">
              <a:lnSpc>
                <a:spcPct val="112000"/>
              </a:lnSpc>
              <a:spcBef>
                <a:spcPts val="0"/>
              </a:spcBef>
              <a:spcAft>
                <a:spcPts val="500"/>
              </a:spcAft>
            </a:pPr>
            <a:r>
              <a:rPr sz="750" b="0" i="0">
                <a:solidFill>
                  <a:srgbClr val="35464F"/>
                </a:solidFill>
                <a:latin typeface="Aptos"/>
                <a:cs typeface="Aptos"/>
              </a:rPr>
              <a:t>Statements in this paper are made only as of the date of this paper unless otherwise stated and solely for the purposes for which they are expressed to be prepared (or for general information purposes only if no purpose is specified). Nothing shall create an implication that the information contained herein is correct as of any other time subsequent to such date(s).</a:t>
            </a:r>
          </a:p>
        </p:txBody>
      </p:sp>
      <p:sp>
        <p:nvSpPr>
          <p:cNvPr id="6" name="TextBox 5"/>
          <p:cNvSpPr txBox="1"/>
          <p:nvPr/>
        </p:nvSpPr>
        <p:spPr>
          <a:xfrm>
            <a:off x="6277356" y="841248"/>
            <a:ext cx="5271516" cy="5440680"/>
          </a:xfrm>
          <a:prstGeom prst="rect">
            <a:avLst/>
          </a:prstGeom>
          <a:noFill/>
        </p:spPr>
        <p:txBody>
          <a:bodyPr wrap="square" anchor="t" lIns="0" rIns="0" tIns="0" bIns="0">
            <a:spAutoFit/>
          </a:bodyPr>
          <a:lstStyle/>
          <a:p>
            <a:pPr algn="l">
              <a:lnSpc>
                <a:spcPct val="112000"/>
              </a:lnSpc>
              <a:spcBef>
                <a:spcPts val="0"/>
              </a:spcBef>
              <a:spcAft>
                <a:spcPts val="500"/>
              </a:spcAft>
            </a:pPr>
            <a:r>
              <a:rPr sz="750" b="0" i="0">
                <a:solidFill>
                  <a:srgbClr val="35464F"/>
                </a:solidFill>
                <a:latin typeface="Aptos"/>
                <a:cs typeface="Aptos"/>
              </a:rPr>
              <a:t>No Aravest Representative is responsible for providing updated information to you. Any forecasts, targets, projections, estimates or other forward-looking statements contained in this paper may involve significant elements of subjective judgement and assumptions as to future events which may or may not be correct. There are usually differences between forecast, projected and actual results because events and actual circumstances frequently do not occur as forecast or projected and these differences may be material. Representative examples of these factors include but are not limited to general market and economic conditions, interest rate trends, competition from other investors, changes in operating expenses including employee wages and benefits, changes in government policies, and the continued availability of financing in the amounts and terms necessary to support future business. Any forecast or projected return rates shown in this paper are neither promised nor guaranteed – they are each based on a number of assumptions and subject to the impact of risk factors. </a:t>
            </a:r>
          </a:p>
          <a:p>
            <a:pPr algn="l">
              <a:lnSpc>
                <a:spcPct val="112000"/>
              </a:lnSpc>
              <a:spcBef>
                <a:spcPts val="0"/>
              </a:spcBef>
              <a:spcAft>
                <a:spcPts val="500"/>
              </a:spcAft>
            </a:pPr>
            <a:r>
              <a:rPr sz="750" b="0" i="0">
                <a:solidFill>
                  <a:srgbClr val="35464F"/>
                </a:solidFill>
                <a:latin typeface="Aptos"/>
                <a:cs typeface="Aptos"/>
              </a:rPr>
              <a:t>No Aravest Representative makes any representation or warranty as to, or takes responsibility for, the accuracy, reliability or completeness of the information contained in this paper. Nothing contained in this paper, nor any other related information made available you is, or shall be relied upon as, a promise, representation, warranty or guarantee, whether as to the past, present or the future. Information in this paper from external sources has not been independently verified by any Aravest Representative and the Aravest Representatives do not assume any responsibility for the accuracy of such information. </a:t>
            </a:r>
          </a:p>
          <a:p>
            <a:pPr algn="l">
              <a:lnSpc>
                <a:spcPct val="112000"/>
              </a:lnSpc>
              <a:spcBef>
                <a:spcPts val="0"/>
              </a:spcBef>
              <a:spcAft>
                <a:spcPts val="500"/>
              </a:spcAft>
            </a:pPr>
            <a:r>
              <a:rPr sz="750" b="0" i="0">
                <a:solidFill>
                  <a:srgbClr val="35464F"/>
                </a:solidFill>
                <a:latin typeface="Aptos"/>
                <a:cs typeface="Aptos"/>
              </a:rPr>
              <a:t>To the maximum extent permitted by law, each Aravest Representative disclaims all liability and you expressly release each Aravest Representative from, any liability, that may otherwise arise from reliance upon this paper or due to any information contained in this paper being inaccurate or due to information being omitted from this paper, whether by way of negligence or otherwise. Each recipient of this paper should conduct its own independent review, investigations, verification and analysis of the information contained or referred to in this paper. Each recipient of this paper represents and warrants that it is and at all times will be a wholesale client, an accredited investor or an institutional investor. </a:t>
            </a:r>
          </a:p>
          <a:p>
            <a:pPr algn="l">
              <a:lnSpc>
                <a:spcPct val="112000"/>
              </a:lnSpc>
              <a:spcBef>
                <a:spcPts val="0"/>
              </a:spcBef>
              <a:spcAft>
                <a:spcPts val="500"/>
              </a:spcAft>
            </a:pPr>
            <a:r>
              <a:rPr sz="750" b="0" i="0">
                <a:solidFill>
                  <a:srgbClr val="35464F"/>
                </a:solidFill>
                <a:latin typeface="Aptos"/>
                <a:cs typeface="Aptos"/>
              </a:rPr>
              <a:t>All rights are reserved by Aravest. </a:t>
            </a:r>
          </a:p>
        </p:txBody>
      </p:sp>
      <p:sp>
        <p:nvSpPr>
          <p:cNvPr id="7" name="TextBox 6"/>
          <p:cNvSpPr txBox="1"/>
          <p:nvPr/>
        </p:nvSpPr>
        <p:spPr>
          <a:xfrm>
            <a:off x="640080" y="6455664"/>
            <a:ext cx="4572000" cy="274320"/>
          </a:xfrm>
          <a:prstGeom prst="rect">
            <a:avLst/>
          </a:prstGeom>
          <a:noFill/>
        </p:spPr>
        <p:txBody>
          <a:bodyPr wrap="square" anchor="ctr" lIns="0" rIns="0" tIns="0" bIns="0">
            <a:spAutoFit/>
          </a:bodyPr>
          <a:lstStyle/>
          <a:p>
            <a:pPr algn="l">
              <a:spcBef>
                <a:spcPts val="0"/>
              </a:spcBef>
              <a:spcAft>
                <a:spcPts val="0"/>
              </a:spcAft>
            </a:pPr>
            <a:r>
              <a:rPr sz="850" b="0" i="0">
                <a:solidFill>
                  <a:srgbClr val="869397"/>
                </a:solidFill>
                <a:latin typeface="Aptos"/>
                <a:cs typeface="Aptos"/>
              </a:rPr>
              <a:t>Private and Confidential</a:t>
            </a:r>
          </a:p>
        </p:txBody>
      </p:sp>
      <p:sp>
        <p:nvSpPr>
          <p:cNvPr id="8" name="TextBox 7"/>
          <p:cNvSpPr txBox="1"/>
          <p:nvPr/>
        </p:nvSpPr>
        <p:spPr>
          <a:xfrm>
            <a:off x="10607040" y="6455664"/>
            <a:ext cx="941832" cy="274320"/>
          </a:xfrm>
          <a:prstGeom prst="rect">
            <a:avLst/>
          </a:prstGeom>
          <a:noFill/>
        </p:spPr>
        <p:txBody>
          <a:bodyPr wrap="square" anchor="ctr" lIns="0" rIns="0" tIns="0" bIns="0">
            <a:spAutoFit/>
          </a:bodyPr>
          <a:lstStyle/>
          <a:p>
            <a:pPr algn="r">
              <a:spcBef>
                <a:spcPts val="0"/>
              </a:spcBef>
              <a:spcAft>
                <a:spcPts val="0"/>
              </a:spcAft>
            </a:pPr>
            <a:r>
              <a:rPr sz="850" b="0" i="0">
                <a:solidFill>
                  <a:srgbClr val="869397"/>
                </a:solidFill>
                <a:latin typeface="Aptos"/>
                <a:cs typeface="Aptos"/>
              </a:rPr>
              <a:t>18</a:t>
            </a:r>
          </a:p>
        </p:txBody>
      </p:sp>
      <p:pic>
        <p:nvPicPr>
          <p:cNvPr id="9" name="Picture 8" descr="logo_navy.png"/>
          <p:cNvPicPr>
            <a:picLocks noChangeAspect="1"/>
          </p:cNvPicPr>
          <p:nvPr/>
        </p:nvPicPr>
        <p:blipFill>
          <a:blip r:embed="rId2"/>
          <a:stretch>
            <a:fillRect/>
          </a:stretch>
        </p:blipFill>
        <p:spPr>
          <a:xfrm>
            <a:off x="10881360" y="329184"/>
            <a:ext cx="600980" cy="34747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1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5001768" y="2377440"/>
            <a:ext cx="1502449" cy="868680"/>
          </a:xfrm>
          <a:prstGeom prst="rect">
            <a:avLst/>
          </a:prstGeom>
        </p:spPr>
      </p:pic>
      <p:sp>
        <p:nvSpPr>
          <p:cNvPr id="4" name="TextBox 3"/>
          <p:cNvSpPr txBox="1"/>
          <p:nvPr/>
        </p:nvSpPr>
        <p:spPr>
          <a:xfrm>
            <a:off x="0" y="3703320"/>
            <a:ext cx="12191695" cy="1097280"/>
          </a:xfrm>
          <a:prstGeom prst="rect">
            <a:avLst/>
          </a:prstGeom>
          <a:noFill/>
        </p:spPr>
        <p:txBody>
          <a:bodyPr wrap="square" anchor="t" lIns="0" rIns="0" tIns="0" bIns="0">
            <a:spAutoFit/>
          </a:bodyPr>
          <a:lstStyle/>
          <a:p>
            <a:pPr algn="ctr">
              <a:spcBef>
                <a:spcPts val="0"/>
              </a:spcBef>
              <a:spcAft>
                <a:spcPts val="200"/>
              </a:spcAft>
            </a:pPr>
            <a:r>
              <a:rPr sz="1150" b="0" i="0">
                <a:solidFill>
                  <a:srgbClr val="D5DDE6"/>
                </a:solidFill>
                <a:latin typeface="Aptos"/>
                <a:cs typeface="Aptos"/>
              </a:rPr>
              <a:t>23 Church Street #09-05 </a:t>
            </a:r>
          </a:p>
          <a:p>
            <a:pPr algn="ctr">
              <a:spcBef>
                <a:spcPts val="0"/>
              </a:spcBef>
              <a:spcAft>
                <a:spcPts val="200"/>
              </a:spcAft>
            </a:pPr>
            <a:r>
              <a:rPr sz="1150" b="0" i="0">
                <a:solidFill>
                  <a:srgbClr val="D5DDE6"/>
                </a:solidFill>
                <a:latin typeface="Aptos"/>
                <a:cs typeface="Aptos"/>
              </a:rPr>
              <a:t>Capital Square </a:t>
            </a:r>
          </a:p>
          <a:p>
            <a:pPr algn="ctr">
              <a:spcBef>
                <a:spcPts val="0"/>
              </a:spcBef>
              <a:spcAft>
                <a:spcPts val="200"/>
              </a:spcAft>
            </a:pPr>
            <a:r>
              <a:rPr sz="1150" b="0" i="0">
                <a:solidFill>
                  <a:srgbClr val="D5DDE6"/>
                </a:solidFill>
                <a:latin typeface="Aptos"/>
                <a:cs typeface="Aptos"/>
              </a:rPr>
              <a:t>Singapore 049481</a:t>
            </a:r>
          </a:p>
          <a:p>
            <a:pPr algn="ctr">
              <a:spcBef>
                <a:spcPts val="0"/>
              </a:spcBef>
              <a:spcAft>
                <a:spcPts val="200"/>
              </a:spcAft>
            </a:pPr>
            <a:r>
              <a:rPr sz="1150" b="0" i="0">
                <a:solidFill>
                  <a:srgbClr val="D5DDE6"/>
                </a:solidFill>
                <a:latin typeface="Aptos"/>
                <a:cs typeface="Aptos"/>
              </a:rPr>
              <a:t>Aravest Pte Ltd</a:t>
            </a:r>
          </a:p>
        </p:txBody>
      </p:sp>
      <p:sp>
        <p:nvSpPr>
          <p:cNvPr id="5" name="TextBox 4"/>
          <p:cNvSpPr txBox="1"/>
          <p:nvPr/>
        </p:nvSpPr>
        <p:spPr>
          <a:xfrm>
            <a:off x="0" y="6355080"/>
            <a:ext cx="12191695" cy="320040"/>
          </a:xfrm>
          <a:prstGeom prst="rect">
            <a:avLst/>
          </a:prstGeom>
          <a:noFill/>
        </p:spPr>
        <p:txBody>
          <a:bodyPr wrap="square" anchor="t" lIns="0" rIns="0" tIns="0" bIns="0">
            <a:spAutoFit/>
          </a:bodyPr>
          <a:lstStyle/>
          <a:p>
            <a:pPr algn="ctr">
              <a:spcBef>
                <a:spcPts val="0"/>
              </a:spcBef>
              <a:spcAft>
                <a:spcPts val="0"/>
              </a:spcAft>
            </a:pPr>
            <a:r>
              <a:rPr sz="850" b="0" i="0">
                <a:solidFill>
                  <a:srgbClr val="D5DDE6"/>
                </a:solidFill>
                <a:latin typeface="Aptos"/>
                <a:cs typeface="Aptos"/>
              </a:rPr>
              <a:t>Private and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