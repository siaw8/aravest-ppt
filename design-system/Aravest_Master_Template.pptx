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a:off x="-1920240" y="3794760"/>
            <a:ext cx="5852160" cy="4206240"/>
          </a:xfrm>
          <a:prstGeom prst="triangle">
            <a:avLst/>
          </a:prstGeom>
          <a:noFill/>
          <a:ln w="12700">
            <a:solidFill>
              <a:srgbClr val="1F3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verB_strip.jpg"/>
          <p:cNvPicPr>
            <a:picLocks noChangeAspect="1"/>
          </p:cNvPicPr>
          <p:nvPr/>
        </p:nvPicPr>
        <p:blipFill>
          <a:blip r:embed="rId2"/>
          <a:stretch>
            <a:fillRect/>
          </a:stretch>
        </p:blipFill>
        <p:spPr>
          <a:xfrm>
            <a:off x="8558784" y="0"/>
            <a:ext cx="3632911" cy="6858000"/>
          </a:xfrm>
          <a:prstGeom prst="rect">
            <a:avLst/>
          </a:prstGeom>
        </p:spPr>
      </p:pic>
      <p:pic>
        <p:nvPicPr>
          <p:cNvPr id="5" name="Picture 4" descr="logo_white.png"/>
          <p:cNvPicPr>
            <a:picLocks noChangeAspect="1"/>
          </p:cNvPicPr>
          <p:nvPr/>
        </p:nvPicPr>
        <p:blipFill>
          <a:blip r:embed="rId3"/>
          <a:stretch>
            <a:fillRect/>
          </a:stretch>
        </p:blipFill>
        <p:spPr>
          <a:xfrm>
            <a:off x="914400" y="685800"/>
            <a:ext cx="917285" cy="530352"/>
          </a:xfrm>
          <a:prstGeom prst="rect">
            <a:avLst/>
          </a:prstGeom>
        </p:spPr>
      </p:pic>
      <p:sp>
        <p:nvSpPr>
          <p:cNvPr id="6" name="Rectangle 5"/>
          <p:cNvSpPr/>
          <p:nvPr/>
        </p:nvSpPr>
        <p:spPr>
          <a:xfrm>
            <a:off x="914400" y="2615184"/>
            <a:ext cx="77724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79776"/>
            <a:ext cx="7315200" cy="292608"/>
          </a:xfrm>
          <a:prstGeom prst="rect">
            <a:avLst/>
          </a:prstGeom>
          <a:noFill/>
        </p:spPr>
        <p:txBody>
          <a:bodyPr wrap="square" anchor="t" lIns="0" rIns="0" tIns="0" bIns="0">
            <a:spAutoFit/>
          </a:bodyPr>
          <a:lstStyle/>
          <a:p>
            <a:pPr algn="l">
              <a:spcBef>
                <a:spcPts val="0"/>
              </a:spcBef>
              <a:spcAft>
                <a:spcPts val="0"/>
              </a:spcAft>
            </a:pPr>
            <a:r>
              <a:rPr sz="1100" b="1" i="0" spc="180" cap="all">
                <a:solidFill>
                  <a:srgbClr val="869397"/>
                </a:solidFill>
                <a:latin typeface="Aptos"/>
                <a:cs typeface="Aptos"/>
              </a:rPr>
              <a:t>Meeting type  ·  Month Year</a:t>
            </a:r>
          </a:p>
        </p:txBody>
      </p:sp>
      <p:sp>
        <p:nvSpPr>
          <p:cNvPr id="8" name="TextBox 7"/>
          <p:cNvSpPr txBox="1"/>
          <p:nvPr/>
        </p:nvSpPr>
        <p:spPr>
          <a:xfrm>
            <a:off x="896112" y="3145536"/>
            <a:ext cx="7498079" cy="960120"/>
          </a:xfrm>
          <a:prstGeom prst="rect">
            <a:avLst/>
          </a:prstGeom>
          <a:noFill/>
        </p:spPr>
        <p:txBody>
          <a:bodyPr wrap="square" anchor="t" lIns="0" rIns="0" tIns="0" bIns="0">
            <a:spAutoFit/>
          </a:bodyPr>
          <a:lstStyle/>
          <a:p>
            <a:pPr algn="l">
              <a:spcAft>
                <a:spcPts val="0"/>
              </a:spcAft>
            </a:pPr>
            <a:r>
              <a:rPr sz="4200" b="0" i="0">
                <a:solidFill>
                  <a:srgbClr val="FFFFFF"/>
                </a:solidFill>
                <a:latin typeface="Spectral Light"/>
                <a:cs typeface="Spectral Light"/>
              </a:rPr>
              <a:t>Presentation </a:t>
            </a:r>
            <a:r>
              <a:rPr sz="4200" b="0" i="1">
                <a:solidFill>
                  <a:srgbClr val="FFFFFF"/>
                </a:solidFill>
                <a:latin typeface="Spectral Light"/>
                <a:cs typeface="Spectral Light"/>
              </a:rPr>
              <a:t>Title</a:t>
            </a:r>
          </a:p>
        </p:txBody>
      </p:sp>
      <p:sp>
        <p:nvSpPr>
          <p:cNvPr id="9" name="TextBox 8"/>
          <p:cNvSpPr txBox="1"/>
          <p:nvPr/>
        </p:nvSpPr>
        <p:spPr>
          <a:xfrm>
            <a:off x="914400" y="4187952"/>
            <a:ext cx="6858000" cy="1005840"/>
          </a:xfrm>
          <a:prstGeom prst="rect">
            <a:avLst/>
          </a:prstGeom>
          <a:noFill/>
        </p:spPr>
        <p:txBody>
          <a:bodyPr wrap="square" anchor="t" lIns="0" rIns="0" tIns="0" bIns="0">
            <a:spAutoFit/>
          </a:bodyPr>
          <a:lstStyle/>
          <a:p>
            <a:pPr algn="l">
              <a:lnSpc>
                <a:spcPct val="132000"/>
              </a:lnSpc>
              <a:spcBef>
                <a:spcPts val="0"/>
              </a:spcBef>
              <a:spcAft>
                <a:spcPts val="0"/>
              </a:spcAft>
            </a:pPr>
            <a:r>
              <a:rPr sz="1350" b="0" i="0">
                <a:solidFill>
                  <a:srgbClr val="D5DDE6"/>
                </a:solidFill>
                <a:latin typeface="Aptos"/>
                <a:cs typeface="Aptos"/>
              </a:rPr>
              <a:t>One-sentence framing of the presentation's purpose and scope, written as a complete thought.</a:t>
            </a:r>
          </a:p>
        </p:txBody>
      </p:sp>
      <p:sp>
        <p:nvSpPr>
          <p:cNvPr id="10" name="TextBox 9"/>
          <p:cNvSpPr txBox="1"/>
          <p:nvPr/>
        </p:nvSpPr>
        <p:spPr>
          <a:xfrm>
            <a:off x="914400" y="6355080"/>
            <a:ext cx="7315200" cy="292608"/>
          </a:xfrm>
          <a:prstGeom prst="rect">
            <a:avLst/>
          </a:prstGeom>
          <a:noFill/>
        </p:spPr>
        <p:txBody>
          <a:bodyPr wrap="square" anchor="t" lIns="0" rIns="0" tIns="0" bIns="0">
            <a:spAutoFit/>
          </a:bodyPr>
          <a:lstStyle/>
          <a:p>
            <a:pPr algn="l">
              <a:spcBef>
                <a:spcPts val="0"/>
              </a:spcBef>
              <a:spcAft>
                <a:spcPts val="0"/>
              </a:spcAft>
            </a:pPr>
            <a:r>
              <a:rPr sz="900" b="0" i="0">
                <a:solidFill>
                  <a:srgbClr val="D5DDE6"/>
                </a:solidFill>
                <a:latin typeface="Aptos"/>
                <a:cs typeface="Aptos"/>
              </a:rPr>
              <a:t>Aravest Fund Management Pte. Ltd.      Private and Confidential</a:t>
            </a:r>
          </a:p>
        </p:txBody>
      </p:sp>
      <p:sp>
        <p:nvSpPr>
          <p:cNvPr id="11" name="TextBox 10"/>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D5DDE6"/>
                </a:solidFill>
                <a:latin typeface="Aptos"/>
                <a:cs typeface="Aptos"/>
              </a:rPr>
              <a:t>T01 · Cover — dark institutional (Board default)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A_full.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2147">
              <a:alpha val="6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white.png"/>
          <p:cNvPicPr>
            <a:picLocks noChangeAspect="1"/>
          </p:cNvPicPr>
          <p:nvPr/>
        </p:nvPicPr>
        <p:blipFill>
          <a:blip r:embed="rId3"/>
          <a:stretch>
            <a:fillRect/>
          </a:stretch>
        </p:blipFill>
        <p:spPr>
          <a:xfrm>
            <a:off x="914400" y="685800"/>
            <a:ext cx="917285" cy="530352"/>
          </a:xfrm>
          <a:prstGeom prst="rect">
            <a:avLst/>
          </a:prstGeom>
        </p:spPr>
      </p:pic>
      <p:sp>
        <p:nvSpPr>
          <p:cNvPr id="5" name="Rectangle 4"/>
          <p:cNvSpPr/>
          <p:nvPr/>
        </p:nvSpPr>
        <p:spPr>
          <a:xfrm>
            <a:off x="914400" y="2724912"/>
            <a:ext cx="77724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89504"/>
            <a:ext cx="9601200" cy="292608"/>
          </a:xfrm>
          <a:prstGeom prst="rect">
            <a:avLst/>
          </a:prstGeom>
          <a:noFill/>
        </p:spPr>
        <p:txBody>
          <a:bodyPr wrap="square" anchor="t" lIns="0" rIns="0" tIns="0" bIns="0">
            <a:spAutoFit/>
          </a:bodyPr>
          <a:lstStyle/>
          <a:p>
            <a:pPr algn="l">
              <a:spcBef>
                <a:spcPts val="0"/>
              </a:spcBef>
              <a:spcAft>
                <a:spcPts val="0"/>
              </a:spcAft>
            </a:pPr>
            <a:r>
              <a:rPr sz="1100" b="1" i="0" spc="180" cap="all">
                <a:solidFill>
                  <a:srgbClr val="D5DDE6"/>
                </a:solidFill>
                <a:latin typeface="Aptos"/>
                <a:cs typeface="Aptos"/>
              </a:rPr>
              <a:t>Audience context  ·  Month Year</a:t>
            </a:r>
          </a:p>
        </p:txBody>
      </p:sp>
      <p:sp>
        <p:nvSpPr>
          <p:cNvPr id="7" name="TextBox 6"/>
          <p:cNvSpPr txBox="1"/>
          <p:nvPr/>
        </p:nvSpPr>
        <p:spPr>
          <a:xfrm>
            <a:off x="896112" y="3255264"/>
            <a:ext cx="10424160" cy="960120"/>
          </a:xfrm>
          <a:prstGeom prst="rect">
            <a:avLst/>
          </a:prstGeom>
          <a:noFill/>
        </p:spPr>
        <p:txBody>
          <a:bodyPr wrap="square" anchor="t" lIns="0" rIns="0" tIns="0" bIns="0">
            <a:spAutoFit/>
          </a:bodyPr>
          <a:lstStyle/>
          <a:p>
            <a:pPr algn="l">
              <a:spcAft>
                <a:spcPts val="0"/>
              </a:spcAft>
            </a:pPr>
            <a:r>
              <a:rPr sz="4600" b="0" i="0">
                <a:solidFill>
                  <a:srgbClr val="FFFFFF"/>
                </a:solidFill>
                <a:latin typeface="Spectral Light"/>
                <a:cs typeface="Spectral Light"/>
              </a:rPr>
              <a:t>Presentation </a:t>
            </a:r>
            <a:r>
              <a:rPr sz="4600" b="0" i="1">
                <a:solidFill>
                  <a:srgbClr val="FFFFFF"/>
                </a:solidFill>
                <a:latin typeface="Spectral Light"/>
                <a:cs typeface="Spectral Light"/>
              </a:rPr>
              <a:t>Title</a:t>
            </a:r>
          </a:p>
        </p:txBody>
      </p:sp>
      <p:sp>
        <p:nvSpPr>
          <p:cNvPr id="8" name="TextBox 7"/>
          <p:cNvSpPr txBox="1"/>
          <p:nvPr/>
        </p:nvSpPr>
        <p:spPr>
          <a:xfrm>
            <a:off x="914400" y="4370832"/>
            <a:ext cx="7955279" cy="914400"/>
          </a:xfrm>
          <a:prstGeom prst="rect">
            <a:avLst/>
          </a:prstGeom>
          <a:noFill/>
        </p:spPr>
        <p:txBody>
          <a:bodyPr wrap="square" anchor="t" lIns="0" rIns="0" tIns="0" bIns="0">
            <a:spAutoFit/>
          </a:bodyPr>
          <a:lstStyle/>
          <a:p>
            <a:pPr algn="l">
              <a:lnSpc>
                <a:spcPct val="132000"/>
              </a:lnSpc>
              <a:spcBef>
                <a:spcPts val="0"/>
              </a:spcBef>
              <a:spcAft>
                <a:spcPts val="0"/>
              </a:spcAft>
            </a:pPr>
            <a:r>
              <a:rPr sz="1450" b="0" i="0">
                <a:solidFill>
                  <a:srgbClr val="D5DDE6"/>
                </a:solidFill>
                <a:latin typeface="Aptos"/>
                <a:cs typeface="Aptos"/>
              </a:rPr>
              <a:t>One-sentence framing of the presentation's purpose and scope, written as a complete thought.</a:t>
            </a:r>
          </a:p>
        </p:txBody>
      </p:sp>
      <p:sp>
        <p:nvSpPr>
          <p:cNvPr id="9" name="TextBox 8"/>
          <p:cNvSpPr txBox="1"/>
          <p:nvPr/>
        </p:nvSpPr>
        <p:spPr>
          <a:xfrm>
            <a:off x="914400" y="6355080"/>
            <a:ext cx="10332720" cy="292608"/>
          </a:xfrm>
          <a:prstGeom prst="rect">
            <a:avLst/>
          </a:prstGeom>
          <a:noFill/>
        </p:spPr>
        <p:txBody>
          <a:bodyPr wrap="square" anchor="t" lIns="0" rIns="0" tIns="0" bIns="0">
            <a:spAutoFit/>
          </a:bodyPr>
          <a:lstStyle/>
          <a:p>
            <a:pPr algn="l">
              <a:spcBef>
                <a:spcPts val="0"/>
              </a:spcBef>
              <a:spcAft>
                <a:spcPts val="0"/>
              </a:spcAft>
            </a:pPr>
            <a:r>
              <a:rPr sz="900" b="0" i="0">
                <a:solidFill>
                  <a:srgbClr val="D5DDE6"/>
                </a:solidFill>
                <a:latin typeface="Aptos"/>
                <a:cs typeface="Aptos"/>
              </a:rPr>
              <a:t>Aravest Fund Management Pte. Ltd.      Private and Confidential</a:t>
            </a:r>
          </a:p>
        </p:txBody>
      </p:sp>
      <p:sp>
        <p:nvSpPr>
          <p:cNvPr id="10" name="TextBox 9"/>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D5DDE6"/>
                </a:solidFill>
                <a:latin typeface="Aptos"/>
                <a:cs typeface="Aptos"/>
              </a:rPr>
              <a:t>T02 · Cover — full image (investor/marketing)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634472" y="365760"/>
            <a:ext cx="600980" cy="347472"/>
          </a:xfrm>
          <a:prstGeom prst="rect">
            <a:avLst/>
          </a:prstGeom>
        </p:spPr>
      </p:pic>
      <p:sp>
        <p:nvSpPr>
          <p:cNvPr id="4" name="TextBox 3"/>
          <p:cNvSpPr txBox="1"/>
          <p:nvPr/>
        </p:nvSpPr>
        <p:spPr>
          <a:xfrm>
            <a:off x="914400" y="2331720"/>
            <a:ext cx="2194560" cy="1371600"/>
          </a:xfrm>
          <a:prstGeom prst="rect">
            <a:avLst/>
          </a:prstGeom>
          <a:noFill/>
        </p:spPr>
        <p:txBody>
          <a:bodyPr wrap="square" anchor="t" lIns="0" rIns="0" tIns="0" bIns="0">
            <a:spAutoFit/>
          </a:bodyPr>
          <a:lstStyle/>
          <a:p>
            <a:pPr algn="l">
              <a:spcBef>
                <a:spcPts val="0"/>
              </a:spcBef>
              <a:spcAft>
                <a:spcPts val="0"/>
              </a:spcAft>
            </a:pPr>
            <a:r>
              <a:rPr sz="6000" b="0" i="0">
                <a:solidFill>
                  <a:srgbClr val="D5DDE6"/>
                </a:solidFill>
                <a:latin typeface="Spectral Light"/>
                <a:cs typeface="Spectral Light"/>
              </a:rPr>
              <a:t>01</a:t>
            </a:r>
          </a:p>
        </p:txBody>
      </p:sp>
      <p:sp>
        <p:nvSpPr>
          <p:cNvPr id="5" name="Rectangle 4"/>
          <p:cNvSpPr/>
          <p:nvPr/>
        </p:nvSpPr>
        <p:spPr>
          <a:xfrm>
            <a:off x="932688" y="3611880"/>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51760" y="2487168"/>
            <a:ext cx="8595360" cy="1463040"/>
          </a:xfrm>
          <a:prstGeom prst="rect">
            <a:avLst/>
          </a:prstGeom>
          <a:noFill/>
        </p:spPr>
        <p:txBody>
          <a:bodyPr wrap="square" anchor="t" lIns="0" rIns="0" tIns="0" bIns="0">
            <a:spAutoFit/>
          </a:bodyPr>
          <a:lstStyle/>
          <a:p>
            <a:pPr algn="l">
              <a:lnSpc>
                <a:spcPct val="110000"/>
              </a:lnSpc>
              <a:spcBef>
                <a:spcPts val="0"/>
              </a:spcBef>
              <a:spcAft>
                <a:spcPts val="0"/>
              </a:spcAft>
            </a:pPr>
            <a:r>
              <a:rPr sz="3000" b="0" i="0">
                <a:solidFill>
                  <a:srgbClr val="FFFFFF"/>
                </a:solidFill>
                <a:latin typeface="Spectral Light"/>
                <a:cs typeface="Spectral Light"/>
              </a:rPr>
              <a:t>Section title set in Spectral Light</a:t>
            </a:r>
          </a:p>
        </p:txBody>
      </p:sp>
      <p:sp>
        <p:nvSpPr>
          <p:cNvPr id="7" name="TextBox 6"/>
          <p:cNvSpPr txBox="1"/>
          <p:nvPr/>
        </p:nvSpPr>
        <p:spPr>
          <a:xfrm>
            <a:off x="2670048" y="3703320"/>
            <a:ext cx="7863840" cy="7315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D5DDE6"/>
                </a:solidFill>
                <a:latin typeface="Aptos"/>
                <a:cs typeface="Aptos"/>
              </a:rPr>
              <a:t>Optional one-line orientation for the section that follows.</a:t>
            </a:r>
          </a:p>
        </p:txBody>
      </p:sp>
      <p:sp>
        <p:nvSpPr>
          <p:cNvPr id="8" name="TextBox 7"/>
          <p:cNvSpPr txBox="1"/>
          <p:nvPr/>
        </p:nvSpPr>
        <p:spPr>
          <a:xfrm>
            <a:off x="914400" y="6455664"/>
            <a:ext cx="4572000" cy="274320"/>
          </a:xfrm>
          <a:prstGeom prst="rect">
            <a:avLst/>
          </a:prstGeom>
          <a:noFill/>
        </p:spPr>
        <p:txBody>
          <a:bodyPr wrap="square" anchor="t"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
        <p:nvSpPr>
          <p:cNvPr id="9" name="TextBox 8"/>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D5DDE6"/>
                </a:solidFill>
                <a:latin typeface="Aptos"/>
                <a:cs typeface="Aptos"/>
              </a:rPr>
              <a:t>T03 · Section divider — typographic dark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navy.png"/>
          <p:cNvPicPr>
            <a:picLocks noChangeAspect="1"/>
          </p:cNvPicPr>
          <p:nvPr/>
        </p:nvPicPr>
        <p:blipFill>
          <a:blip r:embed="rId2"/>
          <a:stretch>
            <a:fillRect/>
          </a:stretch>
        </p:blipFill>
        <p:spPr>
          <a:xfrm>
            <a:off x="10881360" y="329184"/>
            <a:ext cx="600980" cy="347472"/>
          </a:xfrm>
          <a:prstGeom prst="rect">
            <a:avLst/>
          </a:prstGeom>
        </p:spPr>
      </p:pic>
      <p:sp>
        <p:nvSpPr>
          <p:cNvPr id="4" name="TextBox 3"/>
          <p:cNvSpPr txBox="1"/>
          <p:nvPr/>
        </p:nvSpPr>
        <p:spPr>
          <a:xfrm>
            <a:off x="1463040" y="2194560"/>
            <a:ext cx="9235440" cy="2011680"/>
          </a:xfrm>
          <a:prstGeom prst="rect">
            <a:avLst/>
          </a:prstGeom>
          <a:noFill/>
        </p:spPr>
        <p:txBody>
          <a:bodyPr wrap="square" anchor="t" lIns="0" rIns="0" tIns="0" bIns="0">
            <a:spAutoFit/>
          </a:bodyPr>
          <a:lstStyle/>
          <a:p>
            <a:pPr>
              <a:lnSpc>
                <a:spcPct val="118000"/>
              </a:lnSpc>
              <a:spcAft>
                <a:spcPts val="0"/>
              </a:spcAft>
            </a:pPr>
            <a:r>
              <a:rPr sz="3000" b="0" i="0">
                <a:solidFill>
                  <a:srgbClr val="002B5C"/>
                </a:solidFill>
                <a:latin typeface="Spectral Light"/>
                <a:cs typeface="Spectral Light"/>
              </a:rPr>
              <a:t>A single strategic statement set in Spectral Light, with </a:t>
            </a:r>
            <a:r>
              <a:rPr sz="3000" b="0" i="1">
                <a:solidFill>
                  <a:srgbClr val="002B5C"/>
                </a:solidFill>
                <a:latin typeface="Spectral Light"/>
                <a:cs typeface="Spectral Light"/>
              </a:rPr>
              <a:t>one emphasised phrase</a:t>
            </a:r>
            <a:r>
              <a:rPr sz="3000" b="0" i="0">
                <a:solidFill>
                  <a:srgbClr val="002B5C"/>
                </a:solidFill>
                <a:latin typeface="Spectral Light"/>
                <a:cs typeface="Spectral Light"/>
              </a:rPr>
              <a:t>, carrying the argument of the section.</a:t>
            </a:r>
          </a:p>
        </p:txBody>
      </p:sp>
      <p:sp>
        <p:nvSpPr>
          <p:cNvPr id="5" name="Rectangle 4"/>
          <p:cNvSpPr/>
          <p:nvPr/>
        </p:nvSpPr>
        <p:spPr>
          <a:xfrm>
            <a:off x="1481328" y="4434840"/>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4663440"/>
            <a:ext cx="8686800" cy="731520"/>
          </a:xfrm>
          <a:prstGeom prst="rect">
            <a:avLst/>
          </a:prstGeom>
          <a:noFill/>
        </p:spPr>
        <p:txBody>
          <a:bodyPr wrap="square" anchor="t" lIns="0" rIns="0" tIns="0" bIns="0">
            <a:spAutoFit/>
          </a:bodyPr>
          <a:lstStyle/>
          <a:p>
            <a:pPr algn="l">
              <a:lnSpc>
                <a:spcPct val="130000"/>
              </a:lnSpc>
              <a:spcBef>
                <a:spcPts val="0"/>
              </a:spcBef>
              <a:spcAft>
                <a:spcPts val="0"/>
              </a:spcAft>
            </a:pPr>
            <a:r>
              <a:rPr sz="1350" b="0" i="0">
                <a:solidFill>
                  <a:srgbClr val="35464F"/>
                </a:solidFill>
                <a:latin typeface="Aptos"/>
                <a:cs typeface="Aptos"/>
              </a:rPr>
              <a:t>Optional supporting sentence in Aptos that grounds the statement in evidence.</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
        <p:nvSpPr>
          <p:cNvPr id="10" name="TextBox 9"/>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T04 · Editorial statement / pull quote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58368"/>
            <a:ext cx="5486400" cy="914400"/>
          </a:xfrm>
          <a:prstGeom prst="rect">
            <a:avLst/>
          </a:prstGeom>
          <a:noFill/>
        </p:spPr>
        <p:txBody>
          <a:bodyPr wrap="square" anchor="t" lIns="0" rIns="0" tIns="0" bIns="0">
            <a:spAutoFit/>
          </a:bodyPr>
          <a:lstStyle/>
          <a:p>
            <a:pPr algn="l">
              <a:lnSpc>
                <a:spcPct val="104000"/>
              </a:lnSpc>
              <a:spcBef>
                <a:spcPts val="0"/>
              </a:spcBef>
              <a:spcAft>
                <a:spcPts val="0"/>
              </a:spcAft>
            </a:pPr>
            <a:r>
              <a:rPr sz="3000" b="0" i="0">
                <a:solidFill>
                  <a:srgbClr val="002B5C"/>
                </a:solidFill>
                <a:latin typeface="Aptos Display"/>
                <a:cs typeface="Aptos Display"/>
              </a:rPr>
              <a:t>Agenda</a:t>
            </a:r>
          </a:p>
        </p:txBody>
      </p:sp>
      <p:sp>
        <p:nvSpPr>
          <p:cNvPr id="4" name="Rectangle 3"/>
          <p:cNvSpPr/>
          <p:nvPr/>
        </p:nvSpPr>
        <p:spPr>
          <a:xfrm>
            <a:off x="914400" y="1828800"/>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822960" cy="45720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01</a:t>
            </a:r>
          </a:p>
        </p:txBody>
      </p:sp>
      <p:sp>
        <p:nvSpPr>
          <p:cNvPr id="6" name="TextBox 5"/>
          <p:cNvSpPr txBox="1"/>
          <p:nvPr/>
        </p:nvSpPr>
        <p:spPr>
          <a:xfrm>
            <a:off x="1737360" y="1920240"/>
            <a:ext cx="8229600" cy="45720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Section one title</a:t>
            </a:r>
          </a:p>
        </p:txBody>
      </p:sp>
      <p:sp>
        <p:nvSpPr>
          <p:cNvPr id="7" name="Rectangle 6"/>
          <p:cNvSpPr/>
          <p:nvPr/>
        </p:nvSpPr>
        <p:spPr>
          <a:xfrm>
            <a:off x="914400" y="2487168"/>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78608"/>
            <a:ext cx="822960" cy="45720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02</a:t>
            </a:r>
          </a:p>
        </p:txBody>
      </p:sp>
      <p:sp>
        <p:nvSpPr>
          <p:cNvPr id="9" name="TextBox 8"/>
          <p:cNvSpPr txBox="1"/>
          <p:nvPr/>
        </p:nvSpPr>
        <p:spPr>
          <a:xfrm>
            <a:off x="1737360" y="2578608"/>
            <a:ext cx="8229600" cy="45720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Section two title</a:t>
            </a:r>
          </a:p>
        </p:txBody>
      </p:sp>
      <p:sp>
        <p:nvSpPr>
          <p:cNvPr id="10" name="Rectangle 9"/>
          <p:cNvSpPr/>
          <p:nvPr/>
        </p:nvSpPr>
        <p:spPr>
          <a:xfrm>
            <a:off x="914400" y="3145536"/>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36976"/>
            <a:ext cx="822960" cy="45720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03</a:t>
            </a:r>
          </a:p>
        </p:txBody>
      </p:sp>
      <p:sp>
        <p:nvSpPr>
          <p:cNvPr id="12" name="TextBox 11"/>
          <p:cNvSpPr txBox="1"/>
          <p:nvPr/>
        </p:nvSpPr>
        <p:spPr>
          <a:xfrm>
            <a:off x="1737360" y="3236976"/>
            <a:ext cx="8229600" cy="45720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Section three title</a:t>
            </a:r>
          </a:p>
        </p:txBody>
      </p:sp>
      <p:sp>
        <p:nvSpPr>
          <p:cNvPr id="13" name="Rectangle 12"/>
          <p:cNvSpPr/>
          <p:nvPr/>
        </p:nvSpPr>
        <p:spPr>
          <a:xfrm>
            <a:off x="914400" y="3803904"/>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95344"/>
            <a:ext cx="822960" cy="45720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04</a:t>
            </a:r>
          </a:p>
        </p:txBody>
      </p:sp>
      <p:sp>
        <p:nvSpPr>
          <p:cNvPr id="15" name="TextBox 14"/>
          <p:cNvSpPr txBox="1"/>
          <p:nvPr/>
        </p:nvSpPr>
        <p:spPr>
          <a:xfrm>
            <a:off x="1737360" y="3895344"/>
            <a:ext cx="8229600" cy="45720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Section four title</a:t>
            </a:r>
          </a:p>
        </p:txBody>
      </p:sp>
      <p:sp>
        <p:nvSpPr>
          <p:cNvPr id="16" name="Rectangle 15"/>
          <p:cNvSpPr/>
          <p:nvPr/>
        </p:nvSpPr>
        <p:spPr>
          <a:xfrm>
            <a:off x="914400" y="4462272"/>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553712"/>
            <a:ext cx="822960" cy="45720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05</a:t>
            </a:r>
          </a:p>
        </p:txBody>
      </p:sp>
      <p:sp>
        <p:nvSpPr>
          <p:cNvPr id="18" name="TextBox 17"/>
          <p:cNvSpPr txBox="1"/>
          <p:nvPr/>
        </p:nvSpPr>
        <p:spPr>
          <a:xfrm>
            <a:off x="1737360" y="4553712"/>
            <a:ext cx="8229600" cy="45720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Section five title</a:t>
            </a:r>
          </a:p>
        </p:txBody>
      </p:sp>
      <p:sp>
        <p:nvSpPr>
          <p:cNvPr id="19" name="Rectangle 18"/>
          <p:cNvSpPr/>
          <p:nvPr/>
        </p:nvSpPr>
        <p:spPr>
          <a:xfrm>
            <a:off x="914400" y="5120640"/>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12080"/>
            <a:ext cx="822960" cy="45720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06</a:t>
            </a:r>
          </a:p>
        </p:txBody>
      </p:sp>
      <p:sp>
        <p:nvSpPr>
          <p:cNvPr id="21" name="TextBox 20"/>
          <p:cNvSpPr txBox="1"/>
          <p:nvPr/>
        </p:nvSpPr>
        <p:spPr>
          <a:xfrm>
            <a:off x="1737360" y="5212080"/>
            <a:ext cx="8229600" cy="45720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Section six title</a:t>
            </a:r>
          </a:p>
        </p:txBody>
      </p:sp>
      <p:sp>
        <p:nvSpPr>
          <p:cNvPr id="22" name="TextBox 21"/>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3" name="TextBox 22"/>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24" name="Picture 23" descr="logo_navy.png"/>
          <p:cNvPicPr>
            <a:picLocks noChangeAspect="1"/>
          </p:cNvPicPr>
          <p:nvPr/>
        </p:nvPicPr>
        <p:blipFill>
          <a:blip r:embed="rId2"/>
          <a:stretch>
            <a:fillRect/>
          </a:stretch>
        </p:blipFill>
        <p:spPr>
          <a:xfrm>
            <a:off x="10881360" y="329184"/>
            <a:ext cx="600980" cy="347472"/>
          </a:xfrm>
          <a:prstGeom prst="rect">
            <a:avLst/>
          </a:prstGeom>
        </p:spPr>
      </p:pic>
      <p:sp>
        <p:nvSpPr>
          <p:cNvPr id="25" name="TextBox 24"/>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T05 · Agenda / contents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03504"/>
            <a:ext cx="10360152" cy="914400"/>
          </a:xfrm>
          <a:prstGeom prst="rect">
            <a:avLst/>
          </a:prstGeom>
          <a:noFill/>
        </p:spPr>
        <p:txBody>
          <a:bodyPr wrap="square" anchor="t" lIns="0" rIns="0" tIns="0" bIns="0">
            <a:spAutoFit/>
          </a:bodyPr>
          <a:lstStyle/>
          <a:p>
            <a:pPr algn="l">
              <a:lnSpc>
                <a:spcPct val="104000"/>
              </a:lnSpc>
              <a:spcBef>
                <a:spcPts val="0"/>
              </a:spcBef>
              <a:spcAft>
                <a:spcPts val="0"/>
              </a:spcAft>
            </a:pPr>
            <a:r>
              <a:rPr sz="2600" b="0" i="0">
                <a:solidFill>
                  <a:srgbClr val="002B5C"/>
                </a:solidFill>
                <a:latin typeface="Aptos Display"/>
                <a:cs typeface="Aptos Display"/>
              </a:rPr>
              <a:t>Conclusion-led headline states the takeaway in one or two lines.</a:t>
            </a:r>
          </a:p>
        </p:txBody>
      </p:sp>
      <p:sp>
        <p:nvSpPr>
          <p:cNvPr id="4" name="TextBox 3"/>
          <p:cNvSpPr txBox="1"/>
          <p:nvPr/>
        </p:nvSpPr>
        <p:spPr>
          <a:xfrm>
            <a:off x="914400" y="1517904"/>
            <a:ext cx="10058400" cy="640080"/>
          </a:xfrm>
          <a:prstGeom prst="rect">
            <a:avLst/>
          </a:prstGeom>
          <a:noFill/>
        </p:spPr>
        <p:txBody>
          <a:bodyPr wrap="square" anchor="t" lIns="0" rIns="0" tIns="0" bIns="0">
            <a:spAutoFit/>
          </a:bodyPr>
          <a:lstStyle/>
          <a:p>
            <a:pPr algn="l">
              <a:lnSpc>
                <a:spcPct val="126000"/>
              </a:lnSpc>
              <a:spcBef>
                <a:spcPts val="0"/>
              </a:spcBef>
              <a:spcAft>
                <a:spcPts val="0"/>
              </a:spcAft>
            </a:pPr>
            <a:r>
              <a:rPr sz="1400" b="0" i="0">
                <a:solidFill>
                  <a:srgbClr val="35464F"/>
                </a:solidFill>
                <a:latin typeface="Aptos"/>
                <a:cs typeface="Aptos"/>
              </a:rPr>
              <a:t>Optional lead paragraph that frames the four elements below (14pt Aptos, Graphite).</a:t>
            </a:r>
          </a:p>
        </p:txBody>
      </p:sp>
      <p:sp>
        <p:nvSpPr>
          <p:cNvPr id="5" name="Rounded Rectangle 4"/>
          <p:cNvSpPr/>
          <p:nvPr/>
        </p:nvSpPr>
        <p:spPr>
          <a:xfrm>
            <a:off x="914400" y="2395728"/>
            <a:ext cx="2487168" cy="2697480"/>
          </a:xfrm>
          <a:prstGeom prst="roundRect">
            <a:avLst>
              <a:gd name="adj" fmla="val 3308"/>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60320"/>
            <a:ext cx="2121408" cy="2368296"/>
          </a:xfrm>
          <a:prstGeom prst="rect">
            <a:avLst/>
          </a:prstGeom>
          <a:noFill/>
        </p:spPr>
        <p:txBody>
          <a:bodyPr wrap="square" anchor="t" lIns="0" rIns="0" tIns="0" bIns="0">
            <a:spAutoFit/>
          </a:bodyPr>
          <a:lstStyle/>
          <a:p>
            <a:pPr algn="l">
              <a:spcBef>
                <a:spcPts val="0"/>
              </a:spcBef>
              <a:spcAft>
                <a:spcPts val="500"/>
              </a:spcAft>
            </a:pPr>
            <a:r>
              <a:rPr sz="1050" b="1" i="0" spc="120">
                <a:solidFill>
                  <a:srgbClr val="008080"/>
                </a:solidFill>
                <a:latin typeface="Aptos"/>
                <a:cs typeface="Aptos"/>
              </a:rPr>
              <a:t>01</a:t>
            </a:r>
          </a:p>
          <a:p>
            <a:pPr algn="l">
              <a:lnSpc>
                <a:spcPct val="103000"/>
              </a:lnSpc>
              <a:spcBef>
                <a:spcPts val="0"/>
              </a:spcBef>
              <a:spcAft>
                <a:spcPts val="600"/>
              </a:spcAft>
            </a:pPr>
            <a:r>
              <a:rPr sz="1450" b="0" i="0">
                <a:solidFill>
                  <a:srgbClr val="002B5C"/>
                </a:solidFill>
                <a:latin typeface="Aptos Display"/>
                <a:cs typeface="Aptos Display"/>
              </a:rPr>
              <a:t>Card title</a:t>
            </a:r>
          </a:p>
          <a:p>
            <a:pPr algn="l">
              <a:lnSpc>
                <a:spcPct val="122000"/>
              </a:lnSpc>
              <a:spcBef>
                <a:spcPts val="0"/>
              </a:spcBef>
              <a:spcAft>
                <a:spcPts val="600"/>
              </a:spcAft>
            </a:pPr>
            <a:r>
              <a:rPr sz="1300" b="0" i="0">
                <a:solidFill>
                  <a:srgbClr val="35464F"/>
                </a:solidFill>
                <a:latin typeface="Aptos"/>
                <a:cs typeface="Aptos"/>
              </a:rPr>
              <a:t>Lead point of the card at minimum 13pt Aptos in Graphite.</a:t>
            </a:r>
          </a:p>
          <a:p>
            <a:pPr algn="l">
              <a:lnSpc>
                <a:spcPct val="122000"/>
              </a:lnSpc>
              <a:spcBef>
                <a:spcPts val="0"/>
              </a:spcBef>
              <a:spcAft>
                <a:spcPts val="0"/>
              </a:spcAft>
            </a:pPr>
            <a:r>
              <a:rPr sz="1250" b="0" i="0">
                <a:solidFill>
                  <a:srgbClr val="35464F"/>
                </a:solidFill>
                <a:latin typeface="Aptos"/>
                <a:cs typeface="Aptos"/>
              </a:rPr>
              <a:t>Supporting sentence, kept brief.</a:t>
            </a:r>
          </a:p>
        </p:txBody>
      </p:sp>
      <p:sp>
        <p:nvSpPr>
          <p:cNvPr id="7" name="Rounded Rectangle 6"/>
          <p:cNvSpPr/>
          <p:nvPr/>
        </p:nvSpPr>
        <p:spPr>
          <a:xfrm>
            <a:off x="3538728" y="2395728"/>
            <a:ext cx="2487168" cy="2697480"/>
          </a:xfrm>
          <a:prstGeom prst="roundRect">
            <a:avLst>
              <a:gd name="adj" fmla="val 330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608" y="2560320"/>
            <a:ext cx="2121408" cy="2368296"/>
          </a:xfrm>
          <a:prstGeom prst="rect">
            <a:avLst/>
          </a:prstGeom>
          <a:noFill/>
        </p:spPr>
        <p:txBody>
          <a:bodyPr wrap="square" anchor="t" lIns="0" rIns="0" tIns="0" bIns="0">
            <a:spAutoFit/>
          </a:bodyPr>
          <a:lstStyle/>
          <a:p>
            <a:pPr algn="l">
              <a:spcBef>
                <a:spcPts val="0"/>
              </a:spcBef>
              <a:spcAft>
                <a:spcPts val="500"/>
              </a:spcAft>
            </a:pPr>
            <a:r>
              <a:rPr sz="1050" b="1" i="0" spc="120">
                <a:solidFill>
                  <a:srgbClr val="869397"/>
                </a:solidFill>
                <a:latin typeface="Aptos"/>
                <a:cs typeface="Aptos"/>
              </a:rPr>
              <a:t>02</a:t>
            </a:r>
          </a:p>
          <a:p>
            <a:pPr algn="l">
              <a:lnSpc>
                <a:spcPct val="103000"/>
              </a:lnSpc>
              <a:spcBef>
                <a:spcPts val="0"/>
              </a:spcBef>
              <a:spcAft>
                <a:spcPts val="600"/>
              </a:spcAft>
            </a:pPr>
            <a:r>
              <a:rPr sz="1450" b="0" i="0">
                <a:solidFill>
                  <a:srgbClr val="002B5C"/>
                </a:solidFill>
                <a:latin typeface="Aptos Display"/>
                <a:cs typeface="Aptos Display"/>
              </a:rPr>
              <a:t>Card title</a:t>
            </a:r>
          </a:p>
          <a:p>
            <a:pPr algn="l">
              <a:lnSpc>
                <a:spcPct val="122000"/>
              </a:lnSpc>
              <a:spcBef>
                <a:spcPts val="0"/>
              </a:spcBef>
              <a:spcAft>
                <a:spcPts val="600"/>
              </a:spcAft>
            </a:pPr>
            <a:r>
              <a:rPr sz="1300" b="0" i="0">
                <a:solidFill>
                  <a:srgbClr val="35464F"/>
                </a:solidFill>
                <a:latin typeface="Aptos"/>
                <a:cs typeface="Aptos"/>
              </a:rPr>
              <a:t>Lead point of the card at minimum 13pt Aptos in Graphite.</a:t>
            </a:r>
          </a:p>
          <a:p>
            <a:pPr algn="l">
              <a:lnSpc>
                <a:spcPct val="122000"/>
              </a:lnSpc>
              <a:spcBef>
                <a:spcPts val="0"/>
              </a:spcBef>
              <a:spcAft>
                <a:spcPts val="0"/>
              </a:spcAft>
            </a:pPr>
            <a:r>
              <a:rPr sz="1250" b="0" i="0">
                <a:solidFill>
                  <a:srgbClr val="35464F"/>
                </a:solidFill>
                <a:latin typeface="Aptos"/>
                <a:cs typeface="Aptos"/>
              </a:rPr>
              <a:t>Supporting sentence, kept brief.</a:t>
            </a:r>
          </a:p>
        </p:txBody>
      </p:sp>
      <p:sp>
        <p:nvSpPr>
          <p:cNvPr id="9" name="Rounded Rectangle 8"/>
          <p:cNvSpPr/>
          <p:nvPr/>
        </p:nvSpPr>
        <p:spPr>
          <a:xfrm>
            <a:off x="6163056" y="2395728"/>
            <a:ext cx="2487168" cy="2697480"/>
          </a:xfrm>
          <a:prstGeom prst="roundRect">
            <a:avLst>
              <a:gd name="adj" fmla="val 3308"/>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2560320"/>
            <a:ext cx="2121408" cy="2368296"/>
          </a:xfrm>
          <a:prstGeom prst="rect">
            <a:avLst/>
          </a:prstGeom>
          <a:noFill/>
        </p:spPr>
        <p:txBody>
          <a:bodyPr wrap="square" anchor="t" lIns="0" rIns="0" tIns="0" bIns="0">
            <a:spAutoFit/>
          </a:bodyPr>
          <a:lstStyle/>
          <a:p>
            <a:pPr algn="l">
              <a:spcBef>
                <a:spcPts val="0"/>
              </a:spcBef>
              <a:spcAft>
                <a:spcPts val="500"/>
              </a:spcAft>
            </a:pPr>
            <a:r>
              <a:rPr sz="1050" b="1" i="0" spc="120">
                <a:solidFill>
                  <a:srgbClr val="4682B4"/>
                </a:solidFill>
                <a:latin typeface="Aptos"/>
                <a:cs typeface="Aptos"/>
              </a:rPr>
              <a:t>03</a:t>
            </a:r>
          </a:p>
          <a:p>
            <a:pPr algn="l">
              <a:lnSpc>
                <a:spcPct val="103000"/>
              </a:lnSpc>
              <a:spcBef>
                <a:spcPts val="0"/>
              </a:spcBef>
              <a:spcAft>
                <a:spcPts val="600"/>
              </a:spcAft>
            </a:pPr>
            <a:r>
              <a:rPr sz="1450" b="0" i="0">
                <a:solidFill>
                  <a:srgbClr val="002B5C"/>
                </a:solidFill>
                <a:latin typeface="Aptos Display"/>
                <a:cs typeface="Aptos Display"/>
              </a:rPr>
              <a:t>Card title</a:t>
            </a:r>
          </a:p>
          <a:p>
            <a:pPr algn="l">
              <a:lnSpc>
                <a:spcPct val="122000"/>
              </a:lnSpc>
              <a:spcBef>
                <a:spcPts val="0"/>
              </a:spcBef>
              <a:spcAft>
                <a:spcPts val="600"/>
              </a:spcAft>
            </a:pPr>
            <a:r>
              <a:rPr sz="1300" b="0" i="0">
                <a:solidFill>
                  <a:srgbClr val="35464F"/>
                </a:solidFill>
                <a:latin typeface="Aptos"/>
                <a:cs typeface="Aptos"/>
              </a:rPr>
              <a:t>Lead point of the card at minimum 13pt Aptos in Graphite.</a:t>
            </a:r>
          </a:p>
          <a:p>
            <a:pPr algn="l">
              <a:lnSpc>
                <a:spcPct val="122000"/>
              </a:lnSpc>
              <a:spcBef>
                <a:spcPts val="0"/>
              </a:spcBef>
              <a:spcAft>
                <a:spcPts val="0"/>
              </a:spcAft>
            </a:pPr>
            <a:r>
              <a:rPr sz="1250" b="0" i="0">
                <a:solidFill>
                  <a:srgbClr val="35464F"/>
                </a:solidFill>
                <a:latin typeface="Aptos"/>
                <a:cs typeface="Aptos"/>
              </a:rPr>
              <a:t>Supporting sentence, kept brief.</a:t>
            </a:r>
          </a:p>
        </p:txBody>
      </p:sp>
      <p:sp>
        <p:nvSpPr>
          <p:cNvPr id="11" name="Rounded Rectangle 10"/>
          <p:cNvSpPr/>
          <p:nvPr/>
        </p:nvSpPr>
        <p:spPr>
          <a:xfrm>
            <a:off x="8787384" y="2395728"/>
            <a:ext cx="2487168" cy="2697480"/>
          </a:xfrm>
          <a:prstGeom prst="roundRect">
            <a:avLst>
              <a:gd name="adj" fmla="val 330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70264" y="2560320"/>
            <a:ext cx="2121408" cy="2368296"/>
          </a:xfrm>
          <a:prstGeom prst="rect">
            <a:avLst/>
          </a:prstGeom>
          <a:noFill/>
        </p:spPr>
        <p:txBody>
          <a:bodyPr wrap="square" anchor="t" lIns="0" rIns="0" tIns="0" bIns="0">
            <a:spAutoFit/>
          </a:bodyPr>
          <a:lstStyle/>
          <a:p>
            <a:pPr algn="l">
              <a:spcBef>
                <a:spcPts val="0"/>
              </a:spcBef>
              <a:spcAft>
                <a:spcPts val="500"/>
              </a:spcAft>
            </a:pPr>
            <a:r>
              <a:rPr sz="1050" b="1" i="0" spc="120">
                <a:solidFill>
                  <a:srgbClr val="869397"/>
                </a:solidFill>
                <a:latin typeface="Aptos"/>
                <a:cs typeface="Aptos"/>
              </a:rPr>
              <a:t>04</a:t>
            </a:r>
          </a:p>
          <a:p>
            <a:pPr algn="l">
              <a:lnSpc>
                <a:spcPct val="103000"/>
              </a:lnSpc>
              <a:spcBef>
                <a:spcPts val="0"/>
              </a:spcBef>
              <a:spcAft>
                <a:spcPts val="600"/>
              </a:spcAft>
            </a:pPr>
            <a:r>
              <a:rPr sz="1450" b="0" i="0">
                <a:solidFill>
                  <a:srgbClr val="002B5C"/>
                </a:solidFill>
                <a:latin typeface="Aptos Display"/>
                <a:cs typeface="Aptos Display"/>
              </a:rPr>
              <a:t>Card title</a:t>
            </a:r>
          </a:p>
          <a:p>
            <a:pPr algn="l">
              <a:lnSpc>
                <a:spcPct val="122000"/>
              </a:lnSpc>
              <a:spcBef>
                <a:spcPts val="0"/>
              </a:spcBef>
              <a:spcAft>
                <a:spcPts val="600"/>
              </a:spcAft>
            </a:pPr>
            <a:r>
              <a:rPr sz="1300" b="0" i="0">
                <a:solidFill>
                  <a:srgbClr val="35464F"/>
                </a:solidFill>
                <a:latin typeface="Aptos"/>
                <a:cs typeface="Aptos"/>
              </a:rPr>
              <a:t>Lead point of the card at minimum 13pt Aptos in Graphite.</a:t>
            </a:r>
          </a:p>
          <a:p>
            <a:pPr algn="l">
              <a:lnSpc>
                <a:spcPct val="122000"/>
              </a:lnSpc>
              <a:spcBef>
                <a:spcPts val="0"/>
              </a:spcBef>
              <a:spcAft>
                <a:spcPts val="0"/>
              </a:spcAft>
            </a:pPr>
            <a:r>
              <a:rPr sz="1250" b="0" i="0">
                <a:solidFill>
                  <a:srgbClr val="35464F"/>
                </a:solidFill>
                <a:latin typeface="Aptos"/>
                <a:cs typeface="Aptos"/>
              </a:rPr>
              <a:t>Supporting sentence, kept brief.</a:t>
            </a:r>
          </a:p>
        </p:txBody>
      </p:sp>
      <p:sp>
        <p:nvSpPr>
          <p:cNvPr id="13" name="Rounded Rectangle 12"/>
          <p:cNvSpPr/>
          <p:nvPr/>
        </p:nvSpPr>
        <p:spPr>
          <a:xfrm>
            <a:off x="914400" y="5394960"/>
            <a:ext cx="1036015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0432" y="5394960"/>
            <a:ext cx="984808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Conclusion.  </a:t>
            </a:r>
            <a:r>
              <a:rPr sz="1300" b="0" i="0">
                <a:solidFill>
                  <a:srgbClr val="D5DDE6"/>
                </a:solidFill>
                <a:latin typeface="Aptos"/>
                <a:cs typeface="Aptos"/>
              </a:rPr>
              <a:t>Full-width Deep Navy band carrying the synthesis.</a:t>
            </a:r>
          </a:p>
        </p:txBody>
      </p:sp>
      <p:sp>
        <p:nvSpPr>
          <p:cNvPr id="15" name="TextBox 14"/>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6" name="TextBox 15"/>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17" name="Picture 16" descr="logo_navy.png"/>
          <p:cNvPicPr>
            <a:picLocks noChangeAspect="1"/>
          </p:cNvPicPr>
          <p:nvPr/>
        </p:nvPicPr>
        <p:blipFill>
          <a:blip r:embed="rId2"/>
          <a:stretch>
            <a:fillRect/>
          </a:stretch>
        </p:blipFill>
        <p:spPr>
          <a:xfrm>
            <a:off x="10881360" y="329184"/>
            <a:ext cx="600980" cy="347472"/>
          </a:xfrm>
          <a:prstGeom prst="rect">
            <a:avLst/>
          </a:prstGeom>
        </p:spPr>
      </p:pic>
      <p:sp>
        <p:nvSpPr>
          <p:cNvPr id="18" name="TextBox 17"/>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T06 · Card framework — 1×4 + conclusion band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Headline states the comparison's conclusion.</a:t>
            </a:r>
          </a:p>
        </p:txBody>
      </p:sp>
      <p:sp>
        <p:nvSpPr>
          <p:cNvPr id="5" name="Rounded Rectangle 4"/>
          <p:cNvSpPr/>
          <p:nvPr/>
        </p:nvSpPr>
        <p:spPr>
          <a:xfrm>
            <a:off x="640080" y="1517904"/>
            <a:ext cx="5303520" cy="3931920"/>
          </a:xfrm>
          <a:prstGeom prst="roundRect">
            <a:avLst>
              <a:gd name="adj" fmla="val 2093"/>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517904"/>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664208"/>
            <a:ext cx="4828032" cy="731520"/>
          </a:xfrm>
          <a:prstGeom prst="rect">
            <a:avLst/>
          </a:prstGeom>
          <a:noFill/>
        </p:spPr>
        <p:txBody>
          <a:bodyPr wrap="square" anchor="t" lIns="0" rIns="0" tIns="0" bIns="0">
            <a:spAutoFit/>
          </a:bodyPr>
          <a:lstStyle/>
          <a:p>
            <a:pPr algn="l">
              <a:lnSpc>
                <a:spcPct val="104000"/>
              </a:lnSpc>
              <a:spcBef>
                <a:spcPts val="0"/>
              </a:spcBef>
              <a:spcAft>
                <a:spcPts val="300"/>
              </a:spcAft>
            </a:pPr>
            <a:r>
              <a:rPr sz="1500" b="0" i="0">
                <a:solidFill>
                  <a:srgbClr val="002B5C"/>
                </a:solidFill>
                <a:latin typeface="Aptos Display"/>
                <a:cs typeface="Aptos Display"/>
              </a:rPr>
              <a:t>Option A — name</a:t>
            </a:r>
          </a:p>
          <a:p>
            <a:pPr algn="l">
              <a:spcBef>
                <a:spcPts val="0"/>
              </a:spcBef>
              <a:spcAft>
                <a:spcPts val="0"/>
              </a:spcAft>
            </a:pPr>
            <a:r>
              <a:rPr sz="950" b="1" i="0" spc="120">
                <a:solidFill>
                  <a:srgbClr val="008080"/>
                </a:solidFill>
                <a:latin typeface="Aptos"/>
                <a:cs typeface="Aptos"/>
              </a:rPr>
              <a:t>ROLE DESCRIPTOR</a:t>
            </a:r>
          </a:p>
        </p:txBody>
      </p:sp>
      <p:sp>
        <p:nvSpPr>
          <p:cNvPr id="8" name="TextBox 7"/>
          <p:cNvSpPr txBox="1"/>
          <p:nvPr/>
        </p:nvSpPr>
        <p:spPr>
          <a:xfrm>
            <a:off x="877824" y="2478024"/>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9" name="TextBox 8"/>
          <p:cNvSpPr txBox="1"/>
          <p:nvPr/>
        </p:nvSpPr>
        <p:spPr>
          <a:xfrm>
            <a:off x="877824" y="3191256"/>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0" name="TextBox 9"/>
          <p:cNvSpPr txBox="1"/>
          <p:nvPr/>
        </p:nvSpPr>
        <p:spPr>
          <a:xfrm>
            <a:off x="877824" y="3904488"/>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1" name="TextBox 10"/>
          <p:cNvSpPr txBox="1"/>
          <p:nvPr/>
        </p:nvSpPr>
        <p:spPr>
          <a:xfrm>
            <a:off x="877824" y="4617720"/>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2" name="Rounded Rectangle 11"/>
          <p:cNvSpPr/>
          <p:nvPr/>
        </p:nvSpPr>
        <p:spPr>
          <a:xfrm>
            <a:off x="6245352" y="1517904"/>
            <a:ext cx="5303520" cy="3931920"/>
          </a:xfrm>
          <a:prstGeom prst="roundRect">
            <a:avLst>
              <a:gd name="adj" fmla="val 2093"/>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1517904"/>
            <a:ext cx="4901184" cy="3175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1664208"/>
            <a:ext cx="4828032" cy="731520"/>
          </a:xfrm>
          <a:prstGeom prst="rect">
            <a:avLst/>
          </a:prstGeom>
          <a:noFill/>
        </p:spPr>
        <p:txBody>
          <a:bodyPr wrap="square" anchor="t" lIns="0" rIns="0" tIns="0" bIns="0">
            <a:spAutoFit/>
          </a:bodyPr>
          <a:lstStyle/>
          <a:p>
            <a:pPr algn="l">
              <a:lnSpc>
                <a:spcPct val="104000"/>
              </a:lnSpc>
              <a:spcBef>
                <a:spcPts val="0"/>
              </a:spcBef>
              <a:spcAft>
                <a:spcPts val="300"/>
              </a:spcAft>
            </a:pPr>
            <a:r>
              <a:rPr sz="1500" b="0" i="0">
                <a:solidFill>
                  <a:srgbClr val="002B5C"/>
                </a:solidFill>
                <a:latin typeface="Aptos Display"/>
                <a:cs typeface="Aptos Display"/>
              </a:rPr>
              <a:t>Option B — name</a:t>
            </a:r>
          </a:p>
          <a:p>
            <a:pPr algn="l">
              <a:spcBef>
                <a:spcPts val="0"/>
              </a:spcBef>
              <a:spcAft>
                <a:spcPts val="0"/>
              </a:spcAft>
            </a:pPr>
            <a:r>
              <a:rPr sz="950" b="1" i="0" spc="120">
                <a:solidFill>
                  <a:srgbClr val="4682B4"/>
                </a:solidFill>
                <a:latin typeface="Aptos"/>
                <a:cs typeface="Aptos"/>
              </a:rPr>
              <a:t>ROLE DESCRIPTOR</a:t>
            </a:r>
          </a:p>
        </p:txBody>
      </p:sp>
      <p:sp>
        <p:nvSpPr>
          <p:cNvPr id="15" name="TextBox 14"/>
          <p:cNvSpPr txBox="1"/>
          <p:nvPr/>
        </p:nvSpPr>
        <p:spPr>
          <a:xfrm>
            <a:off x="6483096" y="2478024"/>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6" name="TextBox 15"/>
          <p:cNvSpPr txBox="1"/>
          <p:nvPr/>
        </p:nvSpPr>
        <p:spPr>
          <a:xfrm>
            <a:off x="6483096" y="3191256"/>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7" name="TextBox 16"/>
          <p:cNvSpPr txBox="1"/>
          <p:nvPr/>
        </p:nvSpPr>
        <p:spPr>
          <a:xfrm>
            <a:off x="6483096" y="3904488"/>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8" name="TextBox 17"/>
          <p:cNvSpPr txBox="1"/>
          <p:nvPr/>
        </p:nvSpPr>
        <p:spPr>
          <a:xfrm>
            <a:off x="6483096" y="4617720"/>
            <a:ext cx="4828032" cy="658368"/>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ROW LABEL</a:t>
            </a:r>
          </a:p>
          <a:p>
            <a:pPr algn="l">
              <a:lnSpc>
                <a:spcPct val="115000"/>
              </a:lnSpc>
              <a:spcBef>
                <a:spcPts val="0"/>
              </a:spcBef>
              <a:spcAft>
                <a:spcPts val="0"/>
              </a:spcAft>
            </a:pPr>
            <a:r>
              <a:rPr sz="1300" b="0" i="0">
                <a:solidFill>
                  <a:srgbClr val="35464F"/>
                </a:solidFill>
                <a:latin typeface="Aptos"/>
                <a:cs typeface="Aptos"/>
              </a:rPr>
              <a:t>Aligned comparable value at 13pt.</a:t>
            </a:r>
          </a:p>
        </p:txBody>
      </p:sp>
      <p:sp>
        <p:nvSpPr>
          <p:cNvPr id="19" name="Rounded Rectangle 18"/>
          <p:cNvSpPr/>
          <p:nvPr/>
        </p:nvSpPr>
        <p:spPr>
          <a:xfrm>
            <a:off x="640080" y="5614416"/>
            <a:ext cx="10908792" cy="530352"/>
          </a:xfrm>
          <a:prstGeom prst="roundRect">
            <a:avLst>
              <a:gd name="adj" fmla="val 15517"/>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5614416"/>
            <a:ext cx="10396728" cy="530352"/>
          </a:xfrm>
          <a:prstGeom prst="rect">
            <a:avLst/>
          </a:prstGeom>
          <a:noFill/>
        </p:spPr>
        <p:txBody>
          <a:bodyPr wrap="square" anchor="ctr" lIns="0" rIns="0" tIns="0" bIns="0">
            <a:spAutoFit/>
          </a:bodyPr>
          <a:lstStyle/>
          <a:p>
            <a:pPr>
              <a:spcAft>
                <a:spcPts val="0"/>
              </a:spcAft>
            </a:pPr>
            <a:r>
              <a:rPr sz="1000" b="1" i="0" spc="140">
                <a:solidFill>
                  <a:srgbClr val="D5DDE6"/>
                </a:solidFill>
                <a:latin typeface="Aptos"/>
                <a:cs typeface="Aptos"/>
              </a:rPr>
              <a:t>RELATIONSHIP   </a:t>
            </a:r>
            <a:r>
              <a:rPr sz="1300" b="1" i="0">
                <a:solidFill>
                  <a:srgbClr val="8FC6C6"/>
                </a:solidFill>
                <a:latin typeface="Aptos"/>
                <a:cs typeface="Aptos"/>
              </a:rPr>
              <a:t>How A relates</a:t>
            </a:r>
            <a:r>
              <a:rPr sz="1300" b="0" i="0">
                <a:solidFill>
                  <a:srgbClr val="D5DDE6"/>
                </a:solidFill>
                <a:latin typeface="Aptos"/>
                <a:cs typeface="Aptos"/>
              </a:rPr>
              <a:t>  to  </a:t>
            </a:r>
            <a:r>
              <a:rPr sz="1300" b="1" i="0">
                <a:solidFill>
                  <a:srgbClr val="A9C6E2"/>
                </a:solidFill>
                <a:latin typeface="Aptos"/>
                <a:cs typeface="Aptos"/>
              </a:rPr>
              <a:t>B, stated plainly</a:t>
            </a:r>
            <a:r>
              <a:rPr sz="1300" b="0" i="0">
                <a:solidFill>
                  <a:srgbClr val="D5DDE6"/>
                </a:solidFill>
                <a:latin typeface="Aptos"/>
                <a:cs typeface="Aptos"/>
              </a:rPr>
              <a:t>.</a:t>
            </a:r>
          </a:p>
        </p:txBody>
      </p:sp>
      <p:sp>
        <p:nvSpPr>
          <p:cNvPr id="21" name="TextBox 20"/>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2" name="TextBox 21"/>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23" name="Picture 22" descr="logo_navy.png"/>
          <p:cNvPicPr>
            <a:picLocks noChangeAspect="1"/>
          </p:cNvPicPr>
          <p:nvPr/>
        </p:nvPicPr>
        <p:blipFill>
          <a:blip r:embed="rId2"/>
          <a:stretch>
            <a:fillRect/>
          </a:stretch>
        </p:blipFill>
        <p:spPr>
          <a:xfrm>
            <a:off x="10881360" y="329184"/>
            <a:ext cx="600980" cy="347472"/>
          </a:xfrm>
          <a:prstGeom prst="rect">
            <a:avLst/>
          </a:prstGeom>
        </p:spPr>
      </p:pic>
      <p:sp>
        <p:nvSpPr>
          <p:cNvPr id="24" name="TextBox 23"/>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T07 · Twin comparison cards + connector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Headline states what the numbers show.</a:t>
            </a:r>
          </a:p>
        </p:txBody>
      </p:sp>
      <p:sp>
        <p:nvSpPr>
          <p:cNvPr id="5" name="Rectangle 4"/>
          <p:cNvSpPr/>
          <p:nvPr/>
        </p:nvSpPr>
        <p:spPr>
          <a:xfrm>
            <a:off x="640080" y="1426464"/>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36192"/>
            <a:ext cx="10908792" cy="365760"/>
          </a:xfrm>
          <a:prstGeom prst="rect">
            <a:avLst/>
          </a:prstGeom>
          <a:noFill/>
        </p:spPr>
        <p:txBody>
          <a:bodyPr wrap="square" anchor="ctr" lIns="0" rIns="0" tIns="0" bIns="0">
            <a:spAutoFit/>
          </a:bodyPr>
          <a:lstStyle/>
          <a:p>
            <a:pPr algn="ctr">
              <a:spcBef>
                <a:spcPts val="0"/>
              </a:spcBef>
              <a:spcAft>
                <a:spcPts val="0"/>
              </a:spcAft>
            </a:pPr>
            <a:r>
              <a:rPr sz="1450" b="0" i="0">
                <a:solidFill>
                  <a:srgbClr val="002B5C"/>
                </a:solidFill>
                <a:latin typeface="Aptos Display"/>
                <a:cs typeface="Aptos Display"/>
              </a:rPr>
              <a:t>Optional identity or defining equation set as typography</a:t>
            </a:r>
          </a:p>
        </p:txBody>
      </p:sp>
      <p:sp>
        <p:nvSpPr>
          <p:cNvPr id="7" name="Rectangle 6"/>
          <p:cNvSpPr/>
          <p:nvPr/>
        </p:nvSpPr>
        <p:spPr>
          <a:xfrm>
            <a:off x="640080" y="201168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231136"/>
            <a:ext cx="2788920" cy="3127248"/>
          </a:xfrm>
          <a:prstGeom prst="roundRect">
            <a:avLst>
              <a:gd name="adj" fmla="val 295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432304"/>
            <a:ext cx="2331720" cy="2724912"/>
          </a:xfrm>
          <a:prstGeom prst="rect">
            <a:avLst/>
          </a:prstGeom>
          <a:noFill/>
        </p:spPr>
        <p:txBody>
          <a:bodyPr wrap="square" anchor="t" lIns="0" rIns="0" tIns="0" bIns="0">
            <a:spAutoFit/>
          </a:bodyPr>
          <a:lstStyle/>
          <a:p>
            <a:pPr algn="l">
              <a:spcBef>
                <a:spcPts val="0"/>
              </a:spcBef>
              <a:spcAft>
                <a:spcPts val="800"/>
              </a:spcAft>
            </a:pPr>
            <a:r>
              <a:rPr sz="900" b="1" i="0" spc="100">
                <a:solidFill>
                  <a:srgbClr val="D5DDE6"/>
                </a:solidFill>
                <a:latin typeface="Aptos"/>
                <a:cs typeface="Aptos"/>
              </a:rPr>
              <a:t>ANCHOR LABEL</a:t>
            </a:r>
          </a:p>
          <a:p>
            <a:pPr algn="l">
              <a:lnSpc>
                <a:spcPct val="100000"/>
              </a:lnSpc>
              <a:spcBef>
                <a:spcPts val="0"/>
              </a:spcBef>
              <a:spcAft>
                <a:spcPts val="900"/>
              </a:spcAft>
            </a:pPr>
            <a:r>
              <a:rPr sz="3400" b="0" i="0">
                <a:solidFill>
                  <a:srgbClr val="FFFFFF"/>
                </a:solidFill>
                <a:latin typeface="Aptos Display"/>
                <a:cs typeface="Aptos Display"/>
              </a:rPr>
              <a:t>KPI</a:t>
            </a:r>
          </a:p>
          <a:p>
            <a:pPr algn="l">
              <a:lnSpc>
                <a:spcPct val="126000"/>
              </a:lnSpc>
              <a:spcBef>
                <a:spcPts val="0"/>
              </a:spcBef>
              <a:spcAft>
                <a:spcPts val="0"/>
              </a:spcAft>
            </a:pPr>
            <a:r>
              <a:rPr sz="1300" b="0" i="0">
                <a:solidFill>
                  <a:srgbClr val="D5DDE6"/>
                </a:solidFill>
                <a:latin typeface="Aptos"/>
                <a:cs typeface="Aptos"/>
              </a:rPr>
              <a:t>Supporting context for the anchor figure at 13pt.</a:t>
            </a:r>
          </a:p>
        </p:txBody>
      </p:sp>
      <p:sp>
        <p:nvSpPr>
          <p:cNvPr id="10" name="Rounded Rectangle 9"/>
          <p:cNvSpPr/>
          <p:nvPr/>
        </p:nvSpPr>
        <p:spPr>
          <a:xfrm>
            <a:off x="3611880" y="2231136"/>
            <a:ext cx="3913632" cy="3127248"/>
          </a:xfrm>
          <a:prstGeom prst="roundRect">
            <a:avLst>
              <a:gd name="adj" fmla="val 2631"/>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31336" y="2395728"/>
            <a:ext cx="3474720" cy="457200"/>
          </a:xfrm>
          <a:prstGeom prst="rect">
            <a:avLst/>
          </a:prstGeom>
          <a:noFill/>
        </p:spPr>
        <p:txBody>
          <a:bodyPr wrap="square" anchor="t" lIns="0" rIns="0" tIns="0" bIns="0">
            <a:spAutoFit/>
          </a:bodyPr>
          <a:lstStyle/>
          <a:p>
            <a:pPr algn="l">
              <a:lnSpc>
                <a:spcPct val="103000"/>
              </a:lnSpc>
              <a:spcBef>
                <a:spcPts val="0"/>
              </a:spcBef>
              <a:spcAft>
                <a:spcPts val="0"/>
              </a:spcAft>
            </a:pPr>
            <a:r>
              <a:rPr sz="1350" b="0" i="0">
                <a:solidFill>
                  <a:srgbClr val="008080"/>
                </a:solidFill>
                <a:latin typeface="Aptos Display"/>
                <a:cs typeface="Aptos Display"/>
              </a:rPr>
              <a:t>Supporting measure — teal</a:t>
            </a:r>
          </a:p>
        </p:txBody>
      </p:sp>
      <p:sp>
        <p:nvSpPr>
          <p:cNvPr id="12" name="Rectangle 11"/>
          <p:cNvSpPr/>
          <p:nvPr/>
        </p:nvSpPr>
        <p:spPr>
          <a:xfrm>
            <a:off x="3831336" y="3592678"/>
            <a:ext cx="347472" cy="485546"/>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3430829"/>
            <a:ext cx="347472" cy="64739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2" y="3538728"/>
            <a:ext cx="347472" cy="539496"/>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94960" y="3322930"/>
            <a:ext cx="347472" cy="755294"/>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16168" y="3409249"/>
            <a:ext cx="347472" cy="66897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37376" y="3215031"/>
            <a:ext cx="347472" cy="863193"/>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58584" y="3301350"/>
            <a:ext cx="347472" cy="776874"/>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31336" y="4078224"/>
            <a:ext cx="3474720"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4187952"/>
            <a:ext cx="3474720" cy="960120"/>
          </a:xfrm>
          <a:prstGeom prst="rect">
            <a:avLst/>
          </a:prstGeom>
          <a:noFill/>
        </p:spPr>
        <p:txBody>
          <a:bodyPr wrap="square" anchor="t" lIns="0" rIns="0" tIns="0" bIns="0">
            <a:spAutoFit/>
          </a:bodyPr>
          <a:lstStyle/>
          <a:p>
            <a:pPr algn="l">
              <a:lnSpc>
                <a:spcPct val="120000"/>
              </a:lnSpc>
              <a:spcBef>
                <a:spcPts val="0"/>
              </a:spcBef>
              <a:spcAft>
                <a:spcPts val="300"/>
              </a:spcAft>
            </a:pPr>
            <a:r>
              <a:rPr sz="1300" b="0" i="0">
                <a:solidFill>
                  <a:srgbClr val="35464F"/>
                </a:solidFill>
                <a:latin typeface="Aptos"/>
                <a:cs typeface="Aptos"/>
              </a:rPr>
              <a:t>Caption interpreting the profile at 13pt Graphite.</a:t>
            </a:r>
          </a:p>
          <a:p>
            <a:pPr algn="l">
              <a:spcBef>
                <a:spcPts val="0"/>
              </a:spcBef>
              <a:spcAft>
                <a:spcPts val="0"/>
              </a:spcAft>
            </a:pPr>
            <a:r>
              <a:rPr sz="900" b="0" i="1">
                <a:solidFill>
                  <a:srgbClr val="869397"/>
                </a:solidFill>
                <a:latin typeface="Aptos"/>
                <a:cs typeface="Aptos"/>
              </a:rPr>
              <a:t>Qualifier or basis note.</a:t>
            </a:r>
          </a:p>
        </p:txBody>
      </p:sp>
      <p:sp>
        <p:nvSpPr>
          <p:cNvPr id="21" name="Rounded Rectangle 20"/>
          <p:cNvSpPr/>
          <p:nvPr/>
        </p:nvSpPr>
        <p:spPr>
          <a:xfrm>
            <a:off x="7708392" y="2231136"/>
            <a:ext cx="3840480" cy="3127248"/>
          </a:xfrm>
          <a:prstGeom prst="roundRect">
            <a:avLst>
              <a:gd name="adj" fmla="val 2631"/>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27848" y="2395728"/>
            <a:ext cx="3401568" cy="457200"/>
          </a:xfrm>
          <a:prstGeom prst="rect">
            <a:avLst/>
          </a:prstGeom>
          <a:noFill/>
        </p:spPr>
        <p:txBody>
          <a:bodyPr wrap="square" anchor="t" lIns="0" rIns="0" tIns="0" bIns="0">
            <a:spAutoFit/>
          </a:bodyPr>
          <a:lstStyle/>
          <a:p>
            <a:pPr algn="l">
              <a:lnSpc>
                <a:spcPct val="103000"/>
              </a:lnSpc>
              <a:spcBef>
                <a:spcPts val="0"/>
              </a:spcBef>
              <a:spcAft>
                <a:spcPts val="0"/>
              </a:spcAft>
            </a:pPr>
            <a:r>
              <a:rPr sz="1350" b="0" i="0">
                <a:solidFill>
                  <a:srgbClr val="4682B4"/>
                </a:solidFill>
                <a:latin typeface="Aptos Display"/>
                <a:cs typeface="Aptos Display"/>
              </a:rPr>
              <a:t>Supporting measure — steel</a:t>
            </a:r>
          </a:p>
        </p:txBody>
      </p:sp>
      <p:sp>
        <p:nvSpPr>
          <p:cNvPr id="23" name="Rectangle 22"/>
          <p:cNvSpPr/>
          <p:nvPr/>
        </p:nvSpPr>
        <p:spPr>
          <a:xfrm>
            <a:off x="7927848" y="3592678"/>
            <a:ext cx="347472" cy="485546"/>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36864" y="3430829"/>
            <a:ext cx="347472" cy="647395"/>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45880" y="3538728"/>
            <a:ext cx="347472" cy="539496"/>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454896" y="3322930"/>
            <a:ext cx="347472" cy="755294"/>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63912" y="3409249"/>
            <a:ext cx="347472" cy="668975"/>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472928" y="3215031"/>
            <a:ext cx="347472" cy="863193"/>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81944" y="3301350"/>
            <a:ext cx="347472" cy="776874"/>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27848" y="4078224"/>
            <a:ext cx="3401568"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27848" y="4187952"/>
            <a:ext cx="3401568" cy="960120"/>
          </a:xfrm>
          <a:prstGeom prst="rect">
            <a:avLst/>
          </a:prstGeom>
          <a:noFill/>
        </p:spPr>
        <p:txBody>
          <a:bodyPr wrap="square" anchor="t" lIns="0" rIns="0" tIns="0" bIns="0">
            <a:spAutoFit/>
          </a:bodyPr>
          <a:lstStyle/>
          <a:p>
            <a:pPr algn="l">
              <a:lnSpc>
                <a:spcPct val="120000"/>
              </a:lnSpc>
              <a:spcBef>
                <a:spcPts val="0"/>
              </a:spcBef>
              <a:spcAft>
                <a:spcPts val="300"/>
              </a:spcAft>
            </a:pPr>
            <a:r>
              <a:rPr sz="1300" b="0" i="0">
                <a:solidFill>
                  <a:srgbClr val="35464F"/>
                </a:solidFill>
                <a:latin typeface="Aptos"/>
                <a:cs typeface="Aptos"/>
              </a:rPr>
              <a:t>Caption interpreting the profile at 13pt Graphite.</a:t>
            </a:r>
          </a:p>
          <a:p>
            <a:pPr algn="l">
              <a:spcBef>
                <a:spcPts val="0"/>
              </a:spcBef>
              <a:spcAft>
                <a:spcPts val="0"/>
              </a:spcAft>
            </a:pPr>
            <a:r>
              <a:rPr sz="900" b="0" i="1">
                <a:solidFill>
                  <a:srgbClr val="869397"/>
                </a:solidFill>
                <a:latin typeface="Aptos"/>
                <a:cs typeface="Aptos"/>
              </a:rPr>
              <a:t>Qualifier or basis note.</a:t>
            </a:r>
          </a:p>
        </p:txBody>
      </p:sp>
      <p:sp>
        <p:nvSpPr>
          <p:cNvPr id="32" name="Rounded Rectangle 31"/>
          <p:cNvSpPr/>
          <p:nvPr/>
        </p:nvSpPr>
        <p:spPr>
          <a:xfrm>
            <a:off x="640080" y="5541264"/>
            <a:ext cx="10908792" cy="512064"/>
          </a:xfrm>
          <a:prstGeom prst="roundRect">
            <a:avLst>
              <a:gd name="adj" fmla="val 16071"/>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541264"/>
            <a:ext cx="10433304" cy="512064"/>
          </a:xfrm>
          <a:prstGeom prst="rect">
            <a:avLst/>
          </a:prstGeom>
          <a:noFill/>
        </p:spPr>
        <p:txBody>
          <a:bodyPr wrap="square" anchor="ctr" lIns="0" rIns="0" tIns="0" bIns="0">
            <a:spAutoFit/>
          </a:bodyPr>
          <a:lstStyle/>
          <a:p>
            <a:pPr>
              <a:spcAft>
                <a:spcPts val="0"/>
              </a:spcAft>
            </a:pPr>
            <a:r>
              <a:rPr sz="950" b="1" i="0" spc="100">
                <a:solidFill>
                  <a:srgbClr val="002B5C"/>
                </a:solidFill>
                <a:latin typeface="Aptos"/>
                <a:cs typeface="Aptos"/>
              </a:rPr>
              <a:t>UTILITY BAND   </a:t>
            </a:r>
            <a:r>
              <a:rPr sz="1250" b="0" i="0">
                <a:solidFill>
                  <a:srgbClr val="35464F"/>
                </a:solidFill>
                <a:latin typeface="Aptos"/>
                <a:cs typeface="Aptos"/>
              </a:rPr>
              <a:t>Proof point, source basis or quiet contextual note at 12–13pt.</a:t>
            </a:r>
          </a:p>
        </p:txBody>
      </p:sp>
      <p:sp>
        <p:nvSpPr>
          <p:cNvPr id="34" name="TextBox 3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35" name="TextBox 3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36" name="Picture 35" descr="logo_navy.png"/>
          <p:cNvPicPr>
            <a:picLocks noChangeAspect="1"/>
          </p:cNvPicPr>
          <p:nvPr/>
        </p:nvPicPr>
        <p:blipFill>
          <a:blip r:embed="rId2"/>
          <a:stretch>
            <a:fillRect/>
          </a:stretch>
        </p:blipFill>
        <p:spPr>
          <a:xfrm>
            <a:off x="10881360" y="329184"/>
            <a:ext cx="600980" cy="347472"/>
          </a:xfrm>
          <a:prstGeom prst="rect">
            <a:avLst/>
          </a:prstGeom>
        </p:spPr>
      </p:pic>
      <p:sp>
        <p:nvSpPr>
          <p:cNvPr id="37" name="TextBox 36"/>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T08 · Anchor dashboard — dark KPI + supporting cards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Headline interprets the chart, not the topic.</a:t>
            </a:r>
          </a:p>
        </p:txBody>
      </p:sp>
      <p:sp>
        <p:nvSpPr>
          <p:cNvPr id="5" name="TextBox 4"/>
          <p:cNvSpPr txBox="1"/>
          <p:nvPr/>
        </p:nvSpPr>
        <p:spPr>
          <a:xfrm>
            <a:off x="640080" y="1517904"/>
            <a:ext cx="2560320" cy="914400"/>
          </a:xfrm>
          <a:prstGeom prst="rect">
            <a:avLst/>
          </a:prstGeom>
          <a:noFill/>
        </p:spPr>
        <p:txBody>
          <a:bodyPr wrap="square" anchor="t" lIns="0" rIns="0" tIns="0" bIns="0">
            <a:spAutoFit/>
          </a:bodyPr>
          <a:lstStyle/>
          <a:p>
            <a:pPr algn="l">
              <a:spcBef>
                <a:spcPts val="0"/>
              </a:spcBef>
              <a:spcAft>
                <a:spcPts val="400"/>
              </a:spcAft>
            </a:pPr>
            <a:r>
              <a:rPr sz="900" b="1" i="0" spc="100">
                <a:solidFill>
                  <a:srgbClr val="35464F"/>
                </a:solidFill>
                <a:latin typeface="Aptos"/>
                <a:cs typeface="Aptos"/>
              </a:rPr>
              <a:t>MEASURE ONE</a:t>
            </a:r>
          </a:p>
          <a:p>
            <a:pPr algn="l">
              <a:spcBef>
                <a:spcPts val="0"/>
              </a:spcBef>
              <a:spcAft>
                <a:spcPts val="0"/>
              </a:spcAft>
            </a:pPr>
            <a:r>
              <a:rPr sz="2600" b="0" i="0">
                <a:solidFill>
                  <a:srgbClr val="002B5C"/>
                </a:solidFill>
                <a:latin typeface="Aptos Display"/>
                <a:cs typeface="Aptos Display"/>
              </a:rPr>
              <a:t>0.0</a:t>
            </a:r>
          </a:p>
        </p:txBody>
      </p:sp>
      <p:sp>
        <p:nvSpPr>
          <p:cNvPr id="6" name="TextBox 5"/>
          <p:cNvSpPr txBox="1"/>
          <p:nvPr/>
        </p:nvSpPr>
        <p:spPr>
          <a:xfrm>
            <a:off x="3401568" y="1517904"/>
            <a:ext cx="2560320" cy="914400"/>
          </a:xfrm>
          <a:prstGeom prst="rect">
            <a:avLst/>
          </a:prstGeom>
          <a:noFill/>
        </p:spPr>
        <p:txBody>
          <a:bodyPr wrap="square" anchor="t" lIns="0" rIns="0" tIns="0" bIns="0">
            <a:spAutoFit/>
          </a:bodyPr>
          <a:lstStyle/>
          <a:p>
            <a:pPr algn="l">
              <a:spcBef>
                <a:spcPts val="0"/>
              </a:spcBef>
              <a:spcAft>
                <a:spcPts val="400"/>
              </a:spcAft>
            </a:pPr>
            <a:r>
              <a:rPr sz="900" b="1" i="0" spc="100">
                <a:solidFill>
                  <a:srgbClr val="35464F"/>
                </a:solidFill>
                <a:latin typeface="Aptos"/>
                <a:cs typeface="Aptos"/>
              </a:rPr>
              <a:t>MEASURE TWO</a:t>
            </a:r>
          </a:p>
          <a:p>
            <a:pPr algn="l">
              <a:spcBef>
                <a:spcPts val="0"/>
              </a:spcBef>
              <a:spcAft>
                <a:spcPts val="0"/>
              </a:spcAft>
            </a:pPr>
            <a:r>
              <a:rPr sz="2600" b="0" i="0">
                <a:solidFill>
                  <a:srgbClr val="002B5C"/>
                </a:solidFill>
                <a:latin typeface="Aptos Display"/>
                <a:cs typeface="Aptos Display"/>
              </a:rPr>
              <a:t>0.0</a:t>
            </a:r>
          </a:p>
        </p:txBody>
      </p:sp>
      <p:sp>
        <p:nvSpPr>
          <p:cNvPr id="7" name="Rectangle 6"/>
          <p:cNvSpPr/>
          <p:nvPr/>
        </p:nvSpPr>
        <p:spPr>
          <a:xfrm>
            <a:off x="3209544" y="1572768"/>
            <a:ext cx="9525" cy="77724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63056" y="1517904"/>
            <a:ext cx="2560320" cy="914400"/>
          </a:xfrm>
          <a:prstGeom prst="rect">
            <a:avLst/>
          </a:prstGeom>
          <a:noFill/>
        </p:spPr>
        <p:txBody>
          <a:bodyPr wrap="square" anchor="t" lIns="0" rIns="0" tIns="0" bIns="0">
            <a:spAutoFit/>
          </a:bodyPr>
          <a:lstStyle/>
          <a:p>
            <a:pPr algn="l">
              <a:spcBef>
                <a:spcPts val="0"/>
              </a:spcBef>
              <a:spcAft>
                <a:spcPts val="400"/>
              </a:spcAft>
            </a:pPr>
            <a:r>
              <a:rPr sz="900" b="1" i="0" spc="100">
                <a:solidFill>
                  <a:srgbClr val="35464F"/>
                </a:solidFill>
                <a:latin typeface="Aptos"/>
                <a:cs typeface="Aptos"/>
              </a:rPr>
              <a:t>MEASURE THREE</a:t>
            </a:r>
          </a:p>
          <a:p>
            <a:pPr algn="l">
              <a:spcBef>
                <a:spcPts val="0"/>
              </a:spcBef>
              <a:spcAft>
                <a:spcPts val="0"/>
              </a:spcAft>
            </a:pPr>
            <a:r>
              <a:rPr sz="2600" b="0" i="0">
                <a:solidFill>
                  <a:srgbClr val="002B5C"/>
                </a:solidFill>
                <a:latin typeface="Aptos Display"/>
                <a:cs typeface="Aptos Display"/>
              </a:rPr>
              <a:t>0.0</a:t>
            </a:r>
          </a:p>
        </p:txBody>
      </p:sp>
      <p:sp>
        <p:nvSpPr>
          <p:cNvPr id="9" name="Rectangle 8"/>
          <p:cNvSpPr/>
          <p:nvPr/>
        </p:nvSpPr>
        <p:spPr>
          <a:xfrm>
            <a:off x="5971032" y="1572768"/>
            <a:ext cx="9525" cy="77724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24544" y="1517904"/>
            <a:ext cx="2560320" cy="914400"/>
          </a:xfrm>
          <a:prstGeom prst="rect">
            <a:avLst/>
          </a:prstGeom>
          <a:noFill/>
        </p:spPr>
        <p:txBody>
          <a:bodyPr wrap="square" anchor="t" lIns="0" rIns="0" tIns="0" bIns="0">
            <a:spAutoFit/>
          </a:bodyPr>
          <a:lstStyle/>
          <a:p>
            <a:pPr algn="l">
              <a:spcBef>
                <a:spcPts val="0"/>
              </a:spcBef>
              <a:spcAft>
                <a:spcPts val="400"/>
              </a:spcAft>
            </a:pPr>
            <a:r>
              <a:rPr sz="900" b="1" i="0" spc="100">
                <a:solidFill>
                  <a:srgbClr val="35464F"/>
                </a:solidFill>
                <a:latin typeface="Aptos"/>
                <a:cs typeface="Aptos"/>
              </a:rPr>
              <a:t>MEASURE FOUR</a:t>
            </a:r>
          </a:p>
          <a:p>
            <a:pPr algn="l">
              <a:spcBef>
                <a:spcPts val="0"/>
              </a:spcBef>
              <a:spcAft>
                <a:spcPts val="0"/>
              </a:spcAft>
            </a:pPr>
            <a:r>
              <a:rPr sz="2600" b="0" i="0">
                <a:solidFill>
                  <a:srgbClr val="002B5C"/>
                </a:solidFill>
                <a:latin typeface="Aptos Display"/>
                <a:cs typeface="Aptos Display"/>
              </a:rPr>
              <a:t>0.0</a:t>
            </a:r>
          </a:p>
        </p:txBody>
      </p:sp>
      <p:sp>
        <p:nvSpPr>
          <p:cNvPr id="11" name="Rectangle 10"/>
          <p:cNvSpPr/>
          <p:nvPr/>
        </p:nvSpPr>
        <p:spPr>
          <a:xfrm>
            <a:off x="8732520" y="1572768"/>
            <a:ext cx="9525" cy="77724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60604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05840" y="4626864"/>
            <a:ext cx="502920" cy="768096"/>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57400" y="4297680"/>
            <a:ext cx="502920" cy="109728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08960" y="4473245"/>
            <a:ext cx="502920" cy="921715"/>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60520" y="4034333"/>
            <a:ext cx="502920" cy="1360627"/>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0" y="4187952"/>
            <a:ext cx="502920" cy="1207008"/>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770986"/>
            <a:ext cx="502920" cy="1623974"/>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3946551"/>
            <a:ext cx="502920" cy="1448409"/>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3529584"/>
            <a:ext cx="502920" cy="1865376"/>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18320" y="3639312"/>
            <a:ext cx="502920" cy="1755648"/>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469880" y="3200400"/>
            <a:ext cx="502920" cy="219456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05840" y="5394960"/>
            <a:ext cx="9966960"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623560"/>
            <a:ext cx="10908792" cy="365760"/>
          </a:xfrm>
          <a:prstGeom prst="rect">
            <a:avLst/>
          </a:prstGeom>
          <a:noFill/>
        </p:spPr>
        <p:txBody>
          <a:bodyPr wrap="square" anchor="t" lIns="0" rIns="0" tIns="0" bIns="0">
            <a:spAutoFit/>
          </a:bodyPr>
          <a:lstStyle/>
          <a:p>
            <a:pPr algn="l">
              <a:spcBef>
                <a:spcPts val="0"/>
              </a:spcBef>
              <a:spcAft>
                <a:spcPts val="0"/>
              </a:spcAft>
            </a:pPr>
            <a:r>
              <a:rPr sz="850" b="0" i="1">
                <a:solidFill>
                  <a:srgbClr val="869397"/>
                </a:solidFill>
                <a:latin typeface="Aptos"/>
                <a:cs typeface="Aptos"/>
              </a:rPr>
              <a:t>Source: basis note at 8.5pt Slate.</a:t>
            </a:r>
          </a:p>
        </p:txBody>
      </p:sp>
      <p:sp>
        <p:nvSpPr>
          <p:cNvPr id="25" name="TextBox 24"/>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6" name="TextBox 25"/>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27" name="Picture 26" descr="logo_navy.png"/>
          <p:cNvPicPr>
            <a:picLocks noChangeAspect="1"/>
          </p:cNvPicPr>
          <p:nvPr/>
        </p:nvPicPr>
        <p:blipFill>
          <a:blip r:embed="rId2"/>
          <a:stretch>
            <a:fillRect/>
          </a:stretch>
        </p:blipFill>
        <p:spPr>
          <a:xfrm>
            <a:off x="10881360" y="329184"/>
            <a:ext cx="600980" cy="347472"/>
          </a:xfrm>
          <a:prstGeom prst="rect">
            <a:avLst/>
          </a:prstGeom>
        </p:spPr>
      </p:pic>
      <p:sp>
        <p:nvSpPr>
          <p:cNvPr id="28" name="TextBox 27"/>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T09 · KPI strip + chart frame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Headline states the movement the chart shows.</a:t>
            </a:r>
          </a:p>
        </p:txBody>
      </p:sp>
      <p:sp>
        <p:nvSpPr>
          <p:cNvPr id="5" name="Rectangle 4"/>
          <p:cNvSpPr/>
          <p:nvPr/>
        </p:nvSpPr>
        <p:spPr>
          <a:xfrm>
            <a:off x="822960" y="4023360"/>
            <a:ext cx="457200" cy="118872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24297" y="4166007"/>
            <a:ext cx="457200" cy="1046073"/>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5634" y="3785616"/>
            <a:ext cx="457200" cy="1426464"/>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26971" y="3952037"/>
            <a:ext cx="457200" cy="1260043"/>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28308" y="3547873"/>
            <a:ext cx="457200" cy="1664207"/>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29645" y="3690519"/>
            <a:ext cx="457200" cy="1521561"/>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0982" y="3310128"/>
            <a:ext cx="457200" cy="1901952"/>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072384"/>
            <a:ext cx="457200" cy="2139696"/>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5212080"/>
            <a:ext cx="6766560"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440680"/>
            <a:ext cx="6766560" cy="365760"/>
          </a:xfrm>
          <a:prstGeom prst="rect">
            <a:avLst/>
          </a:prstGeom>
          <a:noFill/>
        </p:spPr>
        <p:txBody>
          <a:bodyPr wrap="square" anchor="t" lIns="0" rIns="0" tIns="0" bIns="0">
            <a:spAutoFit/>
          </a:bodyPr>
          <a:lstStyle/>
          <a:p>
            <a:pPr algn="l">
              <a:spcBef>
                <a:spcPts val="0"/>
              </a:spcBef>
              <a:spcAft>
                <a:spcPts val="0"/>
              </a:spcAft>
            </a:pPr>
            <a:r>
              <a:rPr sz="850" b="0" i="1">
                <a:solidFill>
                  <a:srgbClr val="869397"/>
                </a:solidFill>
                <a:latin typeface="Aptos"/>
                <a:cs typeface="Aptos"/>
              </a:rPr>
              <a:t>Source: basis note.</a:t>
            </a:r>
          </a:p>
        </p:txBody>
      </p:sp>
      <p:sp>
        <p:nvSpPr>
          <p:cNvPr id="15" name="Rounded Rectangle 14"/>
          <p:cNvSpPr/>
          <p:nvPr/>
        </p:nvSpPr>
        <p:spPr>
          <a:xfrm>
            <a:off x="8092440" y="1554480"/>
            <a:ext cx="3456432" cy="4206240"/>
          </a:xfrm>
          <a:prstGeom prst="roundRect">
            <a:avLst>
              <a:gd name="adj" fmla="val 2380"/>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1755648"/>
            <a:ext cx="3017520" cy="3840480"/>
          </a:xfrm>
          <a:prstGeom prst="rect">
            <a:avLst/>
          </a:prstGeom>
          <a:noFill/>
        </p:spPr>
        <p:txBody>
          <a:bodyPr wrap="square" anchor="t" lIns="0" rIns="0" tIns="0" bIns="0">
            <a:spAutoFit/>
          </a:bodyPr>
          <a:lstStyle/>
          <a:p>
            <a:pPr algn="l">
              <a:spcBef>
                <a:spcPts val="0"/>
              </a:spcBef>
              <a:spcAft>
                <a:spcPts val="600"/>
              </a:spcAft>
            </a:pPr>
            <a:r>
              <a:rPr sz="900" b="1" i="0" spc="100">
                <a:solidFill>
                  <a:srgbClr val="35464F"/>
                </a:solidFill>
                <a:latin typeface="Aptos"/>
                <a:cs typeface="Aptos"/>
              </a:rPr>
              <a:t>WHAT THIS SHOWS</a:t>
            </a:r>
          </a:p>
          <a:p>
            <a:pPr algn="l">
              <a:lnSpc>
                <a:spcPct val="124000"/>
              </a:lnSpc>
              <a:spcBef>
                <a:spcPts val="0"/>
              </a:spcBef>
              <a:spcAft>
                <a:spcPts val="800"/>
              </a:spcAft>
            </a:pPr>
            <a:r>
              <a:rPr sz="1300" b="0" i="0">
                <a:solidFill>
                  <a:srgbClr val="35464F"/>
                </a:solidFill>
                <a:latin typeface="Aptos"/>
                <a:cs typeface="Aptos"/>
              </a:rPr>
              <a:t>First observation stated plainly at 13pt.</a:t>
            </a:r>
          </a:p>
          <a:p>
            <a:pPr algn="l">
              <a:lnSpc>
                <a:spcPct val="124000"/>
              </a:lnSpc>
              <a:spcBef>
                <a:spcPts val="0"/>
              </a:spcBef>
              <a:spcAft>
                <a:spcPts val="800"/>
              </a:spcAft>
            </a:pPr>
            <a:r>
              <a:rPr sz="1300" b="0" i="0">
                <a:solidFill>
                  <a:srgbClr val="35464F"/>
                </a:solidFill>
                <a:latin typeface="Aptos"/>
                <a:cs typeface="Aptos"/>
              </a:rPr>
              <a:t>Second observation with its implication.</a:t>
            </a:r>
          </a:p>
          <a:p>
            <a:pPr algn="l">
              <a:lnSpc>
                <a:spcPct val="124000"/>
              </a:lnSpc>
              <a:spcBef>
                <a:spcPts val="0"/>
              </a:spcBef>
              <a:spcAft>
                <a:spcPts val="800"/>
              </a:spcAft>
            </a:pPr>
            <a:r>
              <a:rPr sz="1300" b="0" i="0">
                <a:solidFill>
                  <a:srgbClr val="35464F"/>
                </a:solidFill>
                <a:latin typeface="Aptos"/>
                <a:cs typeface="Aptos"/>
              </a:rPr>
              <a:t>Third observation, including any caveat.</a:t>
            </a:r>
          </a:p>
        </p:txBody>
      </p:sp>
      <p:sp>
        <p:nvSpPr>
          <p:cNvPr id="17" name="TextBox 1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8" name="TextBox 1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19" name="Picture 18" descr="logo_navy.png"/>
          <p:cNvPicPr>
            <a:picLocks noChangeAspect="1"/>
          </p:cNvPicPr>
          <p:nvPr/>
        </p:nvPicPr>
        <p:blipFill>
          <a:blip r:embed="rId2"/>
          <a:stretch>
            <a:fillRect/>
          </a:stretch>
        </p:blipFill>
        <p:spPr>
          <a:xfrm>
            <a:off x="10881360" y="329184"/>
            <a:ext cx="600980" cy="347472"/>
          </a:xfrm>
          <a:prstGeom prst="rect">
            <a:avLst/>
          </a:prstGeom>
        </p:spPr>
      </p:pic>
      <p:sp>
        <p:nvSpPr>
          <p:cNvPr id="20" name="TextBox 19"/>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T10 · Chart + commentary rail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Dense tables use pathway markers, never full row tints.</a:t>
            </a:r>
          </a:p>
        </p:txBody>
      </p:sp>
      <p:sp>
        <p:nvSpPr>
          <p:cNvPr id="5" name="TextBox 4"/>
          <p:cNvSpPr txBox="1"/>
          <p:nvPr/>
        </p:nvSpPr>
        <p:spPr>
          <a:xfrm>
            <a:off x="932688" y="1572768"/>
            <a:ext cx="265176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COLUMN ONE</a:t>
            </a:r>
          </a:p>
        </p:txBody>
      </p:sp>
      <p:sp>
        <p:nvSpPr>
          <p:cNvPr id="6" name="TextBox 5"/>
          <p:cNvSpPr txBox="1"/>
          <p:nvPr/>
        </p:nvSpPr>
        <p:spPr>
          <a:xfrm>
            <a:off x="3749039" y="1572768"/>
            <a:ext cx="28346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COLUMN TWO</a:t>
            </a:r>
          </a:p>
        </p:txBody>
      </p:sp>
      <p:sp>
        <p:nvSpPr>
          <p:cNvPr id="7" name="TextBox 6"/>
          <p:cNvSpPr txBox="1"/>
          <p:nvPr/>
        </p:nvSpPr>
        <p:spPr>
          <a:xfrm>
            <a:off x="6766560" y="1572768"/>
            <a:ext cx="219456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COLUMN THREE</a:t>
            </a:r>
          </a:p>
        </p:txBody>
      </p:sp>
      <p:sp>
        <p:nvSpPr>
          <p:cNvPr id="8" name="TextBox 7"/>
          <p:cNvSpPr txBox="1"/>
          <p:nvPr/>
        </p:nvSpPr>
        <p:spPr>
          <a:xfrm>
            <a:off x="9098280" y="1572768"/>
            <a:ext cx="228600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COLUMN FOUR</a:t>
            </a:r>
          </a:p>
        </p:txBody>
      </p:sp>
      <p:sp>
        <p:nvSpPr>
          <p:cNvPr id="9" name="Rectangle 8"/>
          <p:cNvSpPr/>
          <p:nvPr/>
        </p:nvSpPr>
        <p:spPr>
          <a:xfrm>
            <a:off x="640080" y="1865376"/>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084832"/>
            <a:ext cx="38100" cy="475488"/>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84832"/>
            <a:ext cx="26517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12" name="TextBox 11"/>
          <p:cNvSpPr txBox="1"/>
          <p:nvPr/>
        </p:nvSpPr>
        <p:spPr>
          <a:xfrm>
            <a:off x="3749039" y="2084832"/>
            <a:ext cx="283464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13" name="TextBox 12"/>
          <p:cNvSpPr txBox="1"/>
          <p:nvPr/>
        </p:nvSpPr>
        <p:spPr>
          <a:xfrm>
            <a:off x="6766560" y="2084832"/>
            <a:ext cx="21945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14" name="TextBox 13"/>
          <p:cNvSpPr txBox="1"/>
          <p:nvPr/>
        </p:nvSpPr>
        <p:spPr>
          <a:xfrm>
            <a:off x="9098280" y="2084832"/>
            <a:ext cx="228600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15" name="Rectangle 14"/>
          <p:cNvSpPr/>
          <p:nvPr/>
        </p:nvSpPr>
        <p:spPr>
          <a:xfrm>
            <a:off x="640080" y="267004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798064"/>
            <a:ext cx="38100" cy="475488"/>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798064"/>
            <a:ext cx="26517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18" name="TextBox 17"/>
          <p:cNvSpPr txBox="1"/>
          <p:nvPr/>
        </p:nvSpPr>
        <p:spPr>
          <a:xfrm>
            <a:off x="3749039" y="2798064"/>
            <a:ext cx="283464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19" name="TextBox 18"/>
          <p:cNvSpPr txBox="1"/>
          <p:nvPr/>
        </p:nvSpPr>
        <p:spPr>
          <a:xfrm>
            <a:off x="6766560" y="2798064"/>
            <a:ext cx="21945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0" name="TextBox 19"/>
          <p:cNvSpPr txBox="1"/>
          <p:nvPr/>
        </p:nvSpPr>
        <p:spPr>
          <a:xfrm>
            <a:off x="9098280" y="2798064"/>
            <a:ext cx="228600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1" name="Rectangle 20"/>
          <p:cNvSpPr/>
          <p:nvPr/>
        </p:nvSpPr>
        <p:spPr>
          <a:xfrm>
            <a:off x="640080" y="338328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511296"/>
            <a:ext cx="38100" cy="475488"/>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3511296"/>
            <a:ext cx="26517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4" name="TextBox 23"/>
          <p:cNvSpPr txBox="1"/>
          <p:nvPr/>
        </p:nvSpPr>
        <p:spPr>
          <a:xfrm>
            <a:off x="3749039" y="3511296"/>
            <a:ext cx="283464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5" name="TextBox 24"/>
          <p:cNvSpPr txBox="1"/>
          <p:nvPr/>
        </p:nvSpPr>
        <p:spPr>
          <a:xfrm>
            <a:off x="6766560" y="3511296"/>
            <a:ext cx="21945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6" name="TextBox 25"/>
          <p:cNvSpPr txBox="1"/>
          <p:nvPr/>
        </p:nvSpPr>
        <p:spPr>
          <a:xfrm>
            <a:off x="9098280" y="3511296"/>
            <a:ext cx="228600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7" name="Rectangle 26"/>
          <p:cNvSpPr/>
          <p:nvPr/>
        </p:nvSpPr>
        <p:spPr>
          <a:xfrm>
            <a:off x="640080" y="4096512"/>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224528"/>
            <a:ext cx="26517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29" name="TextBox 28"/>
          <p:cNvSpPr txBox="1"/>
          <p:nvPr/>
        </p:nvSpPr>
        <p:spPr>
          <a:xfrm>
            <a:off x="3749039" y="4224528"/>
            <a:ext cx="283464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0" name="TextBox 29"/>
          <p:cNvSpPr txBox="1"/>
          <p:nvPr/>
        </p:nvSpPr>
        <p:spPr>
          <a:xfrm>
            <a:off x="6766560" y="4224528"/>
            <a:ext cx="21945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1" name="TextBox 30"/>
          <p:cNvSpPr txBox="1"/>
          <p:nvPr/>
        </p:nvSpPr>
        <p:spPr>
          <a:xfrm>
            <a:off x="9098280" y="4224528"/>
            <a:ext cx="228600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2" name="Rectangle 31"/>
          <p:cNvSpPr/>
          <p:nvPr/>
        </p:nvSpPr>
        <p:spPr>
          <a:xfrm>
            <a:off x="640080" y="4809744"/>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4937760"/>
            <a:ext cx="38100" cy="475488"/>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4937760"/>
            <a:ext cx="26517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5" name="TextBox 34"/>
          <p:cNvSpPr txBox="1"/>
          <p:nvPr/>
        </p:nvSpPr>
        <p:spPr>
          <a:xfrm>
            <a:off x="3749039" y="4937760"/>
            <a:ext cx="283464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6" name="TextBox 35"/>
          <p:cNvSpPr txBox="1"/>
          <p:nvPr/>
        </p:nvSpPr>
        <p:spPr>
          <a:xfrm>
            <a:off x="6766560" y="4937760"/>
            <a:ext cx="219456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7" name="TextBox 36"/>
          <p:cNvSpPr txBox="1"/>
          <p:nvPr/>
        </p:nvSpPr>
        <p:spPr>
          <a:xfrm>
            <a:off x="9098280" y="4937760"/>
            <a:ext cx="2286000" cy="5486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Row content at 12–13pt Graphite, numbers right-aligned.</a:t>
            </a:r>
          </a:p>
        </p:txBody>
      </p:sp>
      <p:sp>
        <p:nvSpPr>
          <p:cNvPr id="38" name="Rectangle 37"/>
          <p:cNvSpPr/>
          <p:nvPr/>
        </p:nvSpPr>
        <p:spPr>
          <a:xfrm>
            <a:off x="640080" y="552297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632704"/>
            <a:ext cx="10908792" cy="365760"/>
          </a:xfrm>
          <a:prstGeom prst="rect">
            <a:avLst/>
          </a:prstGeom>
          <a:noFill/>
        </p:spPr>
        <p:txBody>
          <a:bodyPr wrap="square" anchor="t" lIns="0" rIns="0" tIns="0" bIns="0">
            <a:spAutoFit/>
          </a:bodyPr>
          <a:lstStyle/>
          <a:p>
            <a:pPr algn="l">
              <a:spcBef>
                <a:spcPts val="0"/>
              </a:spcBef>
              <a:spcAft>
                <a:spcPts val="0"/>
              </a:spcAft>
            </a:pPr>
            <a:r>
              <a:rPr sz="900" b="0" i="1">
                <a:solidFill>
                  <a:srgbClr val="869397"/>
                </a:solidFill>
                <a:latin typeface="Aptos"/>
                <a:cs typeface="Aptos"/>
              </a:rPr>
              <a:t>Caveat or basis note at 9pt Slate italic.</a:t>
            </a:r>
          </a:p>
        </p:txBody>
      </p:sp>
      <p:sp>
        <p:nvSpPr>
          <p:cNvPr id="40" name="TextBox 39"/>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41" name="TextBox 40"/>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42" name="Picture 41" descr="logo_navy.png"/>
          <p:cNvPicPr>
            <a:picLocks noChangeAspect="1"/>
          </p:cNvPicPr>
          <p:nvPr/>
        </p:nvPicPr>
        <p:blipFill>
          <a:blip r:embed="rId2"/>
          <a:stretch>
            <a:fillRect/>
          </a:stretch>
        </p:blipFill>
        <p:spPr>
          <a:xfrm>
            <a:off x="10881360" y="329184"/>
            <a:ext cx="600980" cy="347472"/>
          </a:xfrm>
          <a:prstGeom prst="rect">
            <a:avLst/>
          </a:prstGeom>
        </p:spPr>
      </p:pic>
      <p:sp>
        <p:nvSpPr>
          <p:cNvPr id="43" name="TextBox 42"/>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T11 · Full institutional table — pathway markers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Row cards group one entity per row with aligned columns.</a:t>
            </a:r>
          </a:p>
        </p:txBody>
      </p:sp>
      <p:sp>
        <p:nvSpPr>
          <p:cNvPr id="5" name="TextBox 4"/>
          <p:cNvSpPr txBox="1"/>
          <p:nvPr/>
        </p:nvSpPr>
        <p:spPr>
          <a:xfrm>
            <a:off x="932688" y="1554480"/>
            <a:ext cx="278892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ENTITY</a:t>
            </a:r>
          </a:p>
        </p:txBody>
      </p:sp>
      <p:sp>
        <p:nvSpPr>
          <p:cNvPr id="6" name="TextBox 5"/>
          <p:cNvSpPr txBox="1"/>
          <p:nvPr/>
        </p:nvSpPr>
        <p:spPr>
          <a:xfrm>
            <a:off x="3950208" y="1554480"/>
            <a:ext cx="3977639"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DETAIL</a:t>
            </a:r>
          </a:p>
        </p:txBody>
      </p:sp>
      <p:sp>
        <p:nvSpPr>
          <p:cNvPr id="7" name="TextBox 6"/>
          <p:cNvSpPr txBox="1"/>
          <p:nvPr/>
        </p:nvSpPr>
        <p:spPr>
          <a:xfrm>
            <a:off x="8202168" y="1554480"/>
            <a:ext cx="315468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IMPLICATION</a:t>
            </a:r>
          </a:p>
        </p:txBody>
      </p:sp>
      <p:sp>
        <p:nvSpPr>
          <p:cNvPr id="8" name="Rounded Rectangle 7"/>
          <p:cNvSpPr/>
          <p:nvPr/>
        </p:nvSpPr>
        <p:spPr>
          <a:xfrm>
            <a:off x="640080" y="1920240"/>
            <a:ext cx="10908792" cy="1225296"/>
          </a:xfrm>
          <a:prstGeom prst="roundRect">
            <a:avLst>
              <a:gd name="adj" fmla="val 6716"/>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084832"/>
            <a:ext cx="38100" cy="89611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1031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Row title</a:t>
            </a:r>
          </a:p>
          <a:p>
            <a:pPr algn="l">
              <a:spcBef>
                <a:spcPts val="0"/>
              </a:spcBef>
              <a:spcAft>
                <a:spcPts val="0"/>
              </a:spcAft>
            </a:pPr>
            <a:r>
              <a:rPr sz="950" b="1" i="0" spc="120">
                <a:solidFill>
                  <a:srgbClr val="4682B4"/>
                </a:solidFill>
                <a:latin typeface="Aptos"/>
                <a:cs typeface="Aptos"/>
              </a:rPr>
              <a:t>MARKER A</a:t>
            </a:r>
          </a:p>
        </p:txBody>
      </p:sp>
      <p:sp>
        <p:nvSpPr>
          <p:cNvPr id="11" name="TextBox 10"/>
          <p:cNvSpPr txBox="1"/>
          <p:nvPr/>
        </p:nvSpPr>
        <p:spPr>
          <a:xfrm>
            <a:off x="3950208" y="2121408"/>
            <a:ext cx="3977639" cy="859536"/>
          </a:xfrm>
          <a:prstGeom prst="rect">
            <a:avLst/>
          </a:prstGeom>
          <a:noFill/>
        </p:spPr>
        <p:txBody>
          <a:bodyPr wrap="square" anchor="t" lIns="0" rIns="0" tIns="0" bIns="0">
            <a:spAutoFit/>
          </a:bodyPr>
          <a:lstStyle/>
          <a:p>
            <a:pPr algn="l">
              <a:lnSpc>
                <a:spcPct val="122000"/>
              </a:lnSpc>
              <a:spcBef>
                <a:spcPts val="0"/>
              </a:spcBef>
              <a:spcAft>
                <a:spcPts val="0"/>
              </a:spcAft>
            </a:pPr>
            <a:r>
              <a:rPr sz="1300" b="0" i="0">
                <a:solidFill>
                  <a:srgbClr val="35464F"/>
                </a:solidFill>
                <a:latin typeface="Aptos"/>
                <a:cs typeface="Aptos"/>
              </a:rPr>
              <a:t>Aligned column content at 13pt Graphite.</a:t>
            </a:r>
          </a:p>
        </p:txBody>
      </p:sp>
      <p:sp>
        <p:nvSpPr>
          <p:cNvPr id="12" name="TextBox 11"/>
          <p:cNvSpPr txBox="1"/>
          <p:nvPr/>
        </p:nvSpPr>
        <p:spPr>
          <a:xfrm>
            <a:off x="8202168" y="2121408"/>
            <a:ext cx="3154680" cy="859536"/>
          </a:xfrm>
          <a:prstGeom prst="rect">
            <a:avLst/>
          </a:prstGeom>
          <a:noFill/>
        </p:spPr>
        <p:txBody>
          <a:bodyPr wrap="square" anchor="t" lIns="0" rIns="0" tIns="0" bIns="0">
            <a:spAutoFit/>
          </a:bodyPr>
          <a:lstStyle/>
          <a:p>
            <a:pPr algn="l">
              <a:lnSpc>
                <a:spcPct val="122000"/>
              </a:lnSpc>
              <a:spcBef>
                <a:spcPts val="0"/>
              </a:spcBef>
              <a:spcAft>
                <a:spcPts val="0"/>
              </a:spcAft>
            </a:pPr>
            <a:r>
              <a:rPr sz="1300" b="0" i="0">
                <a:solidFill>
                  <a:srgbClr val="35464F"/>
                </a:solidFill>
                <a:latin typeface="Aptos"/>
                <a:cs typeface="Aptos"/>
              </a:rPr>
              <a:t>Aligned column content at 13pt Graphite.</a:t>
            </a:r>
          </a:p>
        </p:txBody>
      </p:sp>
      <p:sp>
        <p:nvSpPr>
          <p:cNvPr id="13" name="Rounded Rectangle 12"/>
          <p:cNvSpPr/>
          <p:nvPr/>
        </p:nvSpPr>
        <p:spPr>
          <a:xfrm>
            <a:off x="640080" y="3291840"/>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456432"/>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4747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Row title</a:t>
            </a:r>
          </a:p>
          <a:p>
            <a:pPr algn="l">
              <a:spcBef>
                <a:spcPts val="0"/>
              </a:spcBef>
              <a:spcAft>
                <a:spcPts val="0"/>
              </a:spcAft>
            </a:pPr>
            <a:r>
              <a:rPr sz="950" b="1" i="0" spc="120">
                <a:solidFill>
                  <a:srgbClr val="008080"/>
                </a:solidFill>
                <a:latin typeface="Aptos"/>
                <a:cs typeface="Aptos"/>
              </a:rPr>
              <a:t>MARKER B</a:t>
            </a:r>
          </a:p>
        </p:txBody>
      </p:sp>
      <p:sp>
        <p:nvSpPr>
          <p:cNvPr id="16" name="TextBox 15"/>
          <p:cNvSpPr txBox="1"/>
          <p:nvPr/>
        </p:nvSpPr>
        <p:spPr>
          <a:xfrm>
            <a:off x="3950208" y="3493008"/>
            <a:ext cx="3977639" cy="859536"/>
          </a:xfrm>
          <a:prstGeom prst="rect">
            <a:avLst/>
          </a:prstGeom>
          <a:noFill/>
        </p:spPr>
        <p:txBody>
          <a:bodyPr wrap="square" anchor="t" lIns="0" rIns="0" tIns="0" bIns="0">
            <a:spAutoFit/>
          </a:bodyPr>
          <a:lstStyle/>
          <a:p>
            <a:pPr algn="l">
              <a:lnSpc>
                <a:spcPct val="122000"/>
              </a:lnSpc>
              <a:spcBef>
                <a:spcPts val="0"/>
              </a:spcBef>
              <a:spcAft>
                <a:spcPts val="0"/>
              </a:spcAft>
            </a:pPr>
            <a:r>
              <a:rPr sz="1300" b="0" i="0">
                <a:solidFill>
                  <a:srgbClr val="35464F"/>
                </a:solidFill>
                <a:latin typeface="Aptos"/>
                <a:cs typeface="Aptos"/>
              </a:rPr>
              <a:t>Aligned column content at 13pt Graphite.</a:t>
            </a:r>
          </a:p>
        </p:txBody>
      </p:sp>
      <p:sp>
        <p:nvSpPr>
          <p:cNvPr id="17" name="TextBox 16"/>
          <p:cNvSpPr txBox="1"/>
          <p:nvPr/>
        </p:nvSpPr>
        <p:spPr>
          <a:xfrm>
            <a:off x="8202168" y="3493008"/>
            <a:ext cx="3154680" cy="859536"/>
          </a:xfrm>
          <a:prstGeom prst="rect">
            <a:avLst/>
          </a:prstGeom>
          <a:noFill/>
        </p:spPr>
        <p:txBody>
          <a:bodyPr wrap="square" anchor="t" lIns="0" rIns="0" tIns="0" bIns="0">
            <a:spAutoFit/>
          </a:bodyPr>
          <a:lstStyle/>
          <a:p>
            <a:pPr algn="l">
              <a:lnSpc>
                <a:spcPct val="122000"/>
              </a:lnSpc>
              <a:spcBef>
                <a:spcPts val="0"/>
              </a:spcBef>
              <a:spcAft>
                <a:spcPts val="0"/>
              </a:spcAft>
            </a:pPr>
            <a:r>
              <a:rPr sz="1300" b="0" i="0">
                <a:solidFill>
                  <a:srgbClr val="35464F"/>
                </a:solidFill>
                <a:latin typeface="Aptos"/>
                <a:cs typeface="Aptos"/>
              </a:rPr>
              <a:t>Aligned column content at 13pt Graphite.</a:t>
            </a:r>
          </a:p>
        </p:txBody>
      </p:sp>
      <p:sp>
        <p:nvSpPr>
          <p:cNvPr id="18" name="Rounded Rectangle 17"/>
          <p:cNvSpPr/>
          <p:nvPr/>
        </p:nvSpPr>
        <p:spPr>
          <a:xfrm>
            <a:off x="640080" y="4663440"/>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828032"/>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63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Row title</a:t>
            </a:r>
          </a:p>
          <a:p>
            <a:pPr algn="l">
              <a:spcBef>
                <a:spcPts val="0"/>
              </a:spcBef>
              <a:spcAft>
                <a:spcPts val="0"/>
              </a:spcAft>
            </a:pPr>
            <a:r>
              <a:rPr sz="950" b="1" i="0" spc="120">
                <a:solidFill>
                  <a:srgbClr val="008080"/>
                </a:solidFill>
                <a:latin typeface="Aptos"/>
                <a:cs typeface="Aptos"/>
              </a:rPr>
              <a:t>MARKER B</a:t>
            </a:r>
          </a:p>
        </p:txBody>
      </p:sp>
      <p:sp>
        <p:nvSpPr>
          <p:cNvPr id="21" name="TextBox 20"/>
          <p:cNvSpPr txBox="1"/>
          <p:nvPr/>
        </p:nvSpPr>
        <p:spPr>
          <a:xfrm>
            <a:off x="3950208" y="4864608"/>
            <a:ext cx="3977639" cy="859536"/>
          </a:xfrm>
          <a:prstGeom prst="rect">
            <a:avLst/>
          </a:prstGeom>
          <a:noFill/>
        </p:spPr>
        <p:txBody>
          <a:bodyPr wrap="square" anchor="t" lIns="0" rIns="0" tIns="0" bIns="0">
            <a:spAutoFit/>
          </a:bodyPr>
          <a:lstStyle/>
          <a:p>
            <a:pPr algn="l">
              <a:lnSpc>
                <a:spcPct val="122000"/>
              </a:lnSpc>
              <a:spcBef>
                <a:spcPts val="0"/>
              </a:spcBef>
              <a:spcAft>
                <a:spcPts val="0"/>
              </a:spcAft>
            </a:pPr>
            <a:r>
              <a:rPr sz="1300" b="0" i="0">
                <a:solidFill>
                  <a:srgbClr val="35464F"/>
                </a:solidFill>
                <a:latin typeface="Aptos"/>
                <a:cs typeface="Aptos"/>
              </a:rPr>
              <a:t>Aligned column content at 13pt Graphite.</a:t>
            </a:r>
          </a:p>
        </p:txBody>
      </p:sp>
      <p:sp>
        <p:nvSpPr>
          <p:cNvPr id="22" name="TextBox 21"/>
          <p:cNvSpPr txBox="1"/>
          <p:nvPr/>
        </p:nvSpPr>
        <p:spPr>
          <a:xfrm>
            <a:off x="8202168" y="4864608"/>
            <a:ext cx="3154680" cy="859536"/>
          </a:xfrm>
          <a:prstGeom prst="rect">
            <a:avLst/>
          </a:prstGeom>
          <a:noFill/>
        </p:spPr>
        <p:txBody>
          <a:bodyPr wrap="square" anchor="t" lIns="0" rIns="0" tIns="0" bIns="0">
            <a:spAutoFit/>
          </a:bodyPr>
          <a:lstStyle/>
          <a:p>
            <a:pPr algn="l">
              <a:lnSpc>
                <a:spcPct val="122000"/>
              </a:lnSpc>
              <a:spcBef>
                <a:spcPts val="0"/>
              </a:spcBef>
              <a:spcAft>
                <a:spcPts val="0"/>
              </a:spcAft>
            </a:pPr>
            <a:r>
              <a:rPr sz="1300" b="0" i="0">
                <a:solidFill>
                  <a:srgbClr val="35464F"/>
                </a:solidFill>
                <a:latin typeface="Aptos"/>
                <a:cs typeface="Aptos"/>
              </a:rPr>
              <a:t>Aligned column content at 13pt Graphite.</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
        <p:nvSpPr>
          <p:cNvPr id="26" name="TextBox 25"/>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T12 · Horizontal row cards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84632"/>
            <a:ext cx="100584" cy="100584"/>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38912"/>
            <a:ext cx="82296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002B5C"/>
                </a:solidFill>
                <a:latin typeface="Aptos"/>
                <a:cs typeface="Aptos"/>
              </a:rPr>
              <a:t>For decision</a:t>
            </a:r>
          </a:p>
        </p:txBody>
      </p:sp>
      <p:sp>
        <p:nvSpPr>
          <p:cNvPr id="5" name="TextBox 4"/>
          <p:cNvSpPr txBox="1"/>
          <p:nvPr/>
        </p:nvSpPr>
        <p:spPr>
          <a:xfrm>
            <a:off x="640080" y="749808"/>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decision asked of the Board, stated as the headline.</a:t>
            </a:r>
          </a:p>
        </p:txBody>
      </p:sp>
      <p:sp>
        <p:nvSpPr>
          <p:cNvPr id="6" name="Rounded Rectangle 5"/>
          <p:cNvSpPr/>
          <p:nvPr/>
        </p:nvSpPr>
        <p:spPr>
          <a:xfrm>
            <a:off x="640080" y="18470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842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01   </a:t>
            </a:r>
            <a:r>
              <a:rPr sz="1500" b="0" i="0" spc="100">
                <a:solidFill>
                  <a:srgbClr val="002147"/>
                </a:solidFill>
                <a:latin typeface="Aptos Display"/>
                <a:cs typeface="Aptos Display"/>
              </a:rPr>
              <a:t>ENDORSE</a:t>
            </a:r>
          </a:p>
          <a:p>
            <a:pPr algn="l">
              <a:lnSpc>
                <a:spcPct val="118000"/>
              </a:lnSpc>
              <a:spcBef>
                <a:spcPts val="0"/>
              </a:spcBef>
              <a:spcAft>
                <a:spcPts val="0"/>
              </a:spcAft>
            </a:pPr>
            <a:r>
              <a:rPr sz="1300" b="0" i="0">
                <a:solidFill>
                  <a:srgbClr val="35464F"/>
                </a:solidFill>
                <a:latin typeface="Aptos"/>
                <a:cs typeface="Aptos"/>
              </a:rPr>
              <a:t>The matter for decision at 13pt Graphite, one to three lines.</a:t>
            </a:r>
          </a:p>
        </p:txBody>
      </p:sp>
      <p:sp>
        <p:nvSpPr>
          <p:cNvPr id="8" name="Rounded Rectangle 7"/>
          <p:cNvSpPr/>
          <p:nvPr/>
        </p:nvSpPr>
        <p:spPr>
          <a:xfrm>
            <a:off x="6190488" y="18470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9944" y="19842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02   </a:t>
            </a:r>
            <a:r>
              <a:rPr sz="1500" b="0" i="0" spc="100">
                <a:solidFill>
                  <a:srgbClr val="002147"/>
                </a:solidFill>
                <a:latin typeface="Aptos Display"/>
                <a:cs typeface="Aptos Display"/>
              </a:rPr>
              <a:t>SUPPORT</a:t>
            </a:r>
          </a:p>
          <a:p>
            <a:pPr algn="l">
              <a:lnSpc>
                <a:spcPct val="118000"/>
              </a:lnSpc>
              <a:spcBef>
                <a:spcPts val="0"/>
              </a:spcBef>
              <a:spcAft>
                <a:spcPts val="0"/>
              </a:spcAft>
            </a:pPr>
            <a:r>
              <a:rPr sz="1300" b="0" i="0">
                <a:solidFill>
                  <a:srgbClr val="35464F"/>
                </a:solidFill>
                <a:latin typeface="Aptos"/>
                <a:cs typeface="Aptos"/>
              </a:rPr>
              <a:t>The matter for decision at 13pt Graphite, one to three lines.</a:t>
            </a:r>
          </a:p>
        </p:txBody>
      </p:sp>
      <p:sp>
        <p:nvSpPr>
          <p:cNvPr id="10" name="Rounded Rectangle 9"/>
          <p:cNvSpPr/>
          <p:nvPr/>
        </p:nvSpPr>
        <p:spPr>
          <a:xfrm>
            <a:off x="640080" y="32186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3558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03   </a:t>
            </a:r>
            <a:r>
              <a:rPr sz="1500" b="0" i="0" spc="100">
                <a:solidFill>
                  <a:srgbClr val="002147"/>
                </a:solidFill>
                <a:latin typeface="Aptos Display"/>
                <a:cs typeface="Aptos Display"/>
              </a:rPr>
              <a:t>ENDORSE</a:t>
            </a:r>
          </a:p>
          <a:p>
            <a:pPr algn="l">
              <a:lnSpc>
                <a:spcPct val="118000"/>
              </a:lnSpc>
              <a:spcBef>
                <a:spcPts val="0"/>
              </a:spcBef>
              <a:spcAft>
                <a:spcPts val="0"/>
              </a:spcAft>
            </a:pPr>
            <a:r>
              <a:rPr sz="1300" b="0" i="0">
                <a:solidFill>
                  <a:srgbClr val="35464F"/>
                </a:solidFill>
                <a:latin typeface="Aptos"/>
                <a:cs typeface="Aptos"/>
              </a:rPr>
              <a:t>The matter for decision at 13pt Graphite, one to three lines.</a:t>
            </a:r>
          </a:p>
        </p:txBody>
      </p:sp>
      <p:sp>
        <p:nvSpPr>
          <p:cNvPr id="12" name="Rounded Rectangle 11"/>
          <p:cNvSpPr/>
          <p:nvPr/>
        </p:nvSpPr>
        <p:spPr>
          <a:xfrm>
            <a:off x="6190488" y="32186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33558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04   </a:t>
            </a:r>
            <a:r>
              <a:rPr sz="1500" b="0" i="0" spc="100">
                <a:solidFill>
                  <a:srgbClr val="002147"/>
                </a:solidFill>
                <a:latin typeface="Aptos Display"/>
                <a:cs typeface="Aptos Display"/>
              </a:rPr>
              <a:t>AGREE</a:t>
            </a:r>
          </a:p>
          <a:p>
            <a:pPr algn="l">
              <a:lnSpc>
                <a:spcPct val="118000"/>
              </a:lnSpc>
              <a:spcBef>
                <a:spcPts val="0"/>
              </a:spcBef>
              <a:spcAft>
                <a:spcPts val="0"/>
              </a:spcAft>
            </a:pPr>
            <a:r>
              <a:rPr sz="1300" b="0" i="0">
                <a:solidFill>
                  <a:srgbClr val="35464F"/>
                </a:solidFill>
                <a:latin typeface="Aptos"/>
                <a:cs typeface="Aptos"/>
              </a:rPr>
              <a:t>The matter for decision at 13pt Graphite, one to three lines.</a:t>
            </a:r>
          </a:p>
        </p:txBody>
      </p:sp>
      <p:sp>
        <p:nvSpPr>
          <p:cNvPr id="14" name="Rounded Rectangle 13"/>
          <p:cNvSpPr/>
          <p:nvPr/>
        </p:nvSpPr>
        <p:spPr>
          <a:xfrm>
            <a:off x="640080" y="4663440"/>
            <a:ext cx="10908792" cy="969264"/>
          </a:xfrm>
          <a:prstGeom prst="roundRect">
            <a:avLst>
              <a:gd name="adj" fmla="val 849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782312"/>
            <a:ext cx="10396728" cy="777240"/>
          </a:xfrm>
          <a:prstGeom prst="rect">
            <a:avLst/>
          </a:prstGeom>
          <a:noFill/>
        </p:spPr>
        <p:txBody>
          <a:bodyPr wrap="square" anchor="t" lIns="0" rIns="0" tIns="0" bIns="0">
            <a:spAutoFit/>
          </a:bodyPr>
          <a:lstStyle/>
          <a:p>
            <a:pPr algn="l">
              <a:spcBef>
                <a:spcPts val="0"/>
              </a:spcBef>
              <a:spcAft>
                <a:spcPts val="500"/>
              </a:spcAft>
            </a:pPr>
            <a:r>
              <a:rPr sz="900" b="1" i="0" spc="120">
                <a:solidFill>
                  <a:srgbClr val="D5DDE6"/>
                </a:solidFill>
                <a:latin typeface="Aptos"/>
                <a:cs typeface="Aptos"/>
              </a:rPr>
              <a:t>GOVERNING PRINCIPLE</a:t>
            </a:r>
          </a:p>
          <a:p>
            <a:pPr algn="l">
              <a:lnSpc>
                <a:spcPct val="122000"/>
              </a:lnSpc>
              <a:spcBef>
                <a:spcPts val="0"/>
              </a:spcBef>
              <a:spcAft>
                <a:spcPts val="0"/>
              </a:spcAft>
            </a:pPr>
            <a:r>
              <a:rPr sz="1300" b="0" i="0">
                <a:solidFill>
                  <a:srgbClr val="FFFFFF"/>
                </a:solidFill>
                <a:latin typeface="Aptos"/>
                <a:cs typeface="Aptos"/>
              </a:rPr>
              <a:t>The principle that governs the decision, in white at 13pt on Deep Navy.</a:t>
            </a:r>
          </a:p>
        </p:txBody>
      </p:sp>
      <p:sp>
        <p:nvSpPr>
          <p:cNvPr id="16" name="TextBox 15"/>
          <p:cNvSpPr txBox="1"/>
          <p:nvPr/>
        </p:nvSpPr>
        <p:spPr>
          <a:xfrm>
            <a:off x="640080" y="5852160"/>
            <a:ext cx="10908792" cy="274320"/>
          </a:xfrm>
          <a:prstGeom prst="rect">
            <a:avLst/>
          </a:prstGeom>
          <a:noFill/>
        </p:spPr>
        <p:txBody>
          <a:bodyPr wrap="square" anchor="t" lIns="0" rIns="0" tIns="0" bIns="0">
            <a:spAutoFit/>
          </a:bodyPr>
          <a:lstStyle/>
          <a:p>
            <a:pPr algn="l">
              <a:spcBef>
                <a:spcPts val="0"/>
              </a:spcBef>
              <a:spcAft>
                <a:spcPts val="0"/>
              </a:spcAft>
            </a:pPr>
            <a:r>
              <a:rPr sz="850" b="0" i="1">
                <a:solidFill>
                  <a:srgbClr val="869397"/>
                </a:solidFill>
                <a:latin typeface="Aptos"/>
                <a:cs typeface="Aptos"/>
              </a:rPr>
              <a:t>Footnote on the status of resolutions at 8.5pt.</a:t>
            </a:r>
          </a:p>
        </p:txBody>
      </p:sp>
      <p:sp>
        <p:nvSpPr>
          <p:cNvPr id="17" name="TextBox 1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8" name="TextBox 1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19" name="Picture 18" descr="logo_navy.png"/>
          <p:cNvPicPr>
            <a:picLocks noChangeAspect="1"/>
          </p:cNvPicPr>
          <p:nvPr/>
        </p:nvPicPr>
        <p:blipFill>
          <a:blip r:embed="rId2"/>
          <a:stretch>
            <a:fillRect/>
          </a:stretch>
        </p:blipFill>
        <p:spPr>
          <a:xfrm>
            <a:off x="10881360" y="329184"/>
            <a:ext cx="600980" cy="347472"/>
          </a:xfrm>
          <a:prstGeom prst="rect">
            <a:avLst/>
          </a:prstGeom>
        </p:spPr>
      </p:pic>
      <p:sp>
        <p:nvSpPr>
          <p:cNvPr id="20" name="TextBox 19"/>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T13 · Decision — light (default)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84632"/>
            <a:ext cx="100584" cy="100584"/>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38912"/>
            <a:ext cx="82296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FFFFFF"/>
                </a:solidFill>
                <a:latin typeface="Aptos"/>
                <a:cs typeface="Aptos"/>
              </a:rPr>
              <a:t>Emphasis variant — reserve for the pivotal moment</a:t>
            </a:r>
          </a:p>
        </p:txBody>
      </p:sp>
      <p:sp>
        <p:nvSpPr>
          <p:cNvPr id="5" name="TextBox 4"/>
          <p:cNvSpPr txBox="1"/>
          <p:nvPr/>
        </p:nvSpPr>
        <p:spPr>
          <a:xfrm>
            <a:off x="640080" y="749808"/>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FFFFFF"/>
                </a:solidFill>
                <a:latin typeface="Aptos Display"/>
                <a:cs typeface="Aptos Display"/>
              </a:rPr>
              <a:t>Dark-field slide reserved for the deck's most consequential message.</a:t>
            </a:r>
          </a:p>
        </p:txBody>
      </p:sp>
      <p:sp>
        <p:nvSpPr>
          <p:cNvPr id="6" name="Rounded Rectangle 5"/>
          <p:cNvSpPr/>
          <p:nvPr/>
        </p:nvSpPr>
        <p:spPr>
          <a:xfrm>
            <a:off x="640080" y="2103120"/>
            <a:ext cx="10908792" cy="2194560"/>
          </a:xfrm>
          <a:prstGeom prst="roundRect">
            <a:avLst>
              <a:gd name="adj" fmla="val 3750"/>
            </a:avLst>
          </a:prstGeom>
          <a:solidFill>
            <a:srgbClr val="123154"/>
          </a:solidFill>
          <a:ln w="9525">
            <a:solidFill>
              <a:srgbClr val="3852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31720"/>
            <a:ext cx="10360152" cy="1828800"/>
          </a:xfrm>
          <a:prstGeom prst="rect">
            <a:avLst/>
          </a:prstGeom>
          <a:noFill/>
        </p:spPr>
        <p:txBody>
          <a:bodyPr wrap="square" anchor="t" lIns="0" rIns="0" tIns="0" bIns="0">
            <a:spAutoFit/>
          </a:bodyPr>
          <a:lstStyle/>
          <a:p>
            <a:pPr algn="l">
              <a:spcBef>
                <a:spcPts val="0"/>
              </a:spcBef>
              <a:spcAft>
                <a:spcPts val="800"/>
              </a:spcAft>
            </a:pPr>
            <a:r>
              <a:rPr sz="950" b="1" i="0" spc="120">
                <a:solidFill>
                  <a:srgbClr val="A9C6E2"/>
                </a:solidFill>
                <a:latin typeface="Aptos"/>
                <a:cs typeface="Aptos"/>
              </a:rPr>
              <a:t>THE PROPOSITION</a:t>
            </a:r>
          </a:p>
          <a:p>
            <a:pPr algn="l">
              <a:lnSpc>
                <a:spcPct val="135000"/>
              </a:lnSpc>
              <a:spcBef>
                <a:spcPts val="0"/>
              </a:spcBef>
              <a:spcAft>
                <a:spcPts val="0"/>
              </a:spcAft>
            </a:pPr>
            <a:r>
              <a:rPr sz="1500" b="0" i="0">
                <a:solidFill>
                  <a:srgbClr val="FFFFFF"/>
                </a:solidFill>
                <a:latin typeface="Aptos"/>
                <a:cs typeface="Aptos"/>
              </a:rPr>
              <a:t>A substantial statement or synthesis set at 15–16pt in white, given room to breathe. Use once per deck — for the closing synthesis, the pivotal decision, or the single message the Board must retain.</a:t>
            </a:r>
          </a:p>
        </p:txBody>
      </p:sp>
      <p:sp>
        <p:nvSpPr>
          <p:cNvPr id="8" name="TextBox 7"/>
          <p:cNvSpPr txBox="1"/>
          <p:nvPr/>
        </p:nvSpPr>
        <p:spPr>
          <a:xfrm>
            <a:off x="640080" y="4754880"/>
            <a:ext cx="10908792" cy="365760"/>
          </a:xfrm>
          <a:prstGeom prst="rect">
            <a:avLst/>
          </a:prstGeom>
          <a:noFill/>
        </p:spPr>
        <p:txBody>
          <a:bodyPr wrap="square" anchor="t" lIns="0" rIns="0" tIns="0" bIns="0">
            <a:spAutoFit/>
          </a:bodyPr>
          <a:lstStyle/>
          <a:p>
            <a:pPr algn="l">
              <a:spcBef>
                <a:spcPts val="0"/>
              </a:spcBef>
              <a:spcAft>
                <a:spcPts val="0"/>
              </a:spcAft>
            </a:pPr>
            <a:r>
              <a:rPr sz="1100" b="0" i="0">
                <a:solidFill>
                  <a:srgbClr val="D5DDE6"/>
                </a:solidFill>
                <a:latin typeface="Aptos"/>
                <a:cs typeface="Aptos"/>
              </a:rPr>
              <a:t>Supporting note in dimmed white.</a:t>
            </a:r>
          </a:p>
        </p:txBody>
      </p:sp>
      <p:sp>
        <p:nvSpPr>
          <p:cNvPr id="9" name="TextBox 8"/>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
        <p:nvSpPr>
          <p:cNvPr id="10" name="TextBox 9"/>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D5DDE6"/>
                </a:solidFill>
                <a:latin typeface="Aptos"/>
                <a:cs typeface="Aptos"/>
              </a:rPr>
              <a:t>n</a:t>
            </a:r>
          </a:p>
        </p:txBody>
      </p:sp>
      <p:pic>
        <p:nvPicPr>
          <p:cNvPr id="11" name="Picture 10" descr="logo_white.png"/>
          <p:cNvPicPr>
            <a:picLocks noChangeAspect="1"/>
          </p:cNvPicPr>
          <p:nvPr/>
        </p:nvPicPr>
        <p:blipFill>
          <a:blip r:embed="rId2"/>
          <a:stretch>
            <a:fillRect/>
          </a:stretch>
        </p:blipFill>
        <p:spPr>
          <a:xfrm>
            <a:off x="10881360" y="329184"/>
            <a:ext cx="600980" cy="347472"/>
          </a:xfrm>
          <a:prstGeom prst="rect">
            <a:avLst/>
          </a:prstGeom>
        </p:spPr>
      </p:pic>
      <p:sp>
        <p:nvSpPr>
          <p:cNvPr id="12" name="TextBox 11"/>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D5DDE6"/>
                </a:solidFill>
                <a:latin typeface="Aptos"/>
                <a:cs typeface="Aptos"/>
              </a:rPr>
              <a:t>T14 · Dark-field emphasis (variant)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Process headline states where the sequence leads.</a:t>
            </a:r>
          </a:p>
        </p:txBody>
      </p:sp>
      <p:sp>
        <p:nvSpPr>
          <p:cNvPr id="5" name="Rounded Rectangle 4"/>
          <p:cNvSpPr/>
          <p:nvPr/>
        </p:nvSpPr>
        <p:spPr>
          <a:xfrm>
            <a:off x="640080" y="2377440"/>
            <a:ext cx="1938528" cy="1371600"/>
          </a:xfrm>
          <a:prstGeom prst="roundRect">
            <a:avLst>
              <a:gd name="adj" fmla="val 6000"/>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645920" cy="109728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01</a:t>
            </a:r>
          </a:p>
          <a:p>
            <a:pPr algn="l">
              <a:lnSpc>
                <a:spcPct val="105000"/>
              </a:lnSpc>
              <a:spcBef>
                <a:spcPts val="0"/>
              </a:spcBef>
              <a:spcAft>
                <a:spcPts val="0"/>
              </a:spcAft>
            </a:pPr>
            <a:r>
              <a:rPr sz="1350" b="0" i="0">
                <a:solidFill>
                  <a:srgbClr val="002B5C"/>
                </a:solidFill>
                <a:latin typeface="Aptos Display"/>
                <a:cs typeface="Aptos Display"/>
              </a:rPr>
              <a:t>Stage one</a:t>
            </a:r>
          </a:p>
        </p:txBody>
      </p:sp>
      <p:sp>
        <p:nvSpPr>
          <p:cNvPr id="7" name="TextBox 6"/>
          <p:cNvSpPr txBox="1"/>
          <p:nvPr/>
        </p:nvSpPr>
        <p:spPr>
          <a:xfrm>
            <a:off x="2578608" y="2880360"/>
            <a:ext cx="304038" cy="365760"/>
          </a:xfrm>
          <a:prstGeom prst="rect">
            <a:avLst/>
          </a:prstGeom>
          <a:noFill/>
        </p:spPr>
        <p:txBody>
          <a:bodyPr wrap="square" anchor="ctr" lIns="0" rIns="0" tIns="0" bIns="0">
            <a:spAutoFit/>
          </a:bodyPr>
          <a:lstStyle/>
          <a:p>
            <a:pPr algn="ctr">
              <a:spcBef>
                <a:spcPts val="0"/>
              </a:spcBef>
              <a:spcAft>
                <a:spcPts val="0"/>
              </a:spcAft>
            </a:pPr>
            <a:r>
              <a:rPr sz="1600" b="0" i="0">
                <a:solidFill>
                  <a:srgbClr val="35464F"/>
                </a:solidFill>
                <a:latin typeface="Aptos"/>
                <a:cs typeface="Aptos"/>
              </a:rPr>
              <a:t>→</a:t>
            </a:r>
          </a:p>
        </p:txBody>
      </p:sp>
      <p:sp>
        <p:nvSpPr>
          <p:cNvPr id="8" name="Rounded Rectangle 7"/>
          <p:cNvSpPr/>
          <p:nvPr/>
        </p:nvSpPr>
        <p:spPr>
          <a:xfrm>
            <a:off x="2882646" y="2377440"/>
            <a:ext cx="1938528" cy="1371600"/>
          </a:xfrm>
          <a:prstGeom prst="roundRect">
            <a:avLst>
              <a:gd name="adj" fmla="val 6000"/>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28950" y="2523744"/>
            <a:ext cx="1645920" cy="109728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02</a:t>
            </a:r>
          </a:p>
          <a:p>
            <a:pPr algn="l">
              <a:lnSpc>
                <a:spcPct val="105000"/>
              </a:lnSpc>
              <a:spcBef>
                <a:spcPts val="0"/>
              </a:spcBef>
              <a:spcAft>
                <a:spcPts val="0"/>
              </a:spcAft>
            </a:pPr>
            <a:r>
              <a:rPr sz="1350" b="0" i="0">
                <a:solidFill>
                  <a:srgbClr val="002B5C"/>
                </a:solidFill>
                <a:latin typeface="Aptos Display"/>
                <a:cs typeface="Aptos Display"/>
              </a:rPr>
              <a:t>Stage two</a:t>
            </a:r>
          </a:p>
        </p:txBody>
      </p:sp>
      <p:sp>
        <p:nvSpPr>
          <p:cNvPr id="10" name="TextBox 9"/>
          <p:cNvSpPr txBox="1"/>
          <p:nvPr/>
        </p:nvSpPr>
        <p:spPr>
          <a:xfrm>
            <a:off x="4821174" y="2880360"/>
            <a:ext cx="304038" cy="365760"/>
          </a:xfrm>
          <a:prstGeom prst="rect">
            <a:avLst/>
          </a:prstGeom>
          <a:noFill/>
        </p:spPr>
        <p:txBody>
          <a:bodyPr wrap="square" anchor="ctr" lIns="0" rIns="0" tIns="0" bIns="0">
            <a:spAutoFit/>
          </a:bodyPr>
          <a:lstStyle/>
          <a:p>
            <a:pPr algn="ctr">
              <a:spcBef>
                <a:spcPts val="0"/>
              </a:spcBef>
              <a:spcAft>
                <a:spcPts val="0"/>
              </a:spcAft>
            </a:pPr>
            <a:r>
              <a:rPr sz="1600" b="0" i="0">
                <a:solidFill>
                  <a:srgbClr val="35464F"/>
                </a:solidFill>
                <a:latin typeface="Aptos"/>
                <a:cs typeface="Aptos"/>
              </a:rPr>
              <a:t>→</a:t>
            </a:r>
          </a:p>
        </p:txBody>
      </p:sp>
      <p:sp>
        <p:nvSpPr>
          <p:cNvPr id="11" name="Rounded Rectangle 10"/>
          <p:cNvSpPr/>
          <p:nvPr/>
        </p:nvSpPr>
        <p:spPr>
          <a:xfrm>
            <a:off x="5125212" y="2377440"/>
            <a:ext cx="1938528" cy="1371600"/>
          </a:xfrm>
          <a:prstGeom prst="roundRect">
            <a:avLst>
              <a:gd name="adj" fmla="val 6000"/>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71516" y="2523744"/>
            <a:ext cx="1645920" cy="109728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03</a:t>
            </a:r>
          </a:p>
          <a:p>
            <a:pPr algn="l">
              <a:lnSpc>
                <a:spcPct val="105000"/>
              </a:lnSpc>
              <a:spcBef>
                <a:spcPts val="0"/>
              </a:spcBef>
              <a:spcAft>
                <a:spcPts val="0"/>
              </a:spcAft>
            </a:pPr>
            <a:r>
              <a:rPr sz="1350" b="0" i="0">
                <a:solidFill>
                  <a:srgbClr val="002B5C"/>
                </a:solidFill>
                <a:latin typeface="Aptos Display"/>
                <a:cs typeface="Aptos Display"/>
              </a:rPr>
              <a:t>Stage three</a:t>
            </a:r>
          </a:p>
        </p:txBody>
      </p:sp>
      <p:sp>
        <p:nvSpPr>
          <p:cNvPr id="13" name="TextBox 12"/>
          <p:cNvSpPr txBox="1"/>
          <p:nvPr/>
        </p:nvSpPr>
        <p:spPr>
          <a:xfrm>
            <a:off x="7063740" y="2880360"/>
            <a:ext cx="304038" cy="365760"/>
          </a:xfrm>
          <a:prstGeom prst="rect">
            <a:avLst/>
          </a:prstGeom>
          <a:noFill/>
        </p:spPr>
        <p:txBody>
          <a:bodyPr wrap="square" anchor="ctr" lIns="0" rIns="0" tIns="0" bIns="0">
            <a:spAutoFit/>
          </a:bodyPr>
          <a:lstStyle/>
          <a:p>
            <a:pPr algn="ctr">
              <a:spcBef>
                <a:spcPts val="0"/>
              </a:spcBef>
              <a:spcAft>
                <a:spcPts val="0"/>
              </a:spcAft>
            </a:pPr>
            <a:r>
              <a:rPr sz="1600" b="0" i="0">
                <a:solidFill>
                  <a:srgbClr val="35464F"/>
                </a:solidFill>
                <a:latin typeface="Aptos"/>
                <a:cs typeface="Aptos"/>
              </a:rPr>
              <a:t>→</a:t>
            </a:r>
          </a:p>
        </p:txBody>
      </p:sp>
      <p:sp>
        <p:nvSpPr>
          <p:cNvPr id="14" name="Rounded Rectangle 13"/>
          <p:cNvSpPr/>
          <p:nvPr/>
        </p:nvSpPr>
        <p:spPr>
          <a:xfrm>
            <a:off x="7367778" y="2377440"/>
            <a:ext cx="1938528" cy="1371600"/>
          </a:xfrm>
          <a:prstGeom prst="roundRect">
            <a:avLst>
              <a:gd name="adj" fmla="val 6000"/>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4082" y="2523744"/>
            <a:ext cx="1645920" cy="109728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04</a:t>
            </a:r>
          </a:p>
          <a:p>
            <a:pPr algn="l">
              <a:lnSpc>
                <a:spcPct val="105000"/>
              </a:lnSpc>
              <a:spcBef>
                <a:spcPts val="0"/>
              </a:spcBef>
              <a:spcAft>
                <a:spcPts val="0"/>
              </a:spcAft>
            </a:pPr>
            <a:r>
              <a:rPr sz="1350" b="0" i="0">
                <a:solidFill>
                  <a:srgbClr val="002B5C"/>
                </a:solidFill>
                <a:latin typeface="Aptos Display"/>
                <a:cs typeface="Aptos Display"/>
              </a:rPr>
              <a:t>Stage four</a:t>
            </a:r>
          </a:p>
        </p:txBody>
      </p:sp>
      <p:sp>
        <p:nvSpPr>
          <p:cNvPr id="16" name="TextBox 15"/>
          <p:cNvSpPr txBox="1"/>
          <p:nvPr/>
        </p:nvSpPr>
        <p:spPr>
          <a:xfrm>
            <a:off x="9306306" y="2880360"/>
            <a:ext cx="304038" cy="365760"/>
          </a:xfrm>
          <a:prstGeom prst="rect">
            <a:avLst/>
          </a:prstGeom>
          <a:noFill/>
        </p:spPr>
        <p:txBody>
          <a:bodyPr wrap="square" anchor="ctr" lIns="0" rIns="0" tIns="0" bIns="0">
            <a:spAutoFit/>
          </a:bodyPr>
          <a:lstStyle/>
          <a:p>
            <a:pPr algn="ctr">
              <a:spcBef>
                <a:spcPts val="0"/>
              </a:spcBef>
              <a:spcAft>
                <a:spcPts val="0"/>
              </a:spcAft>
            </a:pPr>
            <a:r>
              <a:rPr sz="1600" b="0" i="0">
                <a:solidFill>
                  <a:srgbClr val="35464F"/>
                </a:solidFill>
                <a:latin typeface="Aptos"/>
                <a:cs typeface="Aptos"/>
              </a:rPr>
              <a:t>→</a:t>
            </a:r>
          </a:p>
        </p:txBody>
      </p:sp>
      <p:sp>
        <p:nvSpPr>
          <p:cNvPr id="17" name="Rounded Rectangle 16"/>
          <p:cNvSpPr/>
          <p:nvPr/>
        </p:nvSpPr>
        <p:spPr>
          <a:xfrm>
            <a:off x="9610344" y="2377440"/>
            <a:ext cx="1938528" cy="1371600"/>
          </a:xfrm>
          <a:prstGeom prst="roundRect">
            <a:avLst>
              <a:gd name="adj" fmla="val 6000"/>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56648" y="2523744"/>
            <a:ext cx="1645920" cy="109728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05</a:t>
            </a:r>
          </a:p>
          <a:p>
            <a:pPr algn="l">
              <a:lnSpc>
                <a:spcPct val="105000"/>
              </a:lnSpc>
              <a:spcBef>
                <a:spcPts val="0"/>
              </a:spcBef>
              <a:spcAft>
                <a:spcPts val="0"/>
              </a:spcAft>
            </a:pPr>
            <a:r>
              <a:rPr sz="1350" b="0" i="0">
                <a:solidFill>
                  <a:srgbClr val="002B5C"/>
                </a:solidFill>
                <a:latin typeface="Aptos Display"/>
                <a:cs typeface="Aptos Display"/>
              </a:rPr>
              <a:t>Stage five</a:t>
            </a:r>
          </a:p>
        </p:txBody>
      </p:sp>
      <p:sp>
        <p:nvSpPr>
          <p:cNvPr id="19" name="TextBox 18"/>
          <p:cNvSpPr txBox="1"/>
          <p:nvPr/>
        </p:nvSpPr>
        <p:spPr>
          <a:xfrm>
            <a:off x="640080" y="4206240"/>
            <a:ext cx="10908792" cy="822960"/>
          </a:xfrm>
          <a:prstGeom prst="rect">
            <a:avLst/>
          </a:prstGeom>
          <a:noFill/>
        </p:spPr>
        <p:txBody>
          <a:bodyPr wrap="square" anchor="t" lIns="0" rIns="0" tIns="0" bIns="0">
            <a:spAutoFit/>
          </a:bodyPr>
          <a:lstStyle/>
          <a:p>
            <a:pPr algn="l">
              <a:lnSpc>
                <a:spcPct val="130000"/>
              </a:lnSpc>
              <a:spcBef>
                <a:spcPts val="0"/>
              </a:spcBef>
              <a:spcAft>
                <a:spcPts val="0"/>
              </a:spcAft>
            </a:pPr>
            <a:r>
              <a:rPr sz="1350" b="0" i="0">
                <a:solidFill>
                  <a:srgbClr val="35464F"/>
                </a:solidFill>
                <a:latin typeface="Aptos"/>
                <a:cs typeface="Aptos"/>
              </a:rPr>
              <a:t>Optional narrative paragraph beneath the process at 13.5pt, interpreting the sequence rather than repeating it.</a:t>
            </a:r>
          </a:p>
        </p:txBody>
      </p:sp>
      <p:sp>
        <p:nvSpPr>
          <p:cNvPr id="20" name="Rounded Rectangle 19"/>
          <p:cNvSpPr/>
          <p:nvPr/>
        </p:nvSpPr>
        <p:spPr>
          <a:xfrm>
            <a:off x="640080" y="5257800"/>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257800"/>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Where it leads.  </a:t>
            </a:r>
            <a:r>
              <a:rPr sz="1300" b="0" i="0">
                <a:solidFill>
                  <a:srgbClr val="D5DDE6"/>
                </a:solidFill>
                <a:latin typeface="Aptos"/>
                <a:cs typeface="Aptos"/>
              </a:rPr>
              <a:t>One-line consequence of the process.</a:t>
            </a:r>
          </a:p>
        </p:txBody>
      </p:sp>
      <p:sp>
        <p:nvSpPr>
          <p:cNvPr id="22" name="TextBox 21"/>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3" name="TextBox 22"/>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24" name="Picture 23" descr="logo_navy.png"/>
          <p:cNvPicPr>
            <a:picLocks noChangeAspect="1"/>
          </p:cNvPicPr>
          <p:nvPr/>
        </p:nvPicPr>
        <p:blipFill>
          <a:blip r:embed="rId2"/>
          <a:stretch>
            <a:fillRect/>
          </a:stretch>
        </p:blipFill>
        <p:spPr>
          <a:xfrm>
            <a:off x="10881360" y="329184"/>
            <a:ext cx="600980" cy="347472"/>
          </a:xfrm>
          <a:prstGeom prst="rect">
            <a:avLst/>
          </a:prstGeom>
        </p:spPr>
      </p:pic>
      <p:sp>
        <p:nvSpPr>
          <p:cNvPr id="25" name="TextBox 24"/>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T15 · Process / timeline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Case study</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Case headline states what the example demonstrates.</a:t>
            </a:r>
          </a:p>
        </p:txBody>
      </p:sp>
      <p:pic>
        <p:nvPicPr>
          <p:cNvPr id="5" name="Picture 4" descr="hero_seoul.jpg"/>
          <p:cNvPicPr>
            <a:picLocks noChangeAspect="1"/>
          </p:cNvPicPr>
          <p:nvPr/>
        </p:nvPicPr>
        <p:blipFill>
          <a:blip r:embed="rId2"/>
          <a:stretch>
            <a:fillRect/>
          </a:stretch>
        </p:blipFill>
        <p:spPr>
          <a:xfrm>
            <a:off x="640080" y="1554480"/>
            <a:ext cx="4023360" cy="3538728"/>
          </a:xfrm>
          <a:prstGeom prst="rect">
            <a:avLst/>
          </a:prstGeom>
        </p:spPr>
      </p:pic>
      <p:sp>
        <p:nvSpPr>
          <p:cNvPr id="6" name="Rectangle 5"/>
          <p:cNvSpPr/>
          <p:nvPr/>
        </p:nvSpPr>
        <p:spPr>
          <a:xfrm>
            <a:off x="640080" y="1554480"/>
            <a:ext cx="4023360" cy="3538728"/>
          </a:xfrm>
          <a:prstGeom prst="rect">
            <a:avLst/>
          </a:prstGeom>
          <a:noFill/>
          <a:ln w="9525">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83480" y="1591056"/>
            <a:ext cx="6565392" cy="3566160"/>
          </a:xfrm>
          <a:prstGeom prst="rect">
            <a:avLst/>
          </a:prstGeom>
          <a:noFill/>
        </p:spPr>
        <p:txBody>
          <a:bodyPr wrap="square" anchor="t" lIns="0" rIns="0" tIns="0" bIns="0">
            <a:spAutoFit/>
          </a:bodyPr>
          <a:lstStyle/>
          <a:p>
            <a:pPr algn="l">
              <a:spcBef>
                <a:spcPts val="0"/>
              </a:spcBef>
              <a:spcAft>
                <a:spcPts val="800"/>
              </a:spcAft>
            </a:pPr>
            <a:r>
              <a:rPr sz="950" b="1" i="0" spc="120">
                <a:solidFill>
                  <a:srgbClr val="35464F"/>
                </a:solidFill>
                <a:latin typeface="Aptos"/>
                <a:cs typeface="Aptos"/>
              </a:rPr>
              <a:t>THE SEQUENCE</a:t>
            </a:r>
          </a:p>
          <a:p>
            <a:pPr>
              <a:lnSpc>
                <a:spcPct val="125000"/>
              </a:lnSpc>
              <a:spcAft>
                <a:spcPts val="900"/>
              </a:spcAft>
            </a:pPr>
            <a:r>
              <a:rPr sz="1100" b="1" i="0" spc="100">
                <a:solidFill>
                  <a:srgbClr val="869397"/>
                </a:solidFill>
                <a:latin typeface="Aptos"/>
                <a:cs typeface="Aptos"/>
              </a:rPr>
              <a:t>01  </a:t>
            </a:r>
            <a:r>
              <a:rPr sz="1350" b="0" i="0">
                <a:solidFill>
                  <a:srgbClr val="35464F"/>
                </a:solidFill>
                <a:latin typeface="Aptos"/>
                <a:cs typeface="Aptos"/>
              </a:rPr>
              <a:t>First step of the case narrative at 13pt.</a:t>
            </a:r>
          </a:p>
          <a:p>
            <a:pPr>
              <a:lnSpc>
                <a:spcPct val="125000"/>
              </a:lnSpc>
              <a:spcAft>
                <a:spcPts val="900"/>
              </a:spcAft>
            </a:pPr>
            <a:r>
              <a:rPr sz="1100" b="1" i="0" spc="100">
                <a:solidFill>
                  <a:srgbClr val="869397"/>
                </a:solidFill>
                <a:latin typeface="Aptos"/>
                <a:cs typeface="Aptos"/>
              </a:rPr>
              <a:t>02  </a:t>
            </a:r>
            <a:r>
              <a:rPr sz="1350" b="0" i="0">
                <a:solidFill>
                  <a:srgbClr val="35464F"/>
                </a:solidFill>
                <a:latin typeface="Aptos"/>
                <a:cs typeface="Aptos"/>
              </a:rPr>
              <a:t>Second step with the decisive action.</a:t>
            </a:r>
          </a:p>
          <a:p>
            <a:pPr>
              <a:lnSpc>
                <a:spcPct val="125000"/>
              </a:lnSpc>
              <a:spcAft>
                <a:spcPts val="900"/>
              </a:spcAft>
            </a:pPr>
            <a:r>
              <a:rPr sz="1100" b="1" i="0" spc="100">
                <a:solidFill>
                  <a:srgbClr val="869397"/>
                </a:solidFill>
                <a:latin typeface="Aptos"/>
                <a:cs typeface="Aptos"/>
              </a:rPr>
              <a:t>03  </a:t>
            </a:r>
            <a:r>
              <a:rPr sz="1350" b="0" i="0">
                <a:solidFill>
                  <a:srgbClr val="35464F"/>
                </a:solidFill>
                <a:latin typeface="Aptos"/>
                <a:cs typeface="Aptos"/>
              </a:rPr>
              <a:t>Third step and the observable outcome.</a:t>
            </a:r>
          </a:p>
          <a:p>
            <a:pPr>
              <a:lnSpc>
                <a:spcPct val="125000"/>
              </a:lnSpc>
              <a:spcAft>
                <a:spcPts val="900"/>
              </a:spcAft>
            </a:pPr>
            <a:r>
              <a:rPr sz="1100" b="1" i="0" spc="100">
                <a:solidFill>
                  <a:srgbClr val="869397"/>
                </a:solidFill>
                <a:latin typeface="Aptos"/>
                <a:cs typeface="Aptos"/>
              </a:rPr>
              <a:t>04  </a:t>
            </a:r>
            <a:r>
              <a:rPr sz="1350" b="0" i="0">
                <a:solidFill>
                  <a:srgbClr val="35464F"/>
                </a:solidFill>
                <a:latin typeface="Aptos"/>
                <a:cs typeface="Aptos"/>
              </a:rPr>
              <a:t>What the case proves for the strategy.</a:t>
            </a:r>
          </a:p>
        </p:txBody>
      </p:sp>
      <p:sp>
        <p:nvSpPr>
          <p:cNvPr id="8" name="Rounded Rectangle 7"/>
          <p:cNvSpPr/>
          <p:nvPr/>
        </p:nvSpPr>
        <p:spPr>
          <a:xfrm>
            <a:off x="4983480" y="4709160"/>
            <a:ext cx="6565392" cy="822960"/>
          </a:xfrm>
          <a:prstGeom prst="roundRect">
            <a:avLst>
              <a:gd name="adj" fmla="val 10000"/>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02936" y="4709160"/>
            <a:ext cx="6126480" cy="822960"/>
          </a:xfrm>
          <a:prstGeom prst="rect">
            <a:avLst/>
          </a:prstGeom>
          <a:noFill/>
        </p:spPr>
        <p:txBody>
          <a:bodyPr wrap="square" anchor="ctr" lIns="0" rIns="0" tIns="0" bIns="0">
            <a:spAutoFit/>
          </a:bodyPr>
          <a:lstStyle/>
          <a:p>
            <a:pPr algn="l">
              <a:spcBef>
                <a:spcPts val="0"/>
              </a:spcBef>
              <a:spcAft>
                <a:spcPts val="400"/>
              </a:spcAft>
            </a:pPr>
            <a:r>
              <a:rPr sz="900" b="1" i="0" spc="100">
                <a:solidFill>
                  <a:srgbClr val="002B5C"/>
                </a:solidFill>
                <a:latin typeface="Aptos"/>
                <a:cs typeface="Aptos"/>
              </a:rPr>
              <a:t>HOW TO READ THE CASE</a:t>
            </a:r>
          </a:p>
          <a:p>
            <a:pPr algn="l">
              <a:lnSpc>
                <a:spcPct val="120000"/>
              </a:lnSpc>
              <a:spcBef>
                <a:spcPts val="0"/>
              </a:spcBef>
              <a:spcAft>
                <a:spcPts val="0"/>
              </a:spcAft>
            </a:pPr>
            <a:r>
              <a:rPr sz="1250" b="0" i="0">
                <a:solidFill>
                  <a:srgbClr val="35464F"/>
                </a:solidFill>
                <a:latin typeface="Aptos"/>
                <a:cs typeface="Aptos"/>
              </a:rPr>
              <a:t>Qualifier — a model demonstrated, not an assured timetable.</a:t>
            </a:r>
          </a:p>
        </p:txBody>
      </p:sp>
      <p:sp>
        <p:nvSpPr>
          <p:cNvPr id="10" name="TextBox 9"/>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1" name="TextBox 10"/>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12" name="Picture 11" descr="logo_navy.png"/>
          <p:cNvPicPr>
            <a:picLocks noChangeAspect="1"/>
          </p:cNvPicPr>
          <p:nvPr/>
        </p:nvPicPr>
        <p:blipFill>
          <a:blip r:embed="rId3"/>
          <a:stretch>
            <a:fillRect/>
          </a:stretch>
        </p:blipFill>
        <p:spPr>
          <a:xfrm>
            <a:off x="10881360" y="329184"/>
            <a:ext cx="600980" cy="347472"/>
          </a:xfrm>
          <a:prstGeom prst="rect">
            <a:avLst/>
          </a:prstGeom>
        </p:spPr>
      </p:pic>
      <p:sp>
        <p:nvSpPr>
          <p:cNvPr id="13" name="TextBox 12"/>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T16 · Case study / asset profile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Section · Topic</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Working headline for narrative content.</a:t>
            </a:r>
          </a:p>
        </p:txBody>
      </p:sp>
      <p:sp>
        <p:nvSpPr>
          <p:cNvPr id="5" name="TextBox 4"/>
          <p:cNvSpPr txBox="1"/>
          <p:nvPr/>
        </p:nvSpPr>
        <p:spPr>
          <a:xfrm>
            <a:off x="640080" y="1627632"/>
            <a:ext cx="6949440" cy="4389120"/>
          </a:xfrm>
          <a:prstGeom prst="rect">
            <a:avLst/>
          </a:prstGeom>
          <a:noFill/>
        </p:spPr>
        <p:txBody>
          <a:bodyPr wrap="square" anchor="t" lIns="0" rIns="0" tIns="0" bIns="0">
            <a:spAutoFit/>
          </a:bodyPr>
          <a:lstStyle/>
          <a:p>
            <a:pPr algn="l">
              <a:lnSpc>
                <a:spcPct val="132000"/>
              </a:lnSpc>
              <a:spcBef>
                <a:spcPts val="0"/>
              </a:spcBef>
              <a:spcAft>
                <a:spcPts val="1000"/>
              </a:spcAft>
            </a:pPr>
            <a:r>
              <a:rPr sz="1350" b="0" i="0">
                <a:solidFill>
                  <a:srgbClr val="35464F"/>
                </a:solidFill>
                <a:latin typeface="Aptos"/>
                <a:cs typeface="Aptos"/>
              </a:rPr>
              <a:t>Narrative paragraph at 13.5pt with 1.3 line spacing, holding to roughly one hundred and ten words per slide.</a:t>
            </a:r>
          </a:p>
          <a:p>
            <a:pPr algn="l">
              <a:lnSpc>
                <a:spcPct val="132000"/>
              </a:lnSpc>
              <a:spcBef>
                <a:spcPts val="0"/>
              </a:spcBef>
              <a:spcAft>
                <a:spcPts val="1000"/>
              </a:spcAft>
            </a:pPr>
            <a:r>
              <a:rPr sz="1350" b="0" i="0">
                <a:solidFill>
                  <a:srgbClr val="35464F"/>
                </a:solidFill>
                <a:latin typeface="Aptos"/>
                <a:cs typeface="Aptos"/>
              </a:rPr>
              <a:t>Second paragraph developing the argument, each paragraph a single thought.</a:t>
            </a:r>
          </a:p>
          <a:p>
            <a:pPr algn="l">
              <a:lnSpc>
                <a:spcPct val="132000"/>
              </a:lnSpc>
              <a:spcBef>
                <a:spcPts val="0"/>
              </a:spcBef>
              <a:spcAft>
                <a:spcPts val="1000"/>
              </a:spcAft>
            </a:pPr>
            <a:r>
              <a:rPr sz="1350" b="0" i="0">
                <a:solidFill>
                  <a:srgbClr val="35464F"/>
                </a:solidFill>
                <a:latin typeface="Aptos"/>
                <a:cs typeface="Aptos"/>
              </a:rPr>
              <a:t>Third paragraph closing the reasoning and pointing to the consequence.</a:t>
            </a:r>
          </a:p>
        </p:txBody>
      </p:sp>
      <p:sp>
        <p:nvSpPr>
          <p:cNvPr id="6" name="Rounded Rectangle 5"/>
          <p:cNvSpPr/>
          <p:nvPr/>
        </p:nvSpPr>
        <p:spPr>
          <a:xfrm>
            <a:off x="8092440" y="1627632"/>
            <a:ext cx="3456432" cy="3108960"/>
          </a:xfrm>
          <a:prstGeom prst="roundRect">
            <a:avLst>
              <a:gd name="adj" fmla="val 2647"/>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11896" y="1810512"/>
            <a:ext cx="3017520" cy="2743200"/>
          </a:xfrm>
          <a:prstGeom prst="rect">
            <a:avLst/>
          </a:prstGeom>
          <a:noFill/>
        </p:spPr>
        <p:txBody>
          <a:bodyPr wrap="square" anchor="t" lIns="0" rIns="0" tIns="0" bIns="0">
            <a:spAutoFit/>
          </a:bodyPr>
          <a:lstStyle/>
          <a:p>
            <a:pPr algn="l">
              <a:spcBef>
                <a:spcPts val="0"/>
              </a:spcBef>
              <a:spcAft>
                <a:spcPts val="600"/>
              </a:spcAft>
            </a:pPr>
            <a:r>
              <a:rPr sz="900" b="1" i="0" spc="100">
                <a:solidFill>
                  <a:srgbClr val="35464F"/>
                </a:solidFill>
                <a:latin typeface="Aptos"/>
                <a:cs typeface="Aptos"/>
              </a:rPr>
              <a:t>IN BRIEF</a:t>
            </a:r>
          </a:p>
          <a:p>
            <a:pPr algn="l">
              <a:lnSpc>
                <a:spcPct val="125000"/>
              </a:lnSpc>
              <a:spcBef>
                <a:spcPts val="0"/>
              </a:spcBef>
              <a:spcAft>
                <a:spcPts val="800"/>
              </a:spcAft>
            </a:pPr>
            <a:r>
              <a:rPr sz="1300" b="0" i="0">
                <a:solidFill>
                  <a:srgbClr val="35464F"/>
                </a:solidFill>
                <a:latin typeface="Aptos"/>
                <a:cs typeface="Aptos"/>
              </a:rPr>
              <a:t>Key point distilled.</a:t>
            </a:r>
          </a:p>
          <a:p>
            <a:pPr algn="l">
              <a:lnSpc>
                <a:spcPct val="125000"/>
              </a:lnSpc>
              <a:spcBef>
                <a:spcPts val="0"/>
              </a:spcBef>
              <a:spcAft>
                <a:spcPts val="800"/>
              </a:spcAft>
            </a:pPr>
            <a:r>
              <a:rPr sz="1300" b="0" i="0">
                <a:solidFill>
                  <a:srgbClr val="35464F"/>
                </a:solidFill>
                <a:latin typeface="Aptos"/>
                <a:cs typeface="Aptos"/>
              </a:rPr>
              <a:t>Second key point.</a:t>
            </a:r>
          </a:p>
          <a:p>
            <a:pPr algn="l">
              <a:lnSpc>
                <a:spcPct val="125000"/>
              </a:lnSpc>
              <a:spcBef>
                <a:spcPts val="0"/>
              </a:spcBef>
              <a:spcAft>
                <a:spcPts val="800"/>
              </a:spcAft>
            </a:pPr>
            <a:r>
              <a:rPr sz="1300" b="0" i="0">
                <a:solidFill>
                  <a:srgbClr val="35464F"/>
                </a:solidFill>
                <a:latin typeface="Aptos"/>
                <a:cs typeface="Aptos"/>
              </a:rPr>
              <a:t>Third key point.</a:t>
            </a:r>
          </a:p>
        </p:txBody>
      </p:sp>
      <p:sp>
        <p:nvSpPr>
          <p:cNvPr id="8" name="TextBox 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9" name="TextBox 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n</a:t>
            </a:r>
          </a:p>
        </p:txBody>
      </p:sp>
      <p:pic>
        <p:nvPicPr>
          <p:cNvPr id="10" name="Picture 9" descr="logo_navy.png"/>
          <p:cNvPicPr>
            <a:picLocks noChangeAspect="1"/>
          </p:cNvPicPr>
          <p:nvPr/>
        </p:nvPicPr>
        <p:blipFill>
          <a:blip r:embed="rId2"/>
          <a:stretch>
            <a:fillRect/>
          </a:stretch>
        </p:blipFill>
        <p:spPr>
          <a:xfrm>
            <a:off x="10881360" y="329184"/>
            <a:ext cx="600980" cy="347472"/>
          </a:xfrm>
          <a:prstGeom prst="rect">
            <a:avLst/>
          </a:prstGeom>
        </p:spPr>
      </p:pic>
      <p:sp>
        <p:nvSpPr>
          <p:cNvPr id="11" name="TextBox 10"/>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T17 · Text + rail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navy.png"/>
          <p:cNvPicPr>
            <a:picLocks noChangeAspect="1"/>
          </p:cNvPicPr>
          <p:nvPr/>
        </p:nvPicPr>
        <p:blipFill>
          <a:blip r:embed="rId2"/>
          <a:stretch>
            <a:fillRect/>
          </a:stretch>
        </p:blipFill>
        <p:spPr>
          <a:xfrm>
            <a:off x="10881360" y="329184"/>
            <a:ext cx="600980" cy="347472"/>
          </a:xfrm>
          <a:prstGeom prst="rect">
            <a:avLst/>
          </a:prstGeom>
        </p:spPr>
      </p:pic>
      <p:sp>
        <p:nvSpPr>
          <p:cNvPr id="4" name="TextBox 3"/>
          <p:cNvSpPr txBox="1"/>
          <p:nvPr/>
        </p:nvSpPr>
        <p:spPr>
          <a:xfrm>
            <a:off x="914400" y="2743200"/>
            <a:ext cx="9144000" cy="1097280"/>
          </a:xfrm>
          <a:prstGeom prst="rect">
            <a:avLst/>
          </a:prstGeom>
          <a:noFill/>
        </p:spPr>
        <p:txBody>
          <a:bodyPr wrap="square" anchor="t" lIns="0" rIns="0" tIns="0" bIns="0">
            <a:spAutoFit/>
          </a:bodyPr>
          <a:lstStyle/>
          <a:p>
            <a:pPr algn="l">
              <a:spcBef>
                <a:spcPts val="0"/>
              </a:spcBef>
              <a:spcAft>
                <a:spcPts val="600"/>
              </a:spcAft>
            </a:pPr>
            <a:r>
              <a:rPr sz="3400" b="0" i="0">
                <a:solidFill>
                  <a:srgbClr val="002B5C"/>
                </a:solidFill>
                <a:latin typeface="Spectral Light"/>
                <a:cs typeface="Spectral Light"/>
              </a:rPr>
              <a:t>Appendix</a:t>
            </a:r>
          </a:p>
          <a:p>
            <a:pPr algn="l">
              <a:spcBef>
                <a:spcPts val="0"/>
              </a:spcBef>
              <a:spcAft>
                <a:spcPts val="0"/>
              </a:spcAft>
            </a:pPr>
            <a:r>
              <a:rPr sz="1300" b="0" i="0">
                <a:solidFill>
                  <a:srgbClr val="35464F"/>
                </a:solidFill>
                <a:latin typeface="Aptos"/>
                <a:cs typeface="Aptos"/>
              </a:rPr>
              <a:t>Supporting analysis and reference material.</a:t>
            </a:r>
          </a:p>
        </p:txBody>
      </p:sp>
      <p:sp>
        <p:nvSpPr>
          <p:cNvPr id="5" name="Rectangle 4"/>
          <p:cNvSpPr/>
          <p:nvPr/>
        </p:nvSpPr>
        <p:spPr>
          <a:xfrm>
            <a:off x="932688" y="2615184"/>
            <a:ext cx="777240"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6455664"/>
            <a:ext cx="4572000" cy="274320"/>
          </a:xfrm>
          <a:prstGeom prst="rect">
            <a:avLst/>
          </a:prstGeom>
          <a:noFill/>
        </p:spPr>
        <p:txBody>
          <a:bodyPr wrap="square" anchor="t"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7" name="TextBox 6"/>
          <p:cNvSpPr txBox="1"/>
          <p:nvPr/>
        </p:nvSpPr>
        <p:spPr>
          <a:xfrm>
            <a:off x="3840480" y="6455664"/>
            <a:ext cx="4572000" cy="274320"/>
          </a:xfrm>
          <a:prstGeom prst="rect">
            <a:avLst/>
          </a:prstGeom>
          <a:noFill/>
        </p:spPr>
        <p:txBody>
          <a:bodyPr wrap="square" anchor="ctr" lIns="0" rIns="0" tIns="0" bIns="0">
            <a:spAutoFit/>
          </a:bodyPr>
          <a:lstStyle/>
          <a:p>
            <a:pPr algn="ctr">
              <a:spcBef>
                <a:spcPts val="0"/>
              </a:spcBef>
              <a:spcAft>
                <a:spcPts val="0"/>
              </a:spcAft>
            </a:pPr>
            <a:r>
              <a:rPr sz="850" b="0" i="0" spc="100">
                <a:solidFill>
                  <a:srgbClr val="869397"/>
                </a:solidFill>
                <a:latin typeface="Aptos"/>
                <a:cs typeface="Aptos"/>
              </a:rPr>
              <a:t>T18 · Appendix divider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Important notice · Singapore</a:t>
            </a:r>
          </a:p>
        </p:txBody>
      </p:sp>
      <p:sp>
        <p:nvSpPr>
          <p:cNvPr id="4" name="Rectangle 3"/>
          <p:cNvSpPr/>
          <p:nvPr/>
        </p:nvSpPr>
        <p:spPr>
          <a:xfrm>
            <a:off x="640080" y="6766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 Copyright 2024, Aravest. The concepts and information contained in this paper are the property of Aravest. You acknowledge Aravest is the owner of the intellectual or industrial property owned or used in connection with any business of Aravest and which is set out in this paper. </a:t>
            </a:r>
          </a:p>
          <a:p>
            <a:pPr algn="l">
              <a:lnSpc>
                <a:spcPct val="112000"/>
              </a:lnSpc>
              <a:spcBef>
                <a:spcPts val="0"/>
              </a:spcBef>
              <a:spcAft>
                <a:spcPts val="500"/>
              </a:spcAft>
            </a:pPr>
            <a:r>
              <a:rPr sz="750" b="0" i="0">
                <a:solidFill>
                  <a:srgbClr val="35464F"/>
                </a:solidFill>
                <a:latin typeface="Aptos"/>
                <a:cs typeface="Aptos"/>
              </a:rPr>
              <a:t>This paper has been prepared by or on behalf of Aravest Fund Management Pte. Ltd. (“Aravest”) solely for preliminary general information purposes and without considering your individual objectives, financial situation or needs. Aravest is licensed by the Monetary Authority of Singapore to provide fund management services only to (i) accredited investors, (ii) institutional investors, (iii) collective investment schemes or closed-end funds, the units of which are the subject of an offer or invitation for subscription or purchase made only to accredited investors, or investors in an equivalent class under the laws of the country or territory in which the offer or invitation is made, or institutional investors, or both, and (iv) limited partnerships, where the limited partners comprise solely of accredited investors or investors in an equivalent class under the laws of the country or territory in which the partnership is formed, or institutional investors, or both. </a:t>
            </a:r>
          </a:p>
          <a:p>
            <a:pPr algn="l">
              <a:lnSpc>
                <a:spcPct val="112000"/>
              </a:lnSpc>
              <a:spcBef>
                <a:spcPts val="0"/>
              </a:spcBef>
              <a:spcAft>
                <a:spcPts val="500"/>
              </a:spcAft>
            </a:pPr>
            <a:r>
              <a:rPr sz="750" b="0" i="0">
                <a:solidFill>
                  <a:srgbClr val="35464F"/>
                </a:solidFill>
                <a:latin typeface="Aptos"/>
                <a:cs typeface="Aptos"/>
              </a:rPr>
              <a:t>This paper is strictly confidential and is solely for your own use and that of your necessary professional advisers. It must not be provided to any other party without the prior written consent of Aravest, which may be withheld in the absolute discretion of Aravest. No part of this paper may be copied, reproduced, transmitted or re-distributed without Aravest’ prior written consent. </a:t>
            </a:r>
          </a:p>
          <a:p>
            <a:pPr algn="l">
              <a:lnSpc>
                <a:spcPct val="112000"/>
              </a:lnSpc>
              <a:spcBef>
                <a:spcPts val="0"/>
              </a:spcBef>
              <a:spcAft>
                <a:spcPts val="500"/>
              </a:spcAft>
            </a:pPr>
            <a:r>
              <a:rPr sz="750" b="0" i="0">
                <a:solidFill>
                  <a:srgbClr val="35464F"/>
                </a:solidFill>
                <a:latin typeface="Aptos"/>
                <a:cs typeface="Aptos"/>
              </a:rPr>
              <a:t>The content in this paper does not constitute financial product advice (nor investment, tax or legal advice) by Aravest or its officers, employees, affiliates, holding companies, subsidiaries or controlling persons, directors, officers, partners, agents, representatives or advisers (collectively with Aravest, the “Aravest Representatives”). The information in this paper is general information only and has been prepared without considering your objectives, financial situation or needs. Before acting on any information in this paper, you should consider its appropriateness to your circumstances and obtain appropriate professional advice. Under no circumstances should shareholders, customers, suppliers or transaction counterparties of Aravest be contacted directly concerning this information or a possible transaction.</a:t>
            </a:r>
          </a:p>
          <a:p>
            <a:pPr algn="l">
              <a:lnSpc>
                <a:spcPct val="112000"/>
              </a:lnSpc>
              <a:spcBef>
                <a:spcPts val="0"/>
              </a:spcBef>
              <a:spcAft>
                <a:spcPts val="500"/>
              </a:spcAft>
            </a:pPr>
            <a:r>
              <a:rPr sz="750" b="0" i="0">
                <a:solidFill>
                  <a:srgbClr val="35464F"/>
                </a:solidFill>
                <a:latin typeface="Aptos"/>
                <a:cs typeface="Aptos"/>
              </a:rPr>
              <a:t>Statements in this paper are made only as of the date of this paper unless otherwise stated and solely for the purposes for which they are expressed to be prepared (or for general information purposes only if no purpose is specified). Nothing shall create an implication that the information contained herein is correct as of any other time subsequent to such date(s).</a:t>
            </a:r>
          </a:p>
        </p:txBody>
      </p:sp>
      <p:sp>
        <p:nvSpPr>
          <p:cNvPr id="6" name="TextBox 5"/>
          <p:cNvSpPr txBox="1"/>
          <p:nvPr/>
        </p:nvSpPr>
        <p:spPr>
          <a:xfrm>
            <a:off x="6277356"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No Aravest Representative is responsible for providing updated information to you. Any forecasts, targets, projections, estimates or other forward-looking statements contained in this paper may involve significant elements of subjective judgement and assumptions as to future events which may or may not be correct. There are usually differences between forecast, projected and actual results because events and actual circumstances frequently do not occur as forecast or projected and these differences may be material. Representative examples of these factors include but are not limited to general market and economic conditions, interest rate trends, competition from other investors, changes in operating expenses including employee wages and benefits, changes in government policies, and the continued availability of financing in the amounts and terms necessary to support future business. Any forecast or projected return rates shown in this paper are neither promised nor guaranteed – they are each based on a number of assumptions and subject to the impact of risk factors. </a:t>
            </a:r>
          </a:p>
          <a:p>
            <a:pPr algn="l">
              <a:lnSpc>
                <a:spcPct val="112000"/>
              </a:lnSpc>
              <a:spcBef>
                <a:spcPts val="0"/>
              </a:spcBef>
              <a:spcAft>
                <a:spcPts val="500"/>
              </a:spcAft>
            </a:pPr>
            <a:r>
              <a:rPr sz="750" b="0" i="0">
                <a:solidFill>
                  <a:srgbClr val="35464F"/>
                </a:solidFill>
                <a:latin typeface="Aptos"/>
                <a:cs typeface="Aptos"/>
              </a:rPr>
              <a:t>No Aravest Representative makes any representation or warranty as to, or takes responsibility for, the accuracy, reliability or completeness of the information contained in this paper. Nothing contained in this paper, nor any other related information made available you is, or shall be relied upon as, a promise, representation, warranty or guarantee, whether as to the past, present or the future. Information in this paper from external sources has not been independently verified by any Aravest Representative and the Aravest Representatives do not assume any responsibility for the accuracy of such information. </a:t>
            </a:r>
          </a:p>
          <a:p>
            <a:pPr algn="l">
              <a:lnSpc>
                <a:spcPct val="112000"/>
              </a:lnSpc>
              <a:spcBef>
                <a:spcPts val="0"/>
              </a:spcBef>
              <a:spcAft>
                <a:spcPts val="500"/>
              </a:spcAft>
            </a:pPr>
            <a:r>
              <a:rPr sz="750" b="0" i="0">
                <a:solidFill>
                  <a:srgbClr val="35464F"/>
                </a:solidFill>
                <a:latin typeface="Aptos"/>
                <a:cs typeface="Aptos"/>
              </a:rPr>
              <a:t>To the maximum extent permitted by law, each Aravest Representative disclaims all liability and you expressly release each Aravest Representative from, any liability, that may otherwise arise from reliance upon this paper or due to any information contained in this paper being inaccurate or due to information being omitted from this paper, whether by way of negligence or otherwise. Each recipient of this paper should conduct its own independent review, investigations, verification and analysis of the information contained or referred to in this paper. Each recipient of this paper represents and warrants that it is and at all times will be a wholesale client, an accredited investor or an institutional investor. </a:t>
            </a:r>
          </a:p>
          <a:p>
            <a:pPr algn="l">
              <a:lnSpc>
                <a:spcPct val="112000"/>
              </a:lnSpc>
              <a:spcBef>
                <a:spcPts val="0"/>
              </a:spcBef>
              <a:spcAft>
                <a:spcPts val="500"/>
              </a:spcAft>
            </a:pPr>
            <a:r>
              <a:rPr sz="750" b="0" i="0">
                <a:solidFill>
                  <a:srgbClr val="35464F"/>
                </a:solidFill>
                <a:latin typeface="Aptos"/>
                <a:cs typeface="Aptos"/>
              </a:rPr>
              <a:t>All rights are reserved by Aravest. </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D·SG</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Important notice · Australia</a:t>
            </a:r>
          </a:p>
        </p:txBody>
      </p:sp>
      <p:sp>
        <p:nvSpPr>
          <p:cNvPr id="4" name="Rectangle 3"/>
          <p:cNvSpPr/>
          <p:nvPr/>
        </p:nvSpPr>
        <p:spPr>
          <a:xfrm>
            <a:off x="640080" y="6766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 Copyright 2024, Aravest. The concepts and information contained in this paper are the property of Aravest. You acknowledge Aravest is the owner of the intellectual or industrial property owned or used in connection with any business of Aravest and which is set out in this paper. </a:t>
            </a:r>
          </a:p>
          <a:p>
            <a:pPr algn="l">
              <a:lnSpc>
                <a:spcPct val="112000"/>
              </a:lnSpc>
              <a:spcBef>
                <a:spcPts val="0"/>
              </a:spcBef>
              <a:spcAft>
                <a:spcPts val="500"/>
              </a:spcAft>
            </a:pPr>
            <a:r>
              <a:rPr sz="750" b="0" i="0">
                <a:solidFill>
                  <a:srgbClr val="35464F"/>
                </a:solidFill>
                <a:latin typeface="Aptos"/>
                <a:cs typeface="Aptos"/>
              </a:rPr>
              <a:t>This paper has been prepared by or on behalf of Aravest Australia Pty Ltd  (ACN 164 820 946, ABN 72 164 820 946) (“Aravest”) solely for preliminary general information purposes and without considering your individual objectives, financial situation or needs. ARAM Australia Pty Ltd is licensed to provide financial services in the Australian jurisdiction to wholesale clients (as defined by the Corporations Act 2001) only. </a:t>
            </a:r>
          </a:p>
          <a:p>
            <a:pPr algn="l">
              <a:lnSpc>
                <a:spcPct val="112000"/>
              </a:lnSpc>
              <a:spcBef>
                <a:spcPts val="0"/>
              </a:spcBef>
              <a:spcAft>
                <a:spcPts val="500"/>
              </a:spcAft>
            </a:pPr>
            <a:r>
              <a:rPr sz="750" b="0" i="0">
                <a:solidFill>
                  <a:srgbClr val="35464F"/>
                </a:solidFill>
                <a:latin typeface="Aptos"/>
                <a:cs typeface="Aptos"/>
              </a:rPr>
              <a:t>This paper is strictly confidential and is solely for your own use and that of your necessary professional advisers. It must not be provided to any other party without the prior written consent of Aravest, which may be withheld in the absolute discretion of Aravest. No part of this paper may be copied, reproduced, transmitted or re-distributed without Aravest’ prior written consent. </a:t>
            </a:r>
          </a:p>
          <a:p>
            <a:pPr algn="l">
              <a:lnSpc>
                <a:spcPct val="112000"/>
              </a:lnSpc>
              <a:spcBef>
                <a:spcPts val="0"/>
              </a:spcBef>
              <a:spcAft>
                <a:spcPts val="500"/>
              </a:spcAft>
            </a:pPr>
            <a:r>
              <a:rPr sz="750" b="0" i="0">
                <a:solidFill>
                  <a:srgbClr val="35464F"/>
                </a:solidFill>
                <a:latin typeface="Aptos"/>
                <a:cs typeface="Aptos"/>
              </a:rPr>
              <a:t>The content in this paper does not constitute financial product advice (nor investment, tax or legal advice) by Aravest or its officers, employees, affiliates, holding companies, subsidiaries or controlling persons, directors, officers, partners, agents, representatives or advisers (collectively with Aravest, the “Aravest Representatives”). The information in this paper is general information only and has been prepared without considering your objectives, financial situation or needs. Before acting on any information in this paper, you should consider its appropriateness to your circumstances and obtain appropriate professional advice. Under no circumstances should shareholders, customers, suppliers or transaction counterparties of Aravest be contacted directly concerning this information or a possible transaction.</a:t>
            </a:r>
          </a:p>
          <a:p>
            <a:pPr algn="l">
              <a:lnSpc>
                <a:spcPct val="112000"/>
              </a:lnSpc>
              <a:spcBef>
                <a:spcPts val="0"/>
              </a:spcBef>
              <a:spcAft>
                <a:spcPts val="500"/>
              </a:spcAft>
            </a:pPr>
            <a:r>
              <a:rPr sz="750" b="0" i="0">
                <a:solidFill>
                  <a:srgbClr val="35464F"/>
                </a:solidFill>
                <a:latin typeface="Aptos"/>
                <a:cs typeface="Aptos"/>
              </a:rPr>
              <a:t>Statements in this paper are made only as of the date of this paper unless otherwise stated and solely for the purposes for which they are expressed to be prepared (or for general information purposes only if no purpose is specified). Nothing shall create an implication that the information contained herein is correct as of any other time subsequent to such date(s).</a:t>
            </a:r>
          </a:p>
        </p:txBody>
      </p:sp>
      <p:sp>
        <p:nvSpPr>
          <p:cNvPr id="6" name="TextBox 5"/>
          <p:cNvSpPr txBox="1"/>
          <p:nvPr/>
        </p:nvSpPr>
        <p:spPr>
          <a:xfrm>
            <a:off x="6277356"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No Aravest Representative is responsible for providing updated information to you. Any forecasts, targets, projections, estimates or other forward-looking statements contained in this paper may involve significant elements of subjective judgement and assumptions as to future events which may or may not be correct. There are usually differences between forecast, projected and actual results because events and actual circumstances frequently do not occur as forecast or projected and these differences may be material. Representative examples of these factors include but are not limited to general market and economic conditions, interest rate trends, competition from other investors, changes in operating expenses including employee wages and benefits, changes in government policies, and the continued availability of financing in the amounts and terms necessary to support future business. Any forecast or projected return rates shown in this paper are neither promised nor guaranteed – they are each based on a number of assumptions and subject to the impact of risk factors. </a:t>
            </a:r>
          </a:p>
          <a:p>
            <a:pPr algn="l">
              <a:lnSpc>
                <a:spcPct val="112000"/>
              </a:lnSpc>
              <a:spcBef>
                <a:spcPts val="0"/>
              </a:spcBef>
              <a:spcAft>
                <a:spcPts val="500"/>
              </a:spcAft>
            </a:pPr>
            <a:r>
              <a:rPr sz="750" b="0" i="0">
                <a:solidFill>
                  <a:srgbClr val="35464F"/>
                </a:solidFill>
                <a:latin typeface="Aptos"/>
                <a:cs typeface="Aptos"/>
              </a:rPr>
              <a:t>No Aravest Representative makes any representation or warranty as to, or takes responsibility for, the accuracy, reliability or completeness of the information contained in this paper. Nothing contained in this paper, nor any other related information made available you is, or shall be relied upon as, a promise, representation, warranty or guarantee, whether as to the past, present or the future. Information in this paper from external sources has not been independently verified by any Aravest Representative and the Aravest Representatives do not assume any responsibility for the accuracy of such information. </a:t>
            </a:r>
          </a:p>
          <a:p>
            <a:pPr algn="l">
              <a:lnSpc>
                <a:spcPct val="112000"/>
              </a:lnSpc>
              <a:spcBef>
                <a:spcPts val="0"/>
              </a:spcBef>
              <a:spcAft>
                <a:spcPts val="500"/>
              </a:spcAft>
            </a:pPr>
            <a:r>
              <a:rPr sz="750" b="0" i="0">
                <a:solidFill>
                  <a:srgbClr val="35464F"/>
                </a:solidFill>
                <a:latin typeface="Aptos"/>
                <a:cs typeface="Aptos"/>
              </a:rPr>
              <a:t>To the maximum extent permitted by law, each Aravest Representative disclaims all liability and you expressly release each Aravest Representative from, any liability, that may otherwise arise from reliance upon this paper or due to any information contained in this paper being inaccurate or due to information being omitted from this paper, whether by way of negligence or otherwise. Each recipient of this paper should conduct its own independent review, investigations, verification and analysis of the information contained or referred to in this paper. Each recipient of this paper represents and warrants that it is and at all times will be a wholesale client, an accredited investor or an institutional investor. </a:t>
            </a:r>
          </a:p>
          <a:p>
            <a:pPr algn="l">
              <a:lnSpc>
                <a:spcPct val="112000"/>
              </a:lnSpc>
              <a:spcBef>
                <a:spcPts val="0"/>
              </a:spcBef>
              <a:spcAft>
                <a:spcPts val="500"/>
              </a:spcAft>
            </a:pPr>
            <a:r>
              <a:rPr sz="750" b="0" i="0">
                <a:solidFill>
                  <a:srgbClr val="35464F"/>
                </a:solidFill>
                <a:latin typeface="Aptos"/>
                <a:cs typeface="Aptos"/>
              </a:rPr>
              <a:t>All rights are reserved by Aravest. </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D·AU</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Important notice · Korea</a:t>
            </a:r>
          </a:p>
        </p:txBody>
      </p:sp>
      <p:sp>
        <p:nvSpPr>
          <p:cNvPr id="4" name="Rectangle 3"/>
          <p:cNvSpPr/>
          <p:nvPr/>
        </p:nvSpPr>
        <p:spPr>
          <a:xfrm>
            <a:off x="640080" y="6766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 Copyright 2024, Aravest. The concepts and information contained in this paper are the property of Aravest. You acknowledge Aravest is the owner of the intellectual or industrial property owned or used in connection with any business of Aravest and which is set out in this paper. </a:t>
            </a:r>
          </a:p>
          <a:p>
            <a:pPr algn="l">
              <a:lnSpc>
                <a:spcPct val="112000"/>
              </a:lnSpc>
              <a:spcBef>
                <a:spcPts val="0"/>
              </a:spcBef>
              <a:spcAft>
                <a:spcPts val="500"/>
              </a:spcAft>
            </a:pPr>
            <a:r>
              <a:rPr sz="750" b="0" i="0">
                <a:solidFill>
                  <a:srgbClr val="35464F"/>
                </a:solidFill>
                <a:latin typeface="Aptos"/>
                <a:cs typeface="Aptos"/>
              </a:rPr>
              <a:t>This paper has been prepared by or on behalf of ARA Korea Limited (“Aravest”) solely for preliminary general information purposes and without considering your individual objectives, financial situation or needs. </a:t>
            </a:r>
          </a:p>
          <a:p>
            <a:pPr algn="l">
              <a:lnSpc>
                <a:spcPct val="112000"/>
              </a:lnSpc>
              <a:spcBef>
                <a:spcPts val="0"/>
              </a:spcBef>
              <a:spcAft>
                <a:spcPts val="500"/>
              </a:spcAft>
            </a:pPr>
            <a:r>
              <a:rPr sz="750" b="0" i="0">
                <a:solidFill>
                  <a:srgbClr val="35464F"/>
                </a:solidFill>
                <a:latin typeface="Aptos"/>
                <a:cs typeface="Aptos"/>
              </a:rPr>
              <a:t>This paper is strictly confidential and is solely for your own use and that of your necessary professional advisers. It must not be provided to any other party without the prior written consent of Aravest, which may be withheld in the absolute discretion of Aravest. No part of this paper may be copied, reproduced, transmitted or re-distributed without Aravest’ prior written consent. </a:t>
            </a:r>
          </a:p>
          <a:p>
            <a:pPr algn="l">
              <a:lnSpc>
                <a:spcPct val="112000"/>
              </a:lnSpc>
              <a:spcBef>
                <a:spcPts val="0"/>
              </a:spcBef>
              <a:spcAft>
                <a:spcPts val="500"/>
              </a:spcAft>
            </a:pPr>
            <a:r>
              <a:rPr sz="750" b="0" i="0">
                <a:solidFill>
                  <a:srgbClr val="35464F"/>
                </a:solidFill>
                <a:latin typeface="Aptos"/>
                <a:cs typeface="Aptos"/>
              </a:rPr>
              <a:t>The content in this paper does not constitute financial product advice (nor investment, tax or legal advice) by Aravest or its officers, employees, affiliates, holding companies, subsidiaries or controlling persons, directors, officers, partners, agents, representatives or advisers (collectively with Aravest, the “Aravest Representatives”). The information in this paper is general information only and has been prepared without considering your objectives, financial situation or needs. Before acting on any information in this paper, you should consider its appropriateness to your circumstances and obtain appropriate professional advice. Under no circumstances should shareholders, customers, suppliers or transaction counterparties of Aravest be contacted directly concerning this information or a possible transaction.</a:t>
            </a:r>
          </a:p>
          <a:p>
            <a:pPr algn="l">
              <a:lnSpc>
                <a:spcPct val="112000"/>
              </a:lnSpc>
              <a:spcBef>
                <a:spcPts val="0"/>
              </a:spcBef>
              <a:spcAft>
                <a:spcPts val="500"/>
              </a:spcAft>
            </a:pPr>
            <a:r>
              <a:rPr sz="750" b="0" i="0">
                <a:solidFill>
                  <a:srgbClr val="35464F"/>
                </a:solidFill>
                <a:latin typeface="Aptos"/>
                <a:cs typeface="Aptos"/>
              </a:rPr>
              <a:t>Statements in this paper are made only as of the date of this paper unless otherwise stated and solely for the purposes for which they are expressed to be prepared (or for general information purposes only if no purpose is specified). Nothing shall create an implication that the information contained herein is correct as of any other time subsequent to such date(s).</a:t>
            </a:r>
          </a:p>
        </p:txBody>
      </p:sp>
      <p:sp>
        <p:nvSpPr>
          <p:cNvPr id="6" name="TextBox 5"/>
          <p:cNvSpPr txBox="1"/>
          <p:nvPr/>
        </p:nvSpPr>
        <p:spPr>
          <a:xfrm>
            <a:off x="6277356"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No Aravest Representative is responsible for providing updated information to you. Any forecasts, targets, projections, estimates or other forward-looking statements contained in this paper may involve significant elements of subjective judgement and assumptions as to future events which may or may not be correct. There are usually differences between forecast, projected and actual results because events and actual circumstances frequently do not occur as forecast or projected and these differences may be material. Representative examples of these factors include but are not limited to general market and economic conditions, interest rate trends, competition from other investors, changes in operating expenses including employee wages and benefits, changes in government policies, and the continued availability of financing in the amounts and terms necessary to support future business. Any forecast or projected return rates shown in this paper are neither promised nor guaranteed – they are each based on a number of assumptions and subject to the impact of risk factors. </a:t>
            </a:r>
          </a:p>
          <a:p>
            <a:pPr algn="l">
              <a:lnSpc>
                <a:spcPct val="112000"/>
              </a:lnSpc>
              <a:spcBef>
                <a:spcPts val="0"/>
              </a:spcBef>
              <a:spcAft>
                <a:spcPts val="500"/>
              </a:spcAft>
            </a:pPr>
            <a:r>
              <a:rPr sz="750" b="0" i="0">
                <a:solidFill>
                  <a:srgbClr val="35464F"/>
                </a:solidFill>
                <a:latin typeface="Aptos"/>
                <a:cs typeface="Aptos"/>
              </a:rPr>
              <a:t>No Aravest Representative makes any representation or warranty as to, or takes responsibility for, the accuracy, reliability or completeness of the information contained in this paper. Nothing contained in this paper, nor any other related information made available you is, or shall be relied upon as, a promise, representation, warranty or guarantee, whether as to the past, present or the future. Information in this paper from external sources has not been independently verified by any Aravest Representative and the Aravest Representatives do not assume any responsibility for the accuracy of such information. </a:t>
            </a:r>
          </a:p>
          <a:p>
            <a:pPr algn="l">
              <a:lnSpc>
                <a:spcPct val="112000"/>
              </a:lnSpc>
              <a:spcBef>
                <a:spcPts val="0"/>
              </a:spcBef>
              <a:spcAft>
                <a:spcPts val="500"/>
              </a:spcAft>
            </a:pPr>
            <a:r>
              <a:rPr sz="750" b="0" i="0">
                <a:solidFill>
                  <a:srgbClr val="35464F"/>
                </a:solidFill>
                <a:latin typeface="Aptos"/>
                <a:cs typeface="Aptos"/>
              </a:rPr>
              <a:t>To the maximum extent permitted by law, each Aravest Representative disclaims all liability and you expressly release each Aravest Representative from, any liability, that may otherwise arise from reliance upon this paper or due to any information contained in this paper being inaccurate or due to information being omitted from this paper, whether by way of negligence or otherwise. Each recipient of this paper should conduct its own independent review, investigations, verification and analysis of the information contained or referred to in this paper. Each recipient of this paper represents and warrants that it is and at all times will be a wholesale client, an accredited investor or an institutional investor. </a:t>
            </a:r>
          </a:p>
          <a:p>
            <a:pPr algn="l">
              <a:lnSpc>
                <a:spcPct val="112000"/>
              </a:lnSpc>
              <a:spcBef>
                <a:spcPts val="0"/>
              </a:spcBef>
              <a:spcAft>
                <a:spcPts val="500"/>
              </a:spcAft>
            </a:pPr>
            <a:r>
              <a:rPr sz="750" b="0" i="0">
                <a:solidFill>
                  <a:srgbClr val="35464F"/>
                </a:solidFill>
                <a:latin typeface="Aptos"/>
                <a:cs typeface="Aptos"/>
              </a:rPr>
              <a:t>All rights are reserved by Aravest. </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D·KR</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Important notice · Korea (REF)</a:t>
            </a:r>
          </a:p>
        </p:txBody>
      </p:sp>
      <p:sp>
        <p:nvSpPr>
          <p:cNvPr id="4" name="Rectangle 3"/>
          <p:cNvSpPr/>
          <p:nvPr/>
        </p:nvSpPr>
        <p:spPr>
          <a:xfrm>
            <a:off x="640080" y="6766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 Copyright 2024, Aravest. The concepts and information contained in this paper are the property of Aravest. You acknowledge Aravest is the owner of the intellectual or industrial property owned or used in connection with any business of Aravest and which is set out in this paper. </a:t>
            </a:r>
          </a:p>
          <a:p>
            <a:pPr algn="l">
              <a:lnSpc>
                <a:spcPct val="112000"/>
              </a:lnSpc>
              <a:spcBef>
                <a:spcPts val="0"/>
              </a:spcBef>
              <a:spcAft>
                <a:spcPts val="500"/>
              </a:spcAft>
            </a:pPr>
            <a:r>
              <a:rPr sz="750" b="0" i="0">
                <a:solidFill>
                  <a:srgbClr val="35464F"/>
                </a:solidFill>
                <a:latin typeface="Aptos"/>
                <a:cs typeface="Aptos"/>
              </a:rPr>
              <a:t>This paper has been prepared by or on behalf of ARA Korea (REF) Limited (“Aravest”) solely for preliminary general information purposes and without considering your individual objectives, financial situation or needs. </a:t>
            </a:r>
          </a:p>
          <a:p>
            <a:pPr algn="l">
              <a:lnSpc>
                <a:spcPct val="112000"/>
              </a:lnSpc>
              <a:spcBef>
                <a:spcPts val="0"/>
              </a:spcBef>
              <a:spcAft>
                <a:spcPts val="500"/>
              </a:spcAft>
            </a:pPr>
            <a:r>
              <a:rPr sz="750" b="0" i="0">
                <a:solidFill>
                  <a:srgbClr val="35464F"/>
                </a:solidFill>
                <a:latin typeface="Aptos"/>
                <a:cs typeface="Aptos"/>
              </a:rPr>
              <a:t>This paper is strictly confidential and is solely for your own use and that of your necessary professional advisers. It must not be provided to any other party without the prior written consent of Aravest, which may be withheld in the absolute discretion of Aravest. No part of this paper may be copied, reproduced, transmitted or re-distributed without Aravest’ prior written consent. </a:t>
            </a:r>
          </a:p>
          <a:p>
            <a:pPr algn="l">
              <a:lnSpc>
                <a:spcPct val="112000"/>
              </a:lnSpc>
              <a:spcBef>
                <a:spcPts val="0"/>
              </a:spcBef>
              <a:spcAft>
                <a:spcPts val="500"/>
              </a:spcAft>
            </a:pPr>
            <a:r>
              <a:rPr sz="750" b="0" i="0">
                <a:solidFill>
                  <a:srgbClr val="35464F"/>
                </a:solidFill>
                <a:latin typeface="Aptos"/>
                <a:cs typeface="Aptos"/>
              </a:rPr>
              <a:t>The content in this paper does not constitute financial product advice (nor investment, tax or legal advice) by Aravest or its officers, employees, affiliates, holding companies, subsidiaries or controlling persons, directors, officers, partners, agents, representatives or advisers (collectively with Aravest, the “Aravest Representatives”). The information in this paper is general information only and has been prepared without considering your objectives, financial situation or needs. Before acting on any information in this paper, you should consider its appropriateness to your circumstances and obtain appropriate professional advice. Under no circumstances should shareholders, customers, suppliers or transaction counterparties of Aravest be contacted directly concerning this information or a possible transaction.</a:t>
            </a:r>
          </a:p>
          <a:p>
            <a:pPr algn="l">
              <a:lnSpc>
                <a:spcPct val="112000"/>
              </a:lnSpc>
              <a:spcBef>
                <a:spcPts val="0"/>
              </a:spcBef>
              <a:spcAft>
                <a:spcPts val="500"/>
              </a:spcAft>
            </a:pPr>
            <a:r>
              <a:rPr sz="750" b="0" i="0">
                <a:solidFill>
                  <a:srgbClr val="35464F"/>
                </a:solidFill>
                <a:latin typeface="Aptos"/>
                <a:cs typeface="Aptos"/>
              </a:rPr>
              <a:t>Statements in this paper are made only as of the date of this paper unless otherwise stated and solely for the purposes for which they are expressed to be prepared (or for general information purposes only if no purpose is specified). Nothing shall create an implication that the information contained herein is correct as of any other time subsequent to such date(s).</a:t>
            </a:r>
          </a:p>
        </p:txBody>
      </p:sp>
      <p:sp>
        <p:nvSpPr>
          <p:cNvPr id="6" name="TextBox 5"/>
          <p:cNvSpPr txBox="1"/>
          <p:nvPr/>
        </p:nvSpPr>
        <p:spPr>
          <a:xfrm>
            <a:off x="6277356"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No Aravest Representative is responsible for providing updated information to you. Any forecasts, targets, projections, estimates or other forward-looking statements contained in this paper may involve significant elements of subjective judgement and assumptions as to future events which may or may not be correct. There are usually differences between forecast, projected and actual results because events and actual circumstances frequently do not occur as forecast or projected and these differences may be material. Representative examples of these factors include but are not limited to general market and economic conditions, interest rate trends, competition from other investors, changes in operating expenses including employee wages and benefits, changes in government policies, and the continued availability of financing in the amounts and terms necessary to support future business. Any forecast or projected return rates shown in this paper are neither promised nor guaranteed – they are each based on a number of assumptions and subject to the impact of risk factors. </a:t>
            </a:r>
          </a:p>
          <a:p>
            <a:pPr algn="l">
              <a:lnSpc>
                <a:spcPct val="112000"/>
              </a:lnSpc>
              <a:spcBef>
                <a:spcPts val="0"/>
              </a:spcBef>
              <a:spcAft>
                <a:spcPts val="500"/>
              </a:spcAft>
            </a:pPr>
            <a:r>
              <a:rPr sz="750" b="0" i="0">
                <a:solidFill>
                  <a:srgbClr val="35464F"/>
                </a:solidFill>
                <a:latin typeface="Aptos"/>
                <a:cs typeface="Aptos"/>
              </a:rPr>
              <a:t>No Aravest Representative makes any representation or warranty as to, or takes responsibility for, the accuracy, reliability or completeness of the information contained in this paper. Nothing contained in this paper, nor any other related information made available you is, or shall be relied upon as, a promise, representation, warranty or guarantee, whether as to the past, present or the future. Information in this paper from external sources has not been independently verified by any Aravest Representative and the Aravest Representatives do not assume any responsibility for the accuracy of such information. </a:t>
            </a:r>
          </a:p>
          <a:p>
            <a:pPr algn="l">
              <a:lnSpc>
                <a:spcPct val="112000"/>
              </a:lnSpc>
              <a:spcBef>
                <a:spcPts val="0"/>
              </a:spcBef>
              <a:spcAft>
                <a:spcPts val="500"/>
              </a:spcAft>
            </a:pPr>
            <a:r>
              <a:rPr sz="750" b="0" i="0">
                <a:solidFill>
                  <a:srgbClr val="35464F"/>
                </a:solidFill>
                <a:latin typeface="Aptos"/>
                <a:cs typeface="Aptos"/>
              </a:rPr>
              <a:t>To the maximum extent permitted by law, each Aravest Representative disclaims all liability and you expressly release each Aravest Representative from, any liability, that may otherwise arise from reliance upon this paper or due to any information contained in this paper being inaccurate or due to information being omitted from this paper, whether by way of negligence or otherwise. Each recipient of this paper should conduct its own independent review, investigations, verification and analysis of the information contained or referred to in this paper. Each recipient of this paper represents and warrants that it is and at all times will be a wholesale client, an accredited investor or an institutional investor. </a:t>
            </a:r>
          </a:p>
          <a:p>
            <a:pPr algn="l">
              <a:lnSpc>
                <a:spcPct val="112000"/>
              </a:lnSpc>
              <a:spcBef>
                <a:spcPts val="0"/>
              </a:spcBef>
              <a:spcAft>
                <a:spcPts val="500"/>
              </a:spcAft>
            </a:pPr>
            <a:r>
              <a:rPr sz="750" b="0" i="0">
                <a:solidFill>
                  <a:srgbClr val="35464F"/>
                </a:solidFill>
                <a:latin typeface="Aptos"/>
                <a:cs typeface="Aptos"/>
              </a:rPr>
              <a:t>All rights are reserved by Aravest. </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D·KRREF</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5001768" y="2377440"/>
            <a:ext cx="1502449" cy="868680"/>
          </a:xfrm>
          <a:prstGeom prst="rect">
            <a:avLst/>
          </a:prstGeom>
        </p:spPr>
      </p:pic>
      <p:sp>
        <p:nvSpPr>
          <p:cNvPr id="4" name="TextBox 3"/>
          <p:cNvSpPr txBox="1"/>
          <p:nvPr/>
        </p:nvSpPr>
        <p:spPr>
          <a:xfrm>
            <a:off x="0" y="3703320"/>
            <a:ext cx="12191695" cy="1097280"/>
          </a:xfrm>
          <a:prstGeom prst="rect">
            <a:avLst/>
          </a:prstGeom>
          <a:noFill/>
        </p:spPr>
        <p:txBody>
          <a:bodyPr wrap="square" anchor="t" lIns="0" rIns="0" tIns="0" bIns="0">
            <a:spAutoFit/>
          </a:bodyPr>
          <a:lstStyle/>
          <a:p>
            <a:pPr algn="ctr">
              <a:spcBef>
                <a:spcPts val="0"/>
              </a:spcBef>
              <a:spcAft>
                <a:spcPts val="200"/>
              </a:spcAft>
            </a:pPr>
            <a:r>
              <a:rPr sz="1150" b="0" i="0">
                <a:solidFill>
                  <a:srgbClr val="D5DDE6"/>
                </a:solidFill>
                <a:latin typeface="Aptos"/>
                <a:cs typeface="Aptos"/>
              </a:rPr>
              <a:t>23 Church Street #09-05 </a:t>
            </a:r>
          </a:p>
          <a:p>
            <a:pPr algn="ctr">
              <a:spcBef>
                <a:spcPts val="0"/>
              </a:spcBef>
              <a:spcAft>
                <a:spcPts val="200"/>
              </a:spcAft>
            </a:pPr>
            <a:r>
              <a:rPr sz="1150" b="0" i="0">
                <a:solidFill>
                  <a:srgbClr val="D5DDE6"/>
                </a:solidFill>
                <a:latin typeface="Aptos"/>
                <a:cs typeface="Aptos"/>
              </a:rPr>
              <a:t>Capital Square </a:t>
            </a:r>
          </a:p>
          <a:p>
            <a:pPr algn="ctr">
              <a:spcBef>
                <a:spcPts val="0"/>
              </a:spcBef>
              <a:spcAft>
                <a:spcPts val="200"/>
              </a:spcAft>
            </a:pPr>
            <a:r>
              <a:rPr sz="1150" b="0" i="0">
                <a:solidFill>
                  <a:srgbClr val="D5DDE6"/>
                </a:solidFill>
                <a:latin typeface="Aptos"/>
                <a:cs typeface="Aptos"/>
              </a:rPr>
              <a:t>Singapore 049481</a:t>
            </a:r>
          </a:p>
          <a:p>
            <a:pPr algn="ctr">
              <a:spcBef>
                <a:spcPts val="0"/>
              </a:spcBef>
              <a:spcAft>
                <a:spcPts val="200"/>
              </a:spcAft>
            </a:pPr>
            <a:r>
              <a:rPr sz="1150" b="0" i="0">
                <a:solidFill>
                  <a:srgbClr val="D5DDE6"/>
                </a:solidFill>
                <a:latin typeface="Aptos"/>
                <a:cs typeface="Aptos"/>
              </a:rPr>
              <a:t>Aravest Pte Ltd</a:t>
            </a:r>
          </a:p>
        </p:txBody>
      </p:sp>
      <p:sp>
        <p:nvSpPr>
          <p:cNvPr id="5" name="TextBox 4"/>
          <p:cNvSpPr txBox="1"/>
          <p:nvPr/>
        </p:nvSpPr>
        <p:spPr>
          <a:xfrm>
            <a:off x="0" y="6355080"/>
            <a:ext cx="12191695" cy="320040"/>
          </a:xfrm>
          <a:prstGeom prst="rect">
            <a:avLst/>
          </a:prstGeom>
          <a:noFill/>
        </p:spPr>
        <p:txBody>
          <a:bodyPr wrap="square" anchor="t" lIns="0" rIns="0" tIns="0" bIns="0">
            <a:spAutoFit/>
          </a:bodyPr>
          <a:lstStyle/>
          <a:p>
            <a:pPr algn="ctr">
              <a:spcBef>
                <a:spcPts val="0"/>
              </a:spcBef>
              <a:spcAft>
                <a:spcPts val="0"/>
              </a:spcAft>
            </a:pPr>
            <a:r>
              <a:rPr sz="850" b="0" i="0">
                <a:solidFill>
                  <a:srgbClr val="D5DDE6"/>
                </a:solidFill>
                <a:latin typeface="Aptos"/>
                <a:cs typeface="Aptos"/>
              </a:rPr>
              <a:t>Private and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