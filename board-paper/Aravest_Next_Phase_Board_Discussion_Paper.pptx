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 discussion paper. Locked Board Strategy Story v8 — the agreed strategic narrative; not to be reopened or materially changed unless specifically directed.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phase of Aravest under SMFL ownership was focused on integration and continuity. As that work progresses, our focus is increasingly on the next phase: building the institutional foundations, investment record and investor confidence required for Aravest’s long-term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of building a post-SMFL track record has already started. From 2027 to 2029, that becomes the central strategic focus. Around 2030 is a realistic point at which a broader body of institutional capital may become more achievable, subject to the pace of execution and market conditions.”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Aravest Way separates what should remain constant from what may evolve. Our values define how we conduct our business. Our investment philosophy explains how those values are applied to investing. Together, they create the consistency and trust required to build a larger institution without losing the standards on which that institution depends.”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Aravest Way separates what should remain constant from what may evolve. Our values define how we conduct our business. Our investment philosophy explains how those values are applied to investing.”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Aravest Way defines the standards by which we invest. Within those standards, we remain flexible in where we seek opportunities. We do not invest simply because an asset falls within a preferred sector. We invest where we can identify value, establish a credible plan to realise that value and assemble all the capabilities required for execution.”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track record we need to build is not simply a record of acquisitions. It is a record of judgement, execution, stewardship, performance, realisation and repeatability under SMFL ownership. As that evidence accumulates, investor confidence can move from individual opportunities to repeat participation and ultimately to broader strategy-level capital.”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track record we need to build is not simply a record of acquisitions. It is a record of judgement, execution, stewardship, performance, realisation and repeatability under SMFL ownership.”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pathways are intended to run in parallel. Diversified Track Record Building is the principal programme for establishing the investment record and repeatability required for Aravest’s long-term franchise. Institutional-Scale Opportunities provide the possibility of accelerating AUM and institutional relevance when suitable opportunities arise. Each such opportunity will be brought to the Board for consideration and decision on a case-by-case basis.”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pathway is designed to use the existing capital support to build several proof points while diversifying risk. For each investment, we will consider whether capital is best recycled at the individual asset level or after aggregation into a larger portfolio. Asset-level recycling may be faster; portfolio aggregation may be more relevant to institutional investors but may require more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investment, we will consider whether capital is best recycled at the individual asset level or after aggregation into a larger portfolio. Asset-level recycling may be faster; portfolio aggregation may be more relevant to institutional investors but may require more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pathway preserves Aravest’s ability to pursue opportunities that can materially change the scale and visibility of the platform. These transactions may be more relevant to large institutional investors, but they also involve a materially different capital and concentration profile. Management will therefore bring each opportunity to the Board separately for consideration and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theory, investor commitments and transaction closing can be aligned. In practice, the processes often move on different timetables. Warehousing provides the bridge. Without that bridge, Aravest may execute too few transactions to establish the post-SMFL record required for future fundraising.”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theory, investor commitments and transaction closing can be aligned. In practice, the processes often move on different timetables. Warehousing provides the bridge.”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diversified pathway, AUM may grow gradually, remain flat or decline temporarily as investments are realised and capital is recycled. Institutional-scale opportunities provide the potential to change that AUM profile, although they involve a materially different capital and concentration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“Conrad Seoul is a useful illustration of the model. Sponsor-supported capital provided acquisition certainty. Once the transaction was secured and execution was visible, institutional capital was introduced. This allowed capital to be recycled and gave Aravest a stronger proof point under SMFL ownership.”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illustrates how the strategy translates into current opportunities. Some transactions provide diversified proof points and portfolio building blocks. Others may materially change the scale of the platform. Together, they show how the two pathways can develop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2027, our principal focus will remain in sectors where we have established investment and asset-management experience, particularly office, logistics and selected retail or mixed-use opportunities. Hospitality and living will be current target priorities. Other sectors, including data centres, will be considered opportunistically where the investment case is compelling and the required specialist capability has been secured.”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strategy is not defined by sector alone. For every opportunity, we must be able to explain where the value gap exists, how we intend to close that gap and who will execute each part of the business plan. Aravest does not need to perform every function internally, but we must ensure that the full capability set is in place and remain accountable for the investment outcome.”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funds and investments should be structured in accordance with standards expected by institutional investors. The relevant fund and asset-level vehicles contain the investment risks and liabilities, while financing is generally non-recourse or limited recourse to the relevant borrower and secured assets.”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an investor, Aravest or SMFL commits equity, that approved capital is exposed to the performance of the investment. This does not mean that the wider liabilities of the fund or asset automatically become liabilities of the manager or shareholder. Any additional manager- or shareholder-level support must be made explicit and separately approved.”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discussion. The v8 proposition in one paragraph — the locked strategic narrative’s closing synthesis.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notice — wording preserved verbatim from the approved Aravest template; not to be amended without Legal and Compliance approval.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a:off x="-1920240" y="3794760"/>
            <a:ext cx="5852160" cy="4206240"/>
          </a:xfrm>
          <a:prstGeom prst="triangle">
            <a:avLst/>
          </a:prstGeom>
          <a:noFill/>
          <a:ln w="12700">
            <a:solidFill>
              <a:srgbClr val="1F3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verB_strip.jpg"/>
          <p:cNvPicPr>
            <a:picLocks noChangeAspect="1"/>
          </p:cNvPicPr>
          <p:nvPr/>
        </p:nvPicPr>
        <p:blipFill>
          <a:blip r:embed="rId2"/>
          <a:stretch>
            <a:fillRect/>
          </a:stretch>
        </p:blipFill>
        <p:spPr>
          <a:xfrm>
            <a:off x="8558784" y="0"/>
            <a:ext cx="3632911" cy="6858000"/>
          </a:xfrm>
          <a:prstGeom prst="rect">
            <a:avLst/>
          </a:prstGeom>
        </p:spPr>
      </p:pic>
      <p:pic>
        <p:nvPicPr>
          <p:cNvPr id="5" name="Picture 4" descr="logo_white.png"/>
          <p:cNvPicPr>
            <a:picLocks noChangeAspect="1"/>
          </p:cNvPicPr>
          <p:nvPr/>
        </p:nvPicPr>
        <p:blipFill>
          <a:blip r:embed="rId3"/>
          <a:stretch>
            <a:fillRect/>
          </a:stretch>
        </p:blipFill>
        <p:spPr>
          <a:xfrm>
            <a:off x="914400" y="685800"/>
            <a:ext cx="917285" cy="530352"/>
          </a:xfrm>
          <a:prstGeom prst="rect">
            <a:avLst/>
          </a:prstGeom>
        </p:spPr>
      </p:pic>
      <p:sp>
        <p:nvSpPr>
          <p:cNvPr id="6" name="Rectangle 5"/>
          <p:cNvSpPr/>
          <p:nvPr/>
        </p:nvSpPr>
        <p:spPr>
          <a:xfrm>
            <a:off x="914400" y="2615184"/>
            <a:ext cx="77724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79776"/>
            <a:ext cx="7315200" cy="292608"/>
          </a:xfrm>
          <a:prstGeom prst="rect">
            <a:avLst/>
          </a:prstGeom>
          <a:noFill/>
        </p:spPr>
        <p:txBody>
          <a:bodyPr wrap="square" anchor="t" lIns="0" rIns="0" tIns="0" bIns="0">
            <a:spAutoFit/>
          </a:bodyPr>
          <a:lstStyle/>
          <a:p>
            <a:pPr algn="l">
              <a:spcBef>
                <a:spcPts val="0"/>
              </a:spcBef>
              <a:spcAft>
                <a:spcPts val="0"/>
              </a:spcAft>
            </a:pPr>
            <a:r>
              <a:rPr sz="1100" b="1" i="0" spc="180" cap="all">
                <a:solidFill>
                  <a:srgbClr val="869397"/>
                </a:solidFill>
                <a:latin typeface="Aptos"/>
                <a:cs typeface="Aptos"/>
              </a:rPr>
              <a:t>Private &amp; Confidential  ·  Board Strategy Meeting  ·  September 2026</a:t>
            </a:r>
          </a:p>
        </p:txBody>
      </p:sp>
      <p:sp>
        <p:nvSpPr>
          <p:cNvPr id="8" name="TextBox 7"/>
          <p:cNvSpPr txBox="1"/>
          <p:nvPr/>
        </p:nvSpPr>
        <p:spPr>
          <a:xfrm>
            <a:off x="896112" y="3145536"/>
            <a:ext cx="7498079" cy="960120"/>
          </a:xfrm>
          <a:prstGeom prst="rect">
            <a:avLst/>
          </a:prstGeom>
          <a:noFill/>
        </p:spPr>
        <p:txBody>
          <a:bodyPr wrap="square" anchor="t" lIns="0" rIns="0" tIns="0" bIns="0">
            <a:spAutoFit/>
          </a:bodyPr>
          <a:lstStyle/>
          <a:p>
            <a:pPr algn="l">
              <a:spcAft>
                <a:spcPts val="0"/>
              </a:spcAft>
            </a:pPr>
            <a:r>
              <a:rPr sz="4200" b="0" i="0">
                <a:solidFill>
                  <a:srgbClr val="FFFFFF"/>
                </a:solidFill>
                <a:latin typeface="Spectral Light"/>
                <a:cs typeface="Spectral Light"/>
              </a:rPr>
              <a:t>Aravest’s </a:t>
            </a:r>
            <a:r>
              <a:rPr sz="4200" b="0" i="1">
                <a:solidFill>
                  <a:srgbClr val="FFFFFF"/>
                </a:solidFill>
                <a:latin typeface="Spectral Light"/>
                <a:cs typeface="Spectral Light"/>
              </a:rPr>
              <a:t>Next Phase</a:t>
            </a:r>
          </a:p>
        </p:txBody>
      </p:sp>
      <p:sp>
        <p:nvSpPr>
          <p:cNvPr id="9" name="TextBox 8"/>
          <p:cNvSpPr txBox="1"/>
          <p:nvPr/>
        </p:nvSpPr>
        <p:spPr>
          <a:xfrm>
            <a:off x="914400" y="4187952"/>
            <a:ext cx="6858000" cy="1005840"/>
          </a:xfrm>
          <a:prstGeom prst="rect">
            <a:avLst/>
          </a:prstGeom>
          <a:noFill/>
        </p:spPr>
        <p:txBody>
          <a:bodyPr wrap="square" anchor="t" lIns="0" rIns="0" tIns="0" bIns="0">
            <a:spAutoFit/>
          </a:bodyPr>
          <a:lstStyle/>
          <a:p>
            <a:pPr algn="l">
              <a:lnSpc>
                <a:spcPct val="132000"/>
              </a:lnSpc>
              <a:spcBef>
                <a:spcPts val="0"/>
              </a:spcBef>
              <a:spcAft>
                <a:spcPts val="0"/>
              </a:spcAft>
            </a:pPr>
            <a:r>
              <a:rPr sz="1350" b="0" i="0">
                <a:solidFill>
                  <a:srgbClr val="D5DDE6"/>
                </a:solidFill>
                <a:latin typeface="Aptos"/>
                <a:cs typeface="Aptos"/>
              </a:rPr>
              <a:t>From integration to institution-building: establishing the post-SMFL track record, defining the near-term investment focus and developing the pathways for sustainable long-term growth.</a:t>
            </a:r>
          </a:p>
        </p:txBody>
      </p:sp>
      <p:sp>
        <p:nvSpPr>
          <p:cNvPr id="10" name="TextBox 9"/>
          <p:cNvSpPr txBox="1"/>
          <p:nvPr/>
        </p:nvSpPr>
        <p:spPr>
          <a:xfrm>
            <a:off x="914400" y="6355080"/>
            <a:ext cx="7315200" cy="292608"/>
          </a:xfrm>
          <a:prstGeom prst="rect">
            <a:avLst/>
          </a:prstGeom>
          <a:noFill/>
        </p:spPr>
        <p:txBody>
          <a:bodyPr wrap="square" anchor="t" lIns="0" rIns="0" tIns="0" bIns="0">
            <a:spAutoFit/>
          </a:bodyPr>
          <a:lstStyle/>
          <a:p>
            <a:pPr algn="l">
              <a:spcBef>
                <a:spcPts val="0"/>
              </a:spcBef>
              <a:spcAft>
                <a:spcPts val="0"/>
              </a:spcAft>
            </a:pPr>
            <a:r>
              <a:rPr sz="900" b="0" i="0">
                <a:solidFill>
                  <a:srgbClr val="D5DDE6"/>
                </a:solidFill>
                <a:latin typeface="Aptos"/>
                <a:cs typeface="Aptos"/>
              </a:rPr>
              <a:t>Aravest Fund Management Pte. Ltd.      Private and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navy.png"/>
          <p:cNvPicPr>
            <a:picLocks noChangeAspect="1"/>
          </p:cNvPicPr>
          <p:nvPr/>
        </p:nvPicPr>
        <p:blipFill>
          <a:blip r:embed="rId2"/>
          <a:stretch>
            <a:fillRect/>
          </a:stretch>
        </p:blipFill>
        <p:spPr>
          <a:xfrm>
            <a:off x="10881360" y="329184"/>
            <a:ext cx="600980" cy="347472"/>
          </a:xfrm>
          <a:prstGeom prst="rect">
            <a:avLst/>
          </a:prstGeom>
        </p:spPr>
      </p:pic>
      <p:sp>
        <p:nvSpPr>
          <p:cNvPr id="4" name="TextBox 3"/>
          <p:cNvSpPr txBox="1"/>
          <p:nvPr/>
        </p:nvSpPr>
        <p:spPr>
          <a:xfrm>
            <a:off x="914400" y="658368"/>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01 · Purpose</a:t>
            </a:r>
          </a:p>
        </p:txBody>
      </p:sp>
      <p:sp>
        <p:nvSpPr>
          <p:cNvPr id="5" name="TextBox 4"/>
          <p:cNvSpPr txBox="1"/>
          <p:nvPr/>
        </p:nvSpPr>
        <p:spPr>
          <a:xfrm>
            <a:off x="914400" y="1188720"/>
            <a:ext cx="10058400" cy="1463040"/>
          </a:xfrm>
          <a:prstGeom prst="rect">
            <a:avLst/>
          </a:prstGeom>
          <a:noFill/>
        </p:spPr>
        <p:txBody>
          <a:bodyPr wrap="square" anchor="t" lIns="0" rIns="0" tIns="0" bIns="0">
            <a:spAutoFit/>
          </a:bodyPr>
          <a:lstStyle/>
          <a:p>
            <a:pPr>
              <a:lnSpc>
                <a:spcPct val="116000"/>
              </a:lnSpc>
              <a:spcAft>
                <a:spcPts val="0"/>
              </a:spcAft>
            </a:pPr>
            <a:r>
              <a:rPr sz="2900" b="0" i="0">
                <a:solidFill>
                  <a:srgbClr val="002B5C"/>
                </a:solidFill>
                <a:latin typeface="Spectral Light"/>
                <a:cs typeface="Spectral Light"/>
              </a:rPr>
              <a:t>Aravest is moving from integration into </a:t>
            </a:r>
            <a:r>
              <a:rPr sz="2900" b="0" i="1">
                <a:solidFill>
                  <a:srgbClr val="002B5C"/>
                </a:solidFill>
                <a:latin typeface="Spectral Light"/>
                <a:cs typeface="Spectral Light"/>
              </a:rPr>
              <a:t>institution-building</a:t>
            </a:r>
            <a:r>
              <a:rPr sz="2900" b="0" i="0">
                <a:solidFill>
                  <a:srgbClr val="002B5C"/>
                </a:solidFill>
                <a:latin typeface="Spectral Light"/>
                <a:cs typeface="Spectral Light"/>
              </a:rPr>
              <a:t>.</a:t>
            </a:r>
          </a:p>
        </p:txBody>
      </p:sp>
      <p:sp>
        <p:nvSpPr>
          <p:cNvPr id="6" name="Rectangle 5"/>
          <p:cNvSpPr/>
          <p:nvPr/>
        </p:nvSpPr>
        <p:spPr>
          <a:xfrm>
            <a:off x="932688" y="2212848"/>
            <a:ext cx="35560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32304"/>
            <a:ext cx="10058400" cy="1234440"/>
          </a:xfrm>
          <a:prstGeom prst="rect">
            <a:avLst/>
          </a:prstGeom>
          <a:noFill/>
        </p:spPr>
        <p:txBody>
          <a:bodyPr wrap="square" anchor="t" lIns="0" rIns="0" tIns="0" bIns="0">
            <a:spAutoFit/>
          </a:bodyPr>
          <a:lstStyle/>
          <a:p>
            <a:pPr algn="l">
              <a:lnSpc>
                <a:spcPct val="132000"/>
              </a:lnSpc>
              <a:spcBef>
                <a:spcPts val="0"/>
              </a:spcBef>
              <a:spcAft>
                <a:spcPts val="0"/>
              </a:spcAft>
            </a:pPr>
            <a:r>
              <a:rPr sz="1350" b="0" i="0">
                <a:solidFill>
                  <a:srgbClr val="35464F"/>
                </a:solidFill>
                <a:latin typeface="Aptos"/>
                <a:cs typeface="Aptos"/>
              </a:rPr>
              <a:t>The initial integration into SMFL has been substantially completed. Aravest has maintained continuity across the platform, strengthened governance and begun building a visible record of execution under the new sponsor. The next phase is to develop the institutional foundations and investment record required for sustainable long-term growth.</a:t>
            </a:r>
          </a:p>
        </p:txBody>
      </p:sp>
      <p:sp>
        <p:nvSpPr>
          <p:cNvPr id="8" name="Rounded Rectangle 7"/>
          <p:cNvSpPr/>
          <p:nvPr/>
        </p:nvSpPr>
        <p:spPr>
          <a:xfrm>
            <a:off x="914400" y="4069080"/>
            <a:ext cx="10360152" cy="1417320"/>
          </a:xfrm>
          <a:prstGeom prst="roundRect">
            <a:avLst>
              <a:gd name="adj" fmla="val 5806"/>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224528"/>
            <a:ext cx="9784080" cy="1143000"/>
          </a:xfrm>
          <a:prstGeom prst="rect">
            <a:avLst/>
          </a:prstGeom>
          <a:noFill/>
        </p:spPr>
        <p:txBody>
          <a:bodyPr wrap="square" anchor="t" lIns="0" rIns="0" tIns="0" bIns="0">
            <a:spAutoFit/>
          </a:bodyPr>
          <a:lstStyle/>
          <a:p>
            <a:pPr algn="l">
              <a:spcBef>
                <a:spcPts val="0"/>
              </a:spcBef>
              <a:spcAft>
                <a:spcPts val="600"/>
              </a:spcAft>
            </a:pPr>
            <a:r>
              <a:rPr sz="950" b="1" i="0" spc="130">
                <a:solidFill>
                  <a:srgbClr val="D5DDE6"/>
                </a:solidFill>
                <a:latin typeface="Aptos"/>
                <a:cs typeface="Aptos"/>
              </a:rPr>
              <a:t>TODAY’S DISCUSSION</a:t>
            </a:r>
          </a:p>
          <a:p>
            <a:pPr algn="l">
              <a:lnSpc>
                <a:spcPct val="130000"/>
              </a:lnSpc>
              <a:spcBef>
                <a:spcPts val="0"/>
              </a:spcBef>
              <a:spcAft>
                <a:spcPts val="0"/>
              </a:spcAft>
            </a:pPr>
            <a:r>
              <a:rPr sz="1450" b="0" i="0">
                <a:solidFill>
                  <a:srgbClr val="FFFFFF"/>
                </a:solidFill>
                <a:latin typeface="Aptos"/>
                <a:cs typeface="Aptos"/>
              </a:rPr>
              <a:t>Management’s perspective on Aravest’s next phase: the institution we are building, the track record we need to establish, and the two parallel pathways through which the platform can develop.</a:t>
            </a:r>
          </a:p>
        </p:txBody>
      </p:sp>
      <p:sp>
        <p:nvSpPr>
          <p:cNvPr id="10" name="TextBox 9"/>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1" name="TextBox 10"/>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a:t>
            </a:r>
          </a:p>
        </p:txBody>
      </p:sp>
      <p:pic>
        <p:nvPicPr>
          <p:cNvPr id="12" name="Picture 11"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02 · Development pathway</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proof-building process has begun and will become the principal focus from 2027 to 2029.</a:t>
            </a:r>
          </a:p>
        </p:txBody>
      </p:sp>
      <p:sp>
        <p:nvSpPr>
          <p:cNvPr id="5" name="TextBox 4"/>
          <p:cNvSpPr txBox="1"/>
          <p:nvPr/>
        </p:nvSpPr>
        <p:spPr>
          <a:xfrm>
            <a:off x="640080" y="1481328"/>
            <a:ext cx="10908792" cy="502920"/>
          </a:xfrm>
          <a:prstGeom prst="rect">
            <a:avLst/>
          </a:prstGeom>
          <a:noFill/>
        </p:spPr>
        <p:txBody>
          <a:bodyPr wrap="square" anchor="t" lIns="0" rIns="0" tIns="0" bIns="0">
            <a:spAutoFit/>
          </a:bodyPr>
          <a:lstStyle/>
          <a:p>
            <a:pPr algn="l">
              <a:lnSpc>
                <a:spcPct val="124000"/>
              </a:lnSpc>
              <a:spcBef>
                <a:spcPts val="0"/>
              </a:spcBef>
              <a:spcAft>
                <a:spcPts val="0"/>
              </a:spcAft>
            </a:pPr>
            <a:r>
              <a:rPr sz="1250" b="0" i="0">
                <a:solidFill>
                  <a:srgbClr val="35464F"/>
                </a:solidFill>
                <a:latin typeface="Aptos"/>
                <a:cs typeface="Aptos"/>
              </a:rPr>
              <a:t>Aravest’s development should be viewed as an overlapping journey rather than a sequence of separate initiatives. The emphasis changes over time as the platform moves from integration, to institutional identity, to a broader body of investment proof and ultimately to scale.</a:t>
            </a:r>
          </a:p>
        </p:txBody>
      </p:sp>
      <p:sp>
        <p:nvSpPr>
          <p:cNvPr id="6" name="Rounded Rectangle 5"/>
          <p:cNvSpPr/>
          <p:nvPr/>
        </p:nvSpPr>
        <p:spPr>
          <a:xfrm>
            <a:off x="640080" y="2212848"/>
            <a:ext cx="2560320" cy="2697480"/>
          </a:xfrm>
          <a:prstGeom prst="roundRect">
            <a:avLst>
              <a:gd name="adj" fmla="val 3214"/>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212848"/>
            <a:ext cx="2194560"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59152"/>
            <a:ext cx="2194560" cy="2404872"/>
          </a:xfrm>
          <a:prstGeom prst="rect">
            <a:avLst/>
          </a:prstGeom>
          <a:noFill/>
        </p:spPr>
        <p:txBody>
          <a:bodyPr wrap="square" anchor="t" lIns="0" rIns="0" tIns="0" bIns="0">
            <a:spAutoFit/>
          </a:bodyPr>
          <a:lstStyle/>
          <a:p>
            <a:pPr algn="l">
              <a:spcBef>
                <a:spcPts val="0"/>
              </a:spcBef>
              <a:spcAft>
                <a:spcPts val="500"/>
              </a:spcAft>
            </a:pPr>
            <a:r>
              <a:rPr sz="950" b="1" i="0" spc="100">
                <a:solidFill>
                  <a:srgbClr val="35464F"/>
                </a:solidFill>
                <a:latin typeface="Aptos"/>
                <a:cs typeface="Aptos"/>
              </a:rPr>
              <a:t>2025</a:t>
            </a:r>
          </a:p>
          <a:p>
            <a:pPr algn="l">
              <a:lnSpc>
                <a:spcPct val="105000"/>
              </a:lnSpc>
              <a:spcBef>
                <a:spcPts val="0"/>
              </a:spcBef>
              <a:spcAft>
                <a:spcPts val="600"/>
              </a:spcAft>
            </a:pPr>
            <a:r>
              <a:rPr sz="1450" b="0" i="0">
                <a:solidFill>
                  <a:srgbClr val="002B5C"/>
                </a:solidFill>
                <a:latin typeface="Aptos Display"/>
                <a:cs typeface="Aptos Display"/>
              </a:rPr>
              <a:t>Integrate and begin proving</a:t>
            </a:r>
          </a:p>
          <a:p>
            <a:pPr algn="l">
              <a:lnSpc>
                <a:spcPct val="122000"/>
              </a:lnSpc>
              <a:spcBef>
                <a:spcPts val="0"/>
              </a:spcBef>
              <a:spcAft>
                <a:spcPts val="0"/>
              </a:spcAft>
            </a:pPr>
            <a:r>
              <a:rPr sz="1300" b="0" i="0">
                <a:solidFill>
                  <a:srgbClr val="35464F"/>
                </a:solidFill>
                <a:latin typeface="Aptos"/>
                <a:cs typeface="Aptos"/>
              </a:rPr>
              <a:t>Complete the initial integration, maintain platform continuity and begin demonstrating execution under SMFL ownership.</a:t>
            </a:r>
          </a:p>
        </p:txBody>
      </p:sp>
      <p:sp>
        <p:nvSpPr>
          <p:cNvPr id="9" name="TextBox 8"/>
          <p:cNvSpPr txBox="1"/>
          <p:nvPr/>
        </p:nvSpPr>
        <p:spPr>
          <a:xfrm>
            <a:off x="3200400" y="3264408"/>
            <a:ext cx="222504"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0" name="Rounded Rectangle 9"/>
          <p:cNvSpPr/>
          <p:nvPr/>
        </p:nvSpPr>
        <p:spPr>
          <a:xfrm>
            <a:off x="3422904" y="2212848"/>
            <a:ext cx="2560320" cy="2697480"/>
          </a:xfrm>
          <a:prstGeom prst="roundRect">
            <a:avLst>
              <a:gd name="adj" fmla="val 3214"/>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05784" y="2212848"/>
            <a:ext cx="2194560"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5784" y="2359152"/>
            <a:ext cx="2194560" cy="2404872"/>
          </a:xfrm>
          <a:prstGeom prst="rect">
            <a:avLst/>
          </a:prstGeom>
          <a:noFill/>
        </p:spPr>
        <p:txBody>
          <a:bodyPr wrap="square" anchor="t" lIns="0" rIns="0" tIns="0" bIns="0">
            <a:spAutoFit/>
          </a:bodyPr>
          <a:lstStyle/>
          <a:p>
            <a:pPr algn="l">
              <a:spcBef>
                <a:spcPts val="0"/>
              </a:spcBef>
              <a:spcAft>
                <a:spcPts val="500"/>
              </a:spcAft>
            </a:pPr>
            <a:r>
              <a:rPr sz="950" b="1" i="0" spc="100">
                <a:solidFill>
                  <a:srgbClr val="35464F"/>
                </a:solidFill>
                <a:latin typeface="Aptos"/>
                <a:cs typeface="Aptos"/>
              </a:rPr>
              <a:t>2026</a:t>
            </a:r>
          </a:p>
          <a:p>
            <a:pPr algn="l">
              <a:lnSpc>
                <a:spcPct val="105000"/>
              </a:lnSpc>
              <a:spcBef>
                <a:spcPts val="0"/>
              </a:spcBef>
              <a:spcAft>
                <a:spcPts val="600"/>
              </a:spcAft>
            </a:pPr>
            <a:r>
              <a:rPr sz="1450" b="0" i="0">
                <a:solidFill>
                  <a:srgbClr val="002B5C"/>
                </a:solidFill>
                <a:latin typeface="Aptos Display"/>
                <a:cs typeface="Aptos Display"/>
              </a:rPr>
              <a:t>Establish institutional identity</a:t>
            </a:r>
          </a:p>
          <a:p>
            <a:pPr algn="l">
              <a:lnSpc>
                <a:spcPct val="122000"/>
              </a:lnSpc>
              <a:spcBef>
                <a:spcPts val="0"/>
              </a:spcBef>
              <a:spcAft>
                <a:spcPts val="0"/>
              </a:spcAft>
            </a:pPr>
            <a:r>
              <a:rPr sz="1300" b="0" i="0">
                <a:solidFill>
                  <a:srgbClr val="35464F"/>
                </a:solidFill>
                <a:latin typeface="Aptos"/>
                <a:cs typeface="Aptos"/>
              </a:rPr>
              <a:t>Introduce The Aravest Way, deepen governance and investment discipline, and continue building visible post-SMFL evidence.</a:t>
            </a:r>
          </a:p>
        </p:txBody>
      </p:sp>
      <p:sp>
        <p:nvSpPr>
          <p:cNvPr id="13" name="TextBox 12"/>
          <p:cNvSpPr txBox="1"/>
          <p:nvPr/>
        </p:nvSpPr>
        <p:spPr>
          <a:xfrm>
            <a:off x="5983224" y="3264408"/>
            <a:ext cx="222504"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4" name="Rounded Rectangle 13"/>
          <p:cNvSpPr/>
          <p:nvPr/>
        </p:nvSpPr>
        <p:spPr>
          <a:xfrm>
            <a:off x="6205728" y="2212848"/>
            <a:ext cx="2560320" cy="2697480"/>
          </a:xfrm>
          <a:prstGeom prst="roundRect">
            <a:avLst>
              <a:gd name="adj" fmla="val 3214"/>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8608" y="2212848"/>
            <a:ext cx="2194560"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8608" y="2359152"/>
            <a:ext cx="2194560" cy="2404872"/>
          </a:xfrm>
          <a:prstGeom prst="rect">
            <a:avLst/>
          </a:prstGeom>
          <a:noFill/>
        </p:spPr>
        <p:txBody>
          <a:bodyPr wrap="square" anchor="t" lIns="0" rIns="0" tIns="0" bIns="0">
            <a:spAutoFit/>
          </a:bodyPr>
          <a:lstStyle/>
          <a:p>
            <a:pPr algn="l">
              <a:spcBef>
                <a:spcPts val="0"/>
              </a:spcBef>
              <a:spcAft>
                <a:spcPts val="500"/>
              </a:spcAft>
            </a:pPr>
            <a:r>
              <a:rPr sz="950" b="1" i="0" spc="100">
                <a:solidFill>
                  <a:srgbClr val="008080"/>
                </a:solidFill>
                <a:latin typeface="Aptos"/>
                <a:cs typeface="Aptos"/>
              </a:rPr>
              <a:t>2027–2029</a:t>
            </a:r>
          </a:p>
          <a:p>
            <a:pPr algn="l">
              <a:lnSpc>
                <a:spcPct val="105000"/>
              </a:lnSpc>
              <a:spcBef>
                <a:spcPts val="0"/>
              </a:spcBef>
              <a:spcAft>
                <a:spcPts val="600"/>
              </a:spcAft>
            </a:pPr>
            <a:r>
              <a:rPr sz="1450" b="0" i="0">
                <a:solidFill>
                  <a:srgbClr val="002B5C"/>
                </a:solidFill>
                <a:latin typeface="Aptos Display"/>
                <a:cs typeface="Aptos Display"/>
              </a:rPr>
              <a:t>Build and compound the record</a:t>
            </a:r>
          </a:p>
          <a:p>
            <a:pPr algn="l">
              <a:lnSpc>
                <a:spcPct val="122000"/>
              </a:lnSpc>
              <a:spcBef>
                <a:spcPts val="0"/>
              </a:spcBef>
              <a:spcAft>
                <a:spcPts val="0"/>
              </a:spcAft>
            </a:pPr>
            <a:r>
              <a:rPr sz="1300" b="0" i="0">
                <a:solidFill>
                  <a:srgbClr val="35464F"/>
                </a:solidFill>
                <a:latin typeface="Aptos"/>
                <a:cs typeface="Aptos"/>
              </a:rPr>
              <a:t>Execute selected opportunities, demonstrate outcomes, establish repeatable strategies and deepen investor relationships.</a:t>
            </a:r>
          </a:p>
        </p:txBody>
      </p:sp>
      <p:sp>
        <p:nvSpPr>
          <p:cNvPr id="17" name="TextBox 16"/>
          <p:cNvSpPr txBox="1"/>
          <p:nvPr/>
        </p:nvSpPr>
        <p:spPr>
          <a:xfrm>
            <a:off x="8766048" y="3264408"/>
            <a:ext cx="222504"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8" name="Rounded Rectangle 17"/>
          <p:cNvSpPr/>
          <p:nvPr/>
        </p:nvSpPr>
        <p:spPr>
          <a:xfrm>
            <a:off x="8988552" y="2212848"/>
            <a:ext cx="2560320" cy="2697480"/>
          </a:xfrm>
          <a:prstGeom prst="roundRect">
            <a:avLst>
              <a:gd name="adj" fmla="val 3214"/>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71432" y="2212848"/>
            <a:ext cx="2194560"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71432" y="2359152"/>
            <a:ext cx="2194560" cy="2404872"/>
          </a:xfrm>
          <a:prstGeom prst="rect">
            <a:avLst/>
          </a:prstGeom>
          <a:noFill/>
        </p:spPr>
        <p:txBody>
          <a:bodyPr wrap="square" anchor="t" lIns="0" rIns="0" tIns="0" bIns="0">
            <a:spAutoFit/>
          </a:bodyPr>
          <a:lstStyle/>
          <a:p>
            <a:pPr algn="l">
              <a:spcBef>
                <a:spcPts val="0"/>
              </a:spcBef>
              <a:spcAft>
                <a:spcPts val="500"/>
              </a:spcAft>
            </a:pPr>
            <a:r>
              <a:rPr sz="950" b="1" i="0" spc="100">
                <a:solidFill>
                  <a:srgbClr val="35464F"/>
                </a:solidFill>
                <a:latin typeface="Aptos"/>
                <a:cs typeface="Aptos"/>
              </a:rPr>
              <a:t>AROUND 2030 ONWARD</a:t>
            </a:r>
          </a:p>
          <a:p>
            <a:pPr algn="l">
              <a:lnSpc>
                <a:spcPct val="105000"/>
              </a:lnSpc>
              <a:spcBef>
                <a:spcPts val="0"/>
              </a:spcBef>
              <a:spcAft>
                <a:spcPts val="600"/>
              </a:spcAft>
            </a:pPr>
            <a:r>
              <a:rPr sz="1450" b="0" i="0">
                <a:solidFill>
                  <a:srgbClr val="002B5C"/>
                </a:solidFill>
                <a:latin typeface="Aptos Display"/>
                <a:cs typeface="Aptos Display"/>
              </a:rPr>
              <a:t>Convert proof into scale</a:t>
            </a:r>
          </a:p>
          <a:p>
            <a:pPr algn="l">
              <a:lnSpc>
                <a:spcPct val="122000"/>
              </a:lnSpc>
              <a:spcBef>
                <a:spcPts val="0"/>
              </a:spcBef>
              <a:spcAft>
                <a:spcPts val="0"/>
              </a:spcAft>
            </a:pPr>
            <a:r>
              <a:rPr sz="1300" b="0" i="0">
                <a:solidFill>
                  <a:srgbClr val="35464F"/>
                </a:solidFill>
                <a:latin typeface="Aptos"/>
                <a:cs typeface="Aptos"/>
              </a:rPr>
              <a:t>Use the accumulated track record to pursue larger and increasingly repeatable institutional capital.</a:t>
            </a:r>
          </a:p>
        </p:txBody>
      </p:sp>
      <p:sp>
        <p:nvSpPr>
          <p:cNvPr id="21" name="Rounded Rectangle 20"/>
          <p:cNvSpPr/>
          <p:nvPr/>
        </p:nvSpPr>
        <p:spPr>
          <a:xfrm>
            <a:off x="640080" y="5230368"/>
            <a:ext cx="1090879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230368"/>
            <a:ext cx="1039672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Around 2030  </a:t>
            </a:r>
            <a:r>
              <a:rPr sz="1300" b="0" i="0">
                <a:solidFill>
                  <a:srgbClr val="D5DDE6"/>
                </a:solidFill>
                <a:latin typeface="Aptos"/>
                <a:cs typeface="Aptos"/>
              </a:rPr>
              <a:t>is a realistic point at which a broader body of institutional capital may become more achievable, subject to the pace of execution and market conditions.</a:t>
            </a:r>
          </a:p>
        </p:txBody>
      </p:sp>
      <p:sp>
        <p:nvSpPr>
          <p:cNvPr id="23" name="TextBox 22"/>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4" name="TextBox 23"/>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2</a:t>
            </a:r>
          </a:p>
        </p:txBody>
      </p:sp>
      <p:pic>
        <p:nvPicPr>
          <p:cNvPr id="25" name="Picture 24"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03 · The Aravest Way</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Aravest Way provides the institutional foundation for how Aravest conducts its business and invests.</a:t>
            </a:r>
          </a:p>
        </p:txBody>
      </p:sp>
      <p:sp>
        <p:nvSpPr>
          <p:cNvPr id="5" name="TextBox 4"/>
          <p:cNvSpPr txBox="1"/>
          <p:nvPr/>
        </p:nvSpPr>
        <p:spPr>
          <a:xfrm>
            <a:off x="640080" y="1517904"/>
            <a:ext cx="10908792" cy="548640"/>
          </a:xfrm>
          <a:prstGeom prst="rect">
            <a:avLst/>
          </a:prstGeom>
          <a:noFill/>
        </p:spPr>
        <p:txBody>
          <a:bodyPr wrap="square" anchor="t" lIns="0" rIns="0" tIns="0" bIns="0">
            <a:spAutoFit/>
          </a:bodyPr>
          <a:lstStyle/>
          <a:p>
            <a:pPr algn="l">
              <a:lnSpc>
                <a:spcPct val="124000"/>
              </a:lnSpc>
              <a:spcBef>
                <a:spcPts val="0"/>
              </a:spcBef>
              <a:spcAft>
                <a:spcPts val="0"/>
              </a:spcAft>
            </a:pPr>
            <a:r>
              <a:rPr sz="1250" b="0" i="0">
                <a:solidFill>
                  <a:srgbClr val="35464F"/>
                </a:solidFill>
                <a:latin typeface="Aptos"/>
                <a:cs typeface="Aptos"/>
              </a:rPr>
              <a:t>Long-term growth cannot be built on transactions alone. Institutional capital is entrusted to managers that demonstrate consistency of judgement, conduct and responsibility over time. These principles should remain constant as the platform grows, enters new strategies and works with a wider range of investors and partners.</a:t>
            </a:r>
          </a:p>
        </p:txBody>
      </p:sp>
      <p:sp>
        <p:nvSpPr>
          <p:cNvPr id="6" name="Rounded Rectangle 5"/>
          <p:cNvSpPr/>
          <p:nvPr/>
        </p:nvSpPr>
        <p:spPr>
          <a:xfrm>
            <a:off x="640080" y="2304288"/>
            <a:ext cx="3538728" cy="2331720"/>
          </a:xfrm>
          <a:prstGeom prst="roundRect">
            <a:avLst>
              <a:gd name="adj" fmla="val 3529"/>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487168"/>
            <a:ext cx="3099816" cy="1965960"/>
          </a:xfrm>
          <a:prstGeom prst="rect">
            <a:avLst/>
          </a:prstGeom>
          <a:noFill/>
        </p:spPr>
        <p:txBody>
          <a:bodyPr wrap="square" anchor="t" lIns="0" rIns="0" tIns="0" bIns="0">
            <a:spAutoFit/>
          </a:bodyPr>
          <a:lstStyle/>
          <a:p>
            <a:pPr algn="l">
              <a:spcBef>
                <a:spcPts val="0"/>
              </a:spcBef>
              <a:spcAft>
                <a:spcPts val="600"/>
              </a:spcAft>
            </a:pPr>
            <a:r>
              <a:rPr sz="950" b="1" i="0" spc="130">
                <a:solidFill>
                  <a:srgbClr val="35464F"/>
                </a:solidFill>
                <a:latin typeface="Aptos"/>
                <a:cs typeface="Aptos"/>
              </a:rPr>
              <a:t>EXCELLENCE</a:t>
            </a:r>
          </a:p>
          <a:p>
            <a:pPr algn="l">
              <a:lnSpc>
                <a:spcPct val="105000"/>
              </a:lnSpc>
              <a:spcBef>
                <a:spcPts val="0"/>
              </a:spcBef>
              <a:spcAft>
                <a:spcPts val="700"/>
              </a:spcAft>
            </a:pPr>
            <a:r>
              <a:rPr sz="1500" b="0" i="0">
                <a:solidFill>
                  <a:srgbClr val="002B5C"/>
                </a:solidFill>
                <a:latin typeface="Aptos Display"/>
                <a:cs typeface="Aptos Display"/>
              </a:rPr>
              <a:t>The quality of our thinking</a:t>
            </a:r>
          </a:p>
          <a:p>
            <a:pPr algn="l">
              <a:lnSpc>
                <a:spcPct val="126000"/>
              </a:lnSpc>
              <a:spcBef>
                <a:spcPts val="0"/>
              </a:spcBef>
              <a:spcAft>
                <a:spcPts val="0"/>
              </a:spcAft>
            </a:pPr>
            <a:r>
              <a:rPr sz="1300" b="0" i="0">
                <a:solidFill>
                  <a:srgbClr val="35464F"/>
                </a:solidFill>
                <a:latin typeface="Aptos"/>
                <a:cs typeface="Aptos"/>
              </a:rPr>
              <a:t>Excellence guides how Aravest analyses, prepares, executes, communicates and continuously raises its standards.</a:t>
            </a:r>
          </a:p>
        </p:txBody>
      </p:sp>
      <p:sp>
        <p:nvSpPr>
          <p:cNvPr id="8" name="Rounded Rectangle 7"/>
          <p:cNvSpPr/>
          <p:nvPr/>
        </p:nvSpPr>
        <p:spPr>
          <a:xfrm>
            <a:off x="4325112" y="2304288"/>
            <a:ext cx="3538728" cy="2331720"/>
          </a:xfrm>
          <a:prstGeom prst="roundRect">
            <a:avLst>
              <a:gd name="adj" fmla="val 3529"/>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2487168"/>
            <a:ext cx="3099816" cy="1965960"/>
          </a:xfrm>
          <a:prstGeom prst="rect">
            <a:avLst/>
          </a:prstGeom>
          <a:noFill/>
        </p:spPr>
        <p:txBody>
          <a:bodyPr wrap="square" anchor="t" lIns="0" rIns="0" tIns="0" bIns="0">
            <a:spAutoFit/>
          </a:bodyPr>
          <a:lstStyle/>
          <a:p>
            <a:pPr algn="l">
              <a:spcBef>
                <a:spcPts val="0"/>
              </a:spcBef>
              <a:spcAft>
                <a:spcPts val="600"/>
              </a:spcAft>
            </a:pPr>
            <a:r>
              <a:rPr sz="950" b="1" i="0" spc="130">
                <a:solidFill>
                  <a:srgbClr val="35464F"/>
                </a:solidFill>
                <a:latin typeface="Aptos"/>
                <a:cs typeface="Aptos"/>
              </a:rPr>
              <a:t>TRUST</a:t>
            </a:r>
          </a:p>
          <a:p>
            <a:pPr algn="l">
              <a:lnSpc>
                <a:spcPct val="105000"/>
              </a:lnSpc>
              <a:spcBef>
                <a:spcPts val="0"/>
              </a:spcBef>
              <a:spcAft>
                <a:spcPts val="700"/>
              </a:spcAft>
            </a:pPr>
            <a:r>
              <a:rPr sz="1500" b="0" i="0">
                <a:solidFill>
                  <a:srgbClr val="002B5C"/>
                </a:solidFill>
                <a:latin typeface="Aptos Display"/>
                <a:cs typeface="Aptos Display"/>
              </a:rPr>
              <a:t>The way we behave</a:t>
            </a:r>
          </a:p>
          <a:p>
            <a:pPr algn="l">
              <a:lnSpc>
                <a:spcPct val="126000"/>
              </a:lnSpc>
              <a:spcBef>
                <a:spcPts val="0"/>
              </a:spcBef>
              <a:spcAft>
                <a:spcPts val="0"/>
              </a:spcAft>
            </a:pPr>
            <a:r>
              <a:rPr sz="1300" b="0" i="0">
                <a:solidFill>
                  <a:srgbClr val="35464F"/>
                </a:solidFill>
                <a:latin typeface="Aptos"/>
                <a:cs typeface="Aptos"/>
              </a:rPr>
              <a:t>Trust guides how Aravest deals with investors, shareholders, partners, lenders and colleagues, particularly when circumstances are difficult.</a:t>
            </a:r>
          </a:p>
        </p:txBody>
      </p:sp>
      <p:sp>
        <p:nvSpPr>
          <p:cNvPr id="10" name="Rounded Rectangle 9"/>
          <p:cNvSpPr/>
          <p:nvPr/>
        </p:nvSpPr>
        <p:spPr>
          <a:xfrm>
            <a:off x="8010144" y="2304288"/>
            <a:ext cx="3538728" cy="2331720"/>
          </a:xfrm>
          <a:prstGeom prst="roundRect">
            <a:avLst>
              <a:gd name="adj" fmla="val 3529"/>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487168"/>
            <a:ext cx="3099816" cy="1965960"/>
          </a:xfrm>
          <a:prstGeom prst="rect">
            <a:avLst/>
          </a:prstGeom>
          <a:noFill/>
        </p:spPr>
        <p:txBody>
          <a:bodyPr wrap="square" anchor="t" lIns="0" rIns="0" tIns="0" bIns="0">
            <a:spAutoFit/>
          </a:bodyPr>
          <a:lstStyle/>
          <a:p>
            <a:pPr algn="l">
              <a:spcBef>
                <a:spcPts val="0"/>
              </a:spcBef>
              <a:spcAft>
                <a:spcPts val="600"/>
              </a:spcAft>
            </a:pPr>
            <a:r>
              <a:rPr sz="950" b="1" i="0" spc="130">
                <a:solidFill>
                  <a:srgbClr val="35464F"/>
                </a:solidFill>
                <a:latin typeface="Aptos"/>
                <a:cs typeface="Aptos"/>
              </a:rPr>
              <a:t>ACCOUNTABILITY</a:t>
            </a:r>
          </a:p>
          <a:p>
            <a:pPr algn="l">
              <a:lnSpc>
                <a:spcPct val="105000"/>
              </a:lnSpc>
              <a:spcBef>
                <a:spcPts val="0"/>
              </a:spcBef>
              <a:spcAft>
                <a:spcPts val="700"/>
              </a:spcAft>
            </a:pPr>
            <a:r>
              <a:rPr sz="1500" b="0" i="0">
                <a:solidFill>
                  <a:srgbClr val="002B5C"/>
                </a:solidFill>
                <a:latin typeface="Aptos Display"/>
                <a:cs typeface="Aptos Display"/>
              </a:rPr>
              <a:t>How we take ownership</a:t>
            </a:r>
          </a:p>
          <a:p>
            <a:pPr algn="l">
              <a:lnSpc>
                <a:spcPct val="126000"/>
              </a:lnSpc>
              <a:spcBef>
                <a:spcPts val="0"/>
              </a:spcBef>
              <a:spcAft>
                <a:spcPts val="0"/>
              </a:spcAft>
            </a:pPr>
            <a:r>
              <a:rPr sz="1300" b="0" i="0">
                <a:solidFill>
                  <a:srgbClr val="35464F"/>
                </a:solidFill>
                <a:latin typeface="Aptos"/>
                <a:cs typeface="Aptos"/>
              </a:rPr>
              <a:t>Accountability requires Aravest to own its decisions and outcomes, act when circumstances change and remain responsible through the full investment lifecycle.</a:t>
            </a:r>
          </a:p>
        </p:txBody>
      </p:sp>
      <p:sp>
        <p:nvSpPr>
          <p:cNvPr id="12" name="Rounded Rectangle 11"/>
          <p:cNvSpPr/>
          <p:nvPr/>
        </p:nvSpPr>
        <p:spPr>
          <a:xfrm>
            <a:off x="640080" y="4882896"/>
            <a:ext cx="10908792" cy="566928"/>
          </a:xfrm>
          <a:prstGeom prst="roundRect">
            <a:avLst>
              <a:gd name="adj" fmla="val 14516"/>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882896"/>
            <a:ext cx="10396728" cy="566928"/>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Our first principle.  </a:t>
            </a:r>
            <a:r>
              <a:rPr sz="1300" b="0" i="0">
                <a:solidFill>
                  <a:srgbClr val="D5DDE6"/>
                </a:solidFill>
                <a:latin typeface="Aptos"/>
                <a:cs typeface="Aptos"/>
              </a:rPr>
              <a:t>Investment management is a responsibility before it is a business.</a:t>
            </a:r>
          </a:p>
        </p:txBody>
      </p:sp>
      <p:sp>
        <p:nvSpPr>
          <p:cNvPr id="14" name="TextBox 13"/>
          <p:cNvSpPr txBox="1"/>
          <p:nvPr/>
        </p:nvSpPr>
        <p:spPr>
          <a:xfrm>
            <a:off x="640080" y="5650992"/>
            <a:ext cx="10908792" cy="548640"/>
          </a:xfrm>
          <a:prstGeom prst="rect">
            <a:avLst/>
          </a:prstGeom>
          <a:noFill/>
        </p:spPr>
        <p:txBody>
          <a:bodyPr wrap="square" anchor="t" lIns="0" rIns="0" tIns="0" bIns="0">
            <a:spAutoFit/>
          </a:bodyPr>
          <a:lstStyle/>
          <a:p>
            <a:pPr algn="l">
              <a:lnSpc>
                <a:spcPct val="122000"/>
              </a:lnSpc>
              <a:spcBef>
                <a:spcPts val="0"/>
              </a:spcBef>
              <a:spcAft>
                <a:spcPts val="0"/>
              </a:spcAft>
            </a:pPr>
            <a:r>
              <a:rPr sz="1150" b="0" i="0">
                <a:solidFill>
                  <a:srgbClr val="35464F"/>
                </a:solidFill>
                <a:latin typeface="Aptos"/>
                <a:cs typeface="Aptos"/>
              </a:rPr>
              <a:t>Every investment, partnership and decision should be tested against the responsibility Aravest accepts when capital and trust are entrusted to the platform. These values are equal and inseparable; strategies will evolve and markets will change — the values should remain constant.</a:t>
            </a:r>
          </a:p>
        </p:txBody>
      </p:sp>
      <p:sp>
        <p:nvSpPr>
          <p:cNvPr id="15" name="TextBox 14"/>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6" name="TextBox 15"/>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3</a:t>
            </a:r>
          </a:p>
        </p:txBody>
      </p:sp>
      <p:pic>
        <p:nvPicPr>
          <p:cNvPr id="17" name="Picture 16"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03 · The Aravest Way · Investment philosophy</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Our investment philosophy applies the values to investing.</a:t>
            </a:r>
          </a:p>
        </p:txBody>
      </p:sp>
      <p:sp>
        <p:nvSpPr>
          <p:cNvPr id="5" name="TextBox 4"/>
          <p:cNvSpPr txBox="1"/>
          <p:nvPr/>
        </p:nvSpPr>
        <p:spPr>
          <a:xfrm>
            <a:off x="932688" y="1389888"/>
            <a:ext cx="274320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INVESTMENT PRINCIPLE</a:t>
            </a:r>
          </a:p>
        </p:txBody>
      </p:sp>
      <p:sp>
        <p:nvSpPr>
          <p:cNvPr id="6" name="TextBox 5"/>
          <p:cNvSpPr txBox="1"/>
          <p:nvPr/>
        </p:nvSpPr>
        <p:spPr>
          <a:xfrm>
            <a:off x="3977639" y="1389888"/>
            <a:ext cx="7498079"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HOW ARAVEST APPLIES IT</a:t>
            </a:r>
          </a:p>
        </p:txBody>
      </p:sp>
      <p:sp>
        <p:nvSpPr>
          <p:cNvPr id="7" name="Rectangle 6"/>
          <p:cNvSpPr/>
          <p:nvPr/>
        </p:nvSpPr>
        <p:spPr>
          <a:xfrm>
            <a:off x="640080" y="1664208"/>
            <a:ext cx="10908792" cy="1905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828800"/>
            <a:ext cx="274320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Recognising Value</a:t>
            </a:r>
          </a:p>
        </p:txBody>
      </p:sp>
      <p:sp>
        <p:nvSpPr>
          <p:cNvPr id="9" name="TextBox 8"/>
          <p:cNvSpPr txBox="1"/>
          <p:nvPr/>
        </p:nvSpPr>
        <p:spPr>
          <a:xfrm>
            <a:off x="3977639" y="1837944"/>
            <a:ext cx="7498079"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Look beyond transaction activity to identify genuine value gaps, form an independent judgement and understand how value can be responsibly realised.</a:t>
            </a:r>
          </a:p>
        </p:txBody>
      </p:sp>
      <p:sp>
        <p:nvSpPr>
          <p:cNvPr id="10" name="Rectangle 9"/>
          <p:cNvSpPr/>
          <p:nvPr/>
        </p:nvSpPr>
        <p:spPr>
          <a:xfrm>
            <a:off x="640080" y="2286000"/>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359152"/>
            <a:ext cx="274320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Partnership</a:t>
            </a:r>
          </a:p>
        </p:txBody>
      </p:sp>
      <p:sp>
        <p:nvSpPr>
          <p:cNvPr id="12" name="TextBox 11"/>
          <p:cNvSpPr txBox="1"/>
          <p:nvPr/>
        </p:nvSpPr>
        <p:spPr>
          <a:xfrm>
            <a:off x="3977639" y="2368296"/>
            <a:ext cx="7498079"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Understand where Aravest creates the greatest value, identify where complementary capabilities are required and assemble the best combination of expertise for the investment.</a:t>
            </a:r>
          </a:p>
        </p:txBody>
      </p:sp>
      <p:sp>
        <p:nvSpPr>
          <p:cNvPr id="13" name="Rectangle 12"/>
          <p:cNvSpPr/>
          <p:nvPr/>
        </p:nvSpPr>
        <p:spPr>
          <a:xfrm>
            <a:off x="640080" y="2816352"/>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889504"/>
            <a:ext cx="274320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Stewardship of Capital</a:t>
            </a:r>
          </a:p>
        </p:txBody>
      </p:sp>
      <p:sp>
        <p:nvSpPr>
          <p:cNvPr id="15" name="TextBox 14"/>
          <p:cNvSpPr txBox="1"/>
          <p:nvPr/>
        </p:nvSpPr>
        <p:spPr>
          <a:xfrm>
            <a:off x="3977639" y="2898648"/>
            <a:ext cx="7498079"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Manage capital through the full life of the investment with a clear purpose, disciplined ownership and responsibility for both value creation and capital preservation.</a:t>
            </a:r>
          </a:p>
        </p:txBody>
      </p:sp>
      <p:sp>
        <p:nvSpPr>
          <p:cNvPr id="16" name="Rectangle 15"/>
          <p:cNvSpPr/>
          <p:nvPr/>
        </p:nvSpPr>
        <p:spPr>
          <a:xfrm>
            <a:off x="640080" y="3346704"/>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419856"/>
            <a:ext cx="274320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Risk &amp; Resilience</a:t>
            </a:r>
          </a:p>
        </p:txBody>
      </p:sp>
      <p:sp>
        <p:nvSpPr>
          <p:cNvPr id="18" name="TextBox 17"/>
          <p:cNvSpPr txBox="1"/>
          <p:nvPr/>
        </p:nvSpPr>
        <p:spPr>
          <a:xfrm>
            <a:off x="3977639" y="3429000"/>
            <a:ext cx="7498079"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Understand risk, accept it deliberately, build resilience before it is needed and adapt when the facts require it.</a:t>
            </a:r>
          </a:p>
        </p:txBody>
      </p:sp>
      <p:sp>
        <p:nvSpPr>
          <p:cNvPr id="19" name="Rectangle 18"/>
          <p:cNvSpPr/>
          <p:nvPr/>
        </p:nvSpPr>
        <p:spPr>
          <a:xfrm>
            <a:off x="640080" y="3877056"/>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950208"/>
            <a:ext cx="274320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Fit for Purpose</a:t>
            </a:r>
          </a:p>
        </p:txBody>
      </p:sp>
      <p:sp>
        <p:nvSpPr>
          <p:cNvPr id="21" name="TextBox 20"/>
          <p:cNvSpPr txBox="1"/>
          <p:nvPr/>
        </p:nvSpPr>
        <p:spPr>
          <a:xfrm>
            <a:off x="3977639" y="3959352"/>
            <a:ext cx="7498079"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Keep the principles constant while tailoring the structure, strategy and solution to the purpose and circumstances of each investment.</a:t>
            </a:r>
          </a:p>
        </p:txBody>
      </p:sp>
      <p:sp>
        <p:nvSpPr>
          <p:cNvPr id="22" name="Rectangle 21"/>
          <p:cNvSpPr/>
          <p:nvPr/>
        </p:nvSpPr>
        <p:spPr>
          <a:xfrm>
            <a:off x="640080" y="4407408"/>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590288"/>
            <a:ext cx="3538728" cy="1417320"/>
          </a:xfrm>
          <a:prstGeom prst="rect">
            <a:avLst/>
          </a:prstGeom>
          <a:noFill/>
        </p:spPr>
        <p:txBody>
          <a:bodyPr wrap="square" anchor="t" lIns="0" rIns="0" tIns="0" bIns="0">
            <a:spAutoFit/>
          </a:bodyPr>
          <a:lstStyle/>
          <a:p>
            <a:pPr algn="l">
              <a:spcBef>
                <a:spcPts val="0"/>
              </a:spcBef>
              <a:spcAft>
                <a:spcPts val="400"/>
              </a:spcAft>
            </a:pPr>
            <a:r>
              <a:rPr sz="850" b="1" i="0" spc="120">
                <a:solidFill>
                  <a:srgbClr val="869397"/>
                </a:solidFill>
                <a:latin typeface="Aptos"/>
                <a:cs typeface="Aptos"/>
              </a:rPr>
              <a:t>WHY IT MATTERS</a:t>
            </a:r>
          </a:p>
          <a:p>
            <a:pPr algn="l">
              <a:lnSpc>
                <a:spcPct val="105000"/>
              </a:lnSpc>
              <a:spcBef>
                <a:spcPts val="0"/>
              </a:spcBef>
              <a:spcAft>
                <a:spcPts val="400"/>
              </a:spcAft>
            </a:pPr>
            <a:r>
              <a:rPr sz="1250" b="0" i="0">
                <a:solidFill>
                  <a:srgbClr val="002B5C"/>
                </a:solidFill>
                <a:latin typeface="Aptos Display"/>
                <a:cs typeface="Aptos Display"/>
              </a:rPr>
              <a:t>Consistency as the platform grows</a:t>
            </a:r>
          </a:p>
          <a:p>
            <a:pPr algn="l">
              <a:lnSpc>
                <a:spcPct val="118000"/>
              </a:lnSpc>
              <a:spcBef>
                <a:spcPts val="0"/>
              </a:spcBef>
              <a:spcAft>
                <a:spcPts val="0"/>
              </a:spcAft>
            </a:pPr>
            <a:r>
              <a:rPr sz="1100" b="0" i="0">
                <a:solidFill>
                  <a:srgbClr val="35464F"/>
                </a:solidFill>
                <a:latin typeface="Aptos"/>
                <a:cs typeface="Aptos"/>
              </a:rPr>
              <a:t>A common constitution enables teams across countries and strategies to apply the same standards as the business becomes larger and more complex.</a:t>
            </a:r>
          </a:p>
        </p:txBody>
      </p:sp>
      <p:sp>
        <p:nvSpPr>
          <p:cNvPr id="24" name="TextBox 23"/>
          <p:cNvSpPr txBox="1"/>
          <p:nvPr/>
        </p:nvSpPr>
        <p:spPr>
          <a:xfrm>
            <a:off x="4325112" y="4590288"/>
            <a:ext cx="3538728" cy="1417320"/>
          </a:xfrm>
          <a:prstGeom prst="rect">
            <a:avLst/>
          </a:prstGeom>
          <a:noFill/>
        </p:spPr>
        <p:txBody>
          <a:bodyPr wrap="square" anchor="t" lIns="0" rIns="0" tIns="0" bIns="0">
            <a:spAutoFit/>
          </a:bodyPr>
          <a:lstStyle/>
          <a:p>
            <a:pPr algn="l">
              <a:spcBef>
                <a:spcPts val="0"/>
              </a:spcBef>
              <a:spcAft>
                <a:spcPts val="400"/>
              </a:spcAft>
            </a:pPr>
            <a:r>
              <a:rPr sz="850" b="1" i="0" spc="120">
                <a:solidFill>
                  <a:srgbClr val="869397"/>
                </a:solidFill>
                <a:latin typeface="Aptos"/>
                <a:cs typeface="Aptos"/>
              </a:rPr>
              <a:t> </a:t>
            </a:r>
          </a:p>
          <a:p>
            <a:pPr algn="l">
              <a:lnSpc>
                <a:spcPct val="105000"/>
              </a:lnSpc>
              <a:spcBef>
                <a:spcPts val="0"/>
              </a:spcBef>
              <a:spcAft>
                <a:spcPts val="400"/>
              </a:spcAft>
            </a:pPr>
            <a:r>
              <a:rPr sz="1250" b="0" i="0">
                <a:solidFill>
                  <a:srgbClr val="002B5C"/>
                </a:solidFill>
                <a:latin typeface="Aptos Display"/>
                <a:cs typeface="Aptos Display"/>
              </a:rPr>
              <a:t>Trust with investors and partners</a:t>
            </a:r>
          </a:p>
          <a:p>
            <a:pPr algn="l">
              <a:lnSpc>
                <a:spcPct val="118000"/>
              </a:lnSpc>
              <a:spcBef>
                <a:spcPts val="0"/>
              </a:spcBef>
              <a:spcAft>
                <a:spcPts val="0"/>
              </a:spcAft>
            </a:pPr>
            <a:r>
              <a:rPr sz="1100" b="0" i="0">
                <a:solidFill>
                  <a:srgbClr val="35464F"/>
                </a:solidFill>
                <a:latin typeface="Aptos"/>
                <a:cs typeface="Aptos"/>
              </a:rPr>
              <a:t>A clearer understanding of how Aravest will act — not only when investments perform well, but also when decisions become difficult.</a:t>
            </a:r>
          </a:p>
        </p:txBody>
      </p:sp>
      <p:sp>
        <p:nvSpPr>
          <p:cNvPr id="25" name="TextBox 24"/>
          <p:cNvSpPr txBox="1"/>
          <p:nvPr/>
        </p:nvSpPr>
        <p:spPr>
          <a:xfrm>
            <a:off x="8010144" y="4590288"/>
            <a:ext cx="3538728" cy="1417320"/>
          </a:xfrm>
          <a:prstGeom prst="rect">
            <a:avLst/>
          </a:prstGeom>
          <a:noFill/>
        </p:spPr>
        <p:txBody>
          <a:bodyPr wrap="square" anchor="t" lIns="0" rIns="0" tIns="0" bIns="0">
            <a:spAutoFit/>
          </a:bodyPr>
          <a:lstStyle/>
          <a:p>
            <a:pPr algn="l">
              <a:spcBef>
                <a:spcPts val="0"/>
              </a:spcBef>
              <a:spcAft>
                <a:spcPts val="400"/>
              </a:spcAft>
            </a:pPr>
            <a:r>
              <a:rPr sz="850" b="1" i="0" spc="120">
                <a:solidFill>
                  <a:srgbClr val="869397"/>
                </a:solidFill>
                <a:latin typeface="Aptos"/>
                <a:cs typeface="Aptos"/>
              </a:rPr>
              <a:t> </a:t>
            </a:r>
          </a:p>
          <a:p>
            <a:pPr algn="l">
              <a:lnSpc>
                <a:spcPct val="105000"/>
              </a:lnSpc>
              <a:spcBef>
                <a:spcPts val="0"/>
              </a:spcBef>
              <a:spcAft>
                <a:spcPts val="400"/>
              </a:spcAft>
            </a:pPr>
            <a:r>
              <a:rPr sz="1250" b="0" i="0">
                <a:solidFill>
                  <a:srgbClr val="002B5C"/>
                </a:solidFill>
                <a:latin typeface="Aptos Display"/>
                <a:cs typeface="Aptos Display"/>
              </a:rPr>
              <a:t>Repeatability without dilution</a:t>
            </a:r>
          </a:p>
          <a:p>
            <a:pPr algn="l">
              <a:lnSpc>
                <a:spcPct val="118000"/>
              </a:lnSpc>
              <a:spcBef>
                <a:spcPts val="0"/>
              </a:spcBef>
              <a:spcAft>
                <a:spcPts val="0"/>
              </a:spcAft>
            </a:pPr>
            <a:r>
              <a:rPr sz="1100" b="0" i="0">
                <a:solidFill>
                  <a:srgbClr val="35464F"/>
                </a:solidFill>
                <a:latin typeface="Aptos"/>
                <a:cs typeface="Aptos"/>
              </a:rPr>
              <a:t>Codified principles allow Aravest to repeat and scale successful strategies without diluting the standards or identity of the institution.</a:t>
            </a:r>
          </a:p>
        </p:txBody>
      </p:sp>
      <p:sp>
        <p:nvSpPr>
          <p:cNvPr id="26" name="TextBox 25"/>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7" name="TextBox 26"/>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4</a:t>
            </a:r>
          </a:p>
        </p:txBody>
      </p:sp>
      <p:pic>
        <p:nvPicPr>
          <p:cNvPr id="28" name="Picture 27"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04 · Values-led. Value-focused.</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Aravest Way defines how we invest; value creation determines where we deploy.</a:t>
            </a:r>
          </a:p>
        </p:txBody>
      </p:sp>
      <p:sp>
        <p:nvSpPr>
          <p:cNvPr id="5" name="Rounded Rectangle 4"/>
          <p:cNvSpPr/>
          <p:nvPr/>
        </p:nvSpPr>
        <p:spPr>
          <a:xfrm>
            <a:off x="640080" y="1554480"/>
            <a:ext cx="5303520" cy="3931920"/>
          </a:xfrm>
          <a:prstGeom prst="roundRect">
            <a:avLst>
              <a:gd name="adj" fmla="val 2093"/>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554480"/>
            <a:ext cx="4901184"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19072"/>
            <a:ext cx="4828032" cy="3602736"/>
          </a:xfrm>
          <a:prstGeom prst="rect">
            <a:avLst/>
          </a:prstGeom>
          <a:noFill/>
        </p:spPr>
        <p:txBody>
          <a:bodyPr wrap="square" anchor="t" lIns="0" rIns="0" tIns="0" bIns="0">
            <a:spAutoFit/>
          </a:bodyPr>
          <a:lstStyle/>
          <a:p>
            <a:pPr algn="l">
              <a:spcBef>
                <a:spcPts val="0"/>
              </a:spcBef>
              <a:spcAft>
                <a:spcPts val="400"/>
              </a:spcAft>
            </a:pPr>
            <a:r>
              <a:rPr sz="950" b="1" i="0" spc="120">
                <a:solidFill>
                  <a:srgbClr val="008080"/>
                </a:solidFill>
                <a:latin typeface="Aptos"/>
                <a:cs typeface="Aptos"/>
              </a:rPr>
              <a:t>VALUES-LED</a:t>
            </a:r>
          </a:p>
          <a:p>
            <a:pPr algn="l">
              <a:lnSpc>
                <a:spcPct val="104000"/>
              </a:lnSpc>
              <a:spcBef>
                <a:spcPts val="0"/>
              </a:spcBef>
              <a:spcAft>
                <a:spcPts val="600"/>
              </a:spcAft>
            </a:pPr>
            <a:r>
              <a:rPr sz="1500" b="0" i="0">
                <a:solidFill>
                  <a:srgbClr val="002B5C"/>
                </a:solidFill>
                <a:latin typeface="Aptos Display"/>
                <a:cs typeface="Aptos Display"/>
              </a:rPr>
              <a:t>The standards remain constant</a:t>
            </a:r>
          </a:p>
          <a:p>
            <a:pPr algn="l">
              <a:lnSpc>
                <a:spcPct val="120000"/>
              </a:lnSpc>
              <a:spcBef>
                <a:spcPts val="0"/>
              </a:spcBef>
              <a:spcAft>
                <a:spcPts val="700"/>
              </a:spcAft>
            </a:pPr>
            <a:r>
              <a:rPr sz="1200" b="0" i="0">
                <a:solidFill>
                  <a:srgbClr val="35464F"/>
                </a:solidFill>
                <a:latin typeface="Aptos"/>
                <a:cs typeface="Aptos"/>
              </a:rPr>
              <a:t>The Aravest Way guides how Aravest exercises judgement, conducts itself and stewards capital through the full investment lifecycle.</a:t>
            </a:r>
          </a:p>
          <a:p>
            <a:pPr algn="l">
              <a:lnSpc>
                <a:spcPct val="120000"/>
              </a:lnSpc>
              <a:spcBef>
                <a:spcPts val="0"/>
              </a:spcBef>
              <a:spcAft>
                <a:spcPts val="600"/>
              </a:spcAft>
            </a:pPr>
            <a:r>
              <a:rPr sz="1250" b="0" i="0">
                <a:solidFill>
                  <a:srgbClr val="35464F"/>
                </a:solidFill>
                <a:latin typeface="Aptos"/>
                <a:cs typeface="Aptos"/>
              </a:rPr>
              <a:t>Excellence: disciplined thinking, underwriting and execution.</a:t>
            </a:r>
          </a:p>
          <a:p>
            <a:pPr algn="l">
              <a:lnSpc>
                <a:spcPct val="120000"/>
              </a:lnSpc>
              <a:spcBef>
                <a:spcPts val="0"/>
              </a:spcBef>
              <a:spcAft>
                <a:spcPts val="600"/>
              </a:spcAft>
            </a:pPr>
            <a:r>
              <a:rPr sz="1250" b="0" i="0">
                <a:solidFill>
                  <a:srgbClr val="35464F"/>
                </a:solidFill>
                <a:latin typeface="Aptos"/>
                <a:cs typeface="Aptos"/>
              </a:rPr>
              <a:t>Trust: alignment, transparency and institutional governance.</a:t>
            </a:r>
          </a:p>
          <a:p>
            <a:pPr algn="l">
              <a:lnSpc>
                <a:spcPct val="120000"/>
              </a:lnSpc>
              <a:spcBef>
                <a:spcPts val="0"/>
              </a:spcBef>
              <a:spcAft>
                <a:spcPts val="600"/>
              </a:spcAft>
            </a:pPr>
            <a:r>
              <a:rPr sz="1250" b="0" i="0">
                <a:solidFill>
                  <a:srgbClr val="35464F"/>
                </a:solidFill>
                <a:latin typeface="Aptos"/>
                <a:cs typeface="Aptos"/>
              </a:rPr>
              <a:t>Accountability: ownership of decisions, risks and investment outcomes.</a:t>
            </a:r>
          </a:p>
        </p:txBody>
      </p:sp>
      <p:sp>
        <p:nvSpPr>
          <p:cNvPr id="8" name="Rounded Rectangle 7"/>
          <p:cNvSpPr/>
          <p:nvPr/>
        </p:nvSpPr>
        <p:spPr>
          <a:xfrm>
            <a:off x="6245352" y="1554480"/>
            <a:ext cx="5303520" cy="3931920"/>
          </a:xfrm>
          <a:prstGeom prst="roundRect">
            <a:avLst>
              <a:gd name="adj" fmla="val 2093"/>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554480"/>
            <a:ext cx="4901184" cy="31750"/>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3096" y="1719072"/>
            <a:ext cx="4828032" cy="3602736"/>
          </a:xfrm>
          <a:prstGeom prst="rect">
            <a:avLst/>
          </a:prstGeom>
          <a:noFill/>
        </p:spPr>
        <p:txBody>
          <a:bodyPr wrap="square" anchor="t" lIns="0" rIns="0" tIns="0" bIns="0">
            <a:spAutoFit/>
          </a:bodyPr>
          <a:lstStyle/>
          <a:p>
            <a:pPr algn="l">
              <a:spcBef>
                <a:spcPts val="0"/>
              </a:spcBef>
              <a:spcAft>
                <a:spcPts val="400"/>
              </a:spcAft>
            </a:pPr>
            <a:r>
              <a:rPr sz="950" b="1" i="0" spc="120">
                <a:solidFill>
                  <a:srgbClr val="4682B4"/>
                </a:solidFill>
                <a:latin typeface="Aptos"/>
                <a:cs typeface="Aptos"/>
              </a:rPr>
              <a:t>VALUE-FOCUSED</a:t>
            </a:r>
          </a:p>
          <a:p>
            <a:pPr algn="l">
              <a:lnSpc>
                <a:spcPct val="104000"/>
              </a:lnSpc>
              <a:spcBef>
                <a:spcPts val="0"/>
              </a:spcBef>
              <a:spcAft>
                <a:spcPts val="600"/>
              </a:spcAft>
            </a:pPr>
            <a:r>
              <a:rPr sz="1500" b="0" i="0">
                <a:solidFill>
                  <a:srgbClr val="002B5C"/>
                </a:solidFill>
                <a:latin typeface="Aptos Display"/>
                <a:cs typeface="Aptos Display"/>
              </a:rPr>
              <a:t>Deployment follows identifiable value</a:t>
            </a:r>
          </a:p>
          <a:p>
            <a:pPr algn="l">
              <a:lnSpc>
                <a:spcPct val="120000"/>
              </a:lnSpc>
              <a:spcBef>
                <a:spcPts val="0"/>
              </a:spcBef>
              <a:spcAft>
                <a:spcPts val="700"/>
              </a:spcAft>
            </a:pPr>
            <a:r>
              <a:rPr sz="1200" b="0" i="0">
                <a:solidFill>
                  <a:srgbClr val="35464F"/>
                </a:solidFill>
                <a:latin typeface="Aptos"/>
                <a:cs typeface="Aptos"/>
              </a:rPr>
              <a:t>Aravest deploys only where it can establish a genuine value opportunity and a credible path to realisation.</a:t>
            </a:r>
          </a:p>
          <a:p>
            <a:pPr algn="l">
              <a:lnSpc>
                <a:spcPct val="120000"/>
              </a:lnSpc>
              <a:spcBef>
                <a:spcPts val="0"/>
              </a:spcBef>
              <a:spcAft>
                <a:spcPts val="600"/>
              </a:spcAft>
            </a:pPr>
            <a:r>
              <a:rPr sz="1250" b="0" i="0">
                <a:solidFill>
                  <a:srgbClr val="35464F"/>
                </a:solidFill>
                <a:latin typeface="Aptos"/>
                <a:cs typeface="Aptos"/>
              </a:rPr>
              <a:t>A genuine value gap, mispricing or market dislocation.</a:t>
            </a:r>
          </a:p>
          <a:p>
            <a:pPr algn="l">
              <a:lnSpc>
                <a:spcPct val="120000"/>
              </a:lnSpc>
              <a:spcBef>
                <a:spcPts val="0"/>
              </a:spcBef>
              <a:spcAft>
                <a:spcPts val="600"/>
              </a:spcAft>
            </a:pPr>
            <a:r>
              <a:rPr sz="1250" b="0" i="0">
                <a:solidFill>
                  <a:srgbClr val="35464F"/>
                </a:solidFill>
                <a:latin typeface="Aptos"/>
                <a:cs typeface="Aptos"/>
              </a:rPr>
              <a:t>A clear and executable value-creation plan.</a:t>
            </a:r>
          </a:p>
          <a:p>
            <a:pPr algn="l">
              <a:lnSpc>
                <a:spcPct val="120000"/>
              </a:lnSpc>
              <a:spcBef>
                <a:spcPts val="0"/>
              </a:spcBef>
              <a:spcAft>
                <a:spcPts val="600"/>
              </a:spcAft>
            </a:pPr>
            <a:r>
              <a:rPr sz="1250" b="0" i="0">
                <a:solidFill>
                  <a:srgbClr val="35464F"/>
                </a:solidFill>
                <a:latin typeface="Aptos"/>
                <a:cs typeface="Aptos"/>
              </a:rPr>
              <a:t>Complete capabilities, internally or through secured partners.</a:t>
            </a:r>
          </a:p>
          <a:p>
            <a:pPr algn="l">
              <a:lnSpc>
                <a:spcPct val="120000"/>
              </a:lnSpc>
              <a:spcBef>
                <a:spcPts val="0"/>
              </a:spcBef>
              <a:spcAft>
                <a:spcPts val="600"/>
              </a:spcAft>
            </a:pPr>
            <a:r>
              <a:rPr sz="1250" b="0" i="0">
                <a:solidFill>
                  <a:srgbClr val="35464F"/>
                </a:solidFill>
                <a:latin typeface="Aptos"/>
                <a:cs typeface="Aptos"/>
              </a:rPr>
              <a:t>A credible route to stabilisation, capital recycling or exit.</a:t>
            </a:r>
          </a:p>
        </p:txBody>
      </p:sp>
      <p:sp>
        <p:nvSpPr>
          <p:cNvPr id="11" name="Rounded Rectangle 10"/>
          <p:cNvSpPr/>
          <p:nvPr/>
        </p:nvSpPr>
        <p:spPr>
          <a:xfrm>
            <a:off x="640080" y="5614416"/>
            <a:ext cx="10908792" cy="530352"/>
          </a:xfrm>
          <a:prstGeom prst="roundRect">
            <a:avLst>
              <a:gd name="adj" fmla="val 15517"/>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5614416"/>
            <a:ext cx="10396728" cy="530352"/>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Sector-flexible, but not strategy-neutral.  </a:t>
            </a:r>
            <a:r>
              <a:rPr sz="1250" b="0" i="0">
                <a:solidFill>
                  <a:srgbClr val="D5DDE6"/>
                </a:solidFill>
                <a:latin typeface="Aptos"/>
                <a:cs typeface="Aptos"/>
              </a:rPr>
              <a:t>Every investment must have an identifiable value opportunity, a credible value-creation plan and the capabilities required to execute it.</a:t>
            </a:r>
          </a:p>
        </p:txBody>
      </p:sp>
      <p:sp>
        <p:nvSpPr>
          <p:cNvPr id="13" name="TextBox 12"/>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4" name="TextBox 13"/>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5</a:t>
            </a:r>
          </a:p>
        </p:txBody>
      </p:sp>
      <p:pic>
        <p:nvPicPr>
          <p:cNvPr id="15" name="Picture 14"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05 · Building the post-SMFL track record</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A credible track record is built through the full investment lifecycle, not through acquisitions alone.</a:t>
            </a:r>
          </a:p>
        </p:txBody>
      </p:sp>
      <p:sp>
        <p:nvSpPr>
          <p:cNvPr id="5" name="TextBox 4"/>
          <p:cNvSpPr txBox="1"/>
          <p:nvPr/>
        </p:nvSpPr>
        <p:spPr>
          <a:xfrm>
            <a:off x="640080" y="1517904"/>
            <a:ext cx="10908792" cy="548640"/>
          </a:xfrm>
          <a:prstGeom prst="rect">
            <a:avLst/>
          </a:prstGeom>
          <a:noFill/>
        </p:spPr>
        <p:txBody>
          <a:bodyPr wrap="square" anchor="t" lIns="0" rIns="0" tIns="0" bIns="0">
            <a:spAutoFit/>
          </a:bodyPr>
          <a:lstStyle/>
          <a:p>
            <a:pPr algn="l">
              <a:lnSpc>
                <a:spcPct val="124000"/>
              </a:lnSpc>
              <a:spcBef>
                <a:spcPts val="0"/>
              </a:spcBef>
              <a:spcAft>
                <a:spcPts val="0"/>
              </a:spcAft>
            </a:pPr>
            <a:r>
              <a:rPr sz="1250" b="0" i="0">
                <a:solidFill>
                  <a:srgbClr val="35464F"/>
                </a:solidFill>
                <a:latin typeface="Aptos"/>
                <a:cs typeface="Aptos"/>
              </a:rPr>
              <a:t>At Aravest’s current stage, third-party capital is likely to be opportunity-led before it becomes strategy-led or discretionary. Investors will first seek evidence that Aravest can source, execute, manage and complete investments successfully under SMFL ownership.</a:t>
            </a:r>
          </a:p>
        </p:txBody>
      </p:sp>
      <p:sp>
        <p:nvSpPr>
          <p:cNvPr id="6" name="Rounded Rectangle 5"/>
          <p:cNvSpPr/>
          <p:nvPr/>
        </p:nvSpPr>
        <p:spPr>
          <a:xfrm>
            <a:off x="640080" y="2395728"/>
            <a:ext cx="1938528" cy="1298448"/>
          </a:xfrm>
          <a:prstGeom prst="roundRect">
            <a:avLst>
              <a:gd name="adj" fmla="val 633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532888"/>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01</a:t>
            </a:r>
          </a:p>
          <a:p>
            <a:pPr algn="l">
              <a:lnSpc>
                <a:spcPct val="108000"/>
              </a:lnSpc>
              <a:spcBef>
                <a:spcPts val="0"/>
              </a:spcBef>
              <a:spcAft>
                <a:spcPts val="0"/>
              </a:spcAft>
            </a:pPr>
            <a:r>
              <a:rPr sz="1300" b="0" i="0">
                <a:solidFill>
                  <a:srgbClr val="002B5C"/>
                </a:solidFill>
                <a:latin typeface="Aptos Display"/>
                <a:cs typeface="Aptos Display"/>
              </a:rPr>
              <a:t>Recognise and underwrite value</a:t>
            </a:r>
          </a:p>
        </p:txBody>
      </p:sp>
      <p:sp>
        <p:nvSpPr>
          <p:cNvPr id="8" name="TextBox 7"/>
          <p:cNvSpPr txBox="1"/>
          <p:nvPr/>
        </p:nvSpPr>
        <p:spPr>
          <a:xfrm>
            <a:off x="2578608" y="2852928"/>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9" name="Rounded Rectangle 8"/>
          <p:cNvSpPr/>
          <p:nvPr/>
        </p:nvSpPr>
        <p:spPr>
          <a:xfrm>
            <a:off x="2882646" y="2395728"/>
            <a:ext cx="1938528" cy="1298448"/>
          </a:xfrm>
          <a:prstGeom prst="roundRect">
            <a:avLst>
              <a:gd name="adj" fmla="val 633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8950" y="2532888"/>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02</a:t>
            </a:r>
          </a:p>
          <a:p>
            <a:pPr algn="l">
              <a:lnSpc>
                <a:spcPct val="108000"/>
              </a:lnSpc>
              <a:spcBef>
                <a:spcPts val="0"/>
              </a:spcBef>
              <a:spcAft>
                <a:spcPts val="0"/>
              </a:spcAft>
            </a:pPr>
            <a:r>
              <a:rPr sz="1300" b="0" i="0">
                <a:solidFill>
                  <a:srgbClr val="002B5C"/>
                </a:solidFill>
                <a:latin typeface="Aptos Display"/>
                <a:cs typeface="Aptos Display"/>
              </a:rPr>
              <a:t>Secure and execute</a:t>
            </a:r>
          </a:p>
        </p:txBody>
      </p:sp>
      <p:sp>
        <p:nvSpPr>
          <p:cNvPr id="11" name="TextBox 10"/>
          <p:cNvSpPr txBox="1"/>
          <p:nvPr/>
        </p:nvSpPr>
        <p:spPr>
          <a:xfrm>
            <a:off x="4821174" y="2852928"/>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2" name="Rounded Rectangle 11"/>
          <p:cNvSpPr/>
          <p:nvPr/>
        </p:nvSpPr>
        <p:spPr>
          <a:xfrm>
            <a:off x="5125212" y="2395728"/>
            <a:ext cx="1938528" cy="1298448"/>
          </a:xfrm>
          <a:prstGeom prst="roundRect">
            <a:avLst>
              <a:gd name="adj" fmla="val 633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1516" y="2532888"/>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03</a:t>
            </a:r>
          </a:p>
          <a:p>
            <a:pPr algn="l">
              <a:lnSpc>
                <a:spcPct val="108000"/>
              </a:lnSpc>
              <a:spcBef>
                <a:spcPts val="0"/>
              </a:spcBef>
              <a:spcAft>
                <a:spcPts val="0"/>
              </a:spcAft>
            </a:pPr>
            <a:r>
              <a:rPr sz="1300" b="0" i="0">
                <a:solidFill>
                  <a:srgbClr val="002B5C"/>
                </a:solidFill>
                <a:latin typeface="Aptos Display"/>
                <a:cs typeface="Aptos Display"/>
              </a:rPr>
              <a:t>Manage and create value</a:t>
            </a:r>
          </a:p>
        </p:txBody>
      </p:sp>
      <p:sp>
        <p:nvSpPr>
          <p:cNvPr id="14" name="TextBox 13"/>
          <p:cNvSpPr txBox="1"/>
          <p:nvPr/>
        </p:nvSpPr>
        <p:spPr>
          <a:xfrm>
            <a:off x="7063740" y="2852928"/>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5" name="Rounded Rectangle 14"/>
          <p:cNvSpPr/>
          <p:nvPr/>
        </p:nvSpPr>
        <p:spPr>
          <a:xfrm>
            <a:off x="7367778" y="2395728"/>
            <a:ext cx="1938528" cy="1298448"/>
          </a:xfrm>
          <a:prstGeom prst="roundRect">
            <a:avLst>
              <a:gd name="adj" fmla="val 633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4082" y="2532888"/>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04</a:t>
            </a:r>
          </a:p>
          <a:p>
            <a:pPr algn="l">
              <a:lnSpc>
                <a:spcPct val="108000"/>
              </a:lnSpc>
              <a:spcBef>
                <a:spcPts val="0"/>
              </a:spcBef>
              <a:spcAft>
                <a:spcPts val="0"/>
              </a:spcAft>
            </a:pPr>
            <a:r>
              <a:rPr sz="1300" b="0" i="0">
                <a:solidFill>
                  <a:srgbClr val="002B5C"/>
                </a:solidFill>
                <a:latin typeface="Aptos Display"/>
                <a:cs typeface="Aptos Display"/>
              </a:rPr>
              <a:t>Deliver and realise outcomes</a:t>
            </a:r>
          </a:p>
        </p:txBody>
      </p:sp>
      <p:sp>
        <p:nvSpPr>
          <p:cNvPr id="17" name="TextBox 16"/>
          <p:cNvSpPr txBox="1"/>
          <p:nvPr/>
        </p:nvSpPr>
        <p:spPr>
          <a:xfrm>
            <a:off x="9306306" y="2852928"/>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8" name="Rounded Rectangle 17"/>
          <p:cNvSpPr/>
          <p:nvPr/>
        </p:nvSpPr>
        <p:spPr>
          <a:xfrm>
            <a:off x="9610344" y="2395728"/>
            <a:ext cx="1938528" cy="1298448"/>
          </a:xfrm>
          <a:prstGeom prst="roundRect">
            <a:avLst>
              <a:gd name="adj" fmla="val 6338"/>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56648" y="2532888"/>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008080"/>
                </a:solidFill>
                <a:latin typeface="Aptos"/>
                <a:cs typeface="Aptos"/>
              </a:rPr>
              <a:t>05</a:t>
            </a:r>
          </a:p>
          <a:p>
            <a:pPr algn="l">
              <a:lnSpc>
                <a:spcPct val="108000"/>
              </a:lnSpc>
              <a:spcBef>
                <a:spcPts val="0"/>
              </a:spcBef>
              <a:spcAft>
                <a:spcPts val="0"/>
              </a:spcAft>
            </a:pPr>
            <a:r>
              <a:rPr sz="1300" b="0" i="0">
                <a:solidFill>
                  <a:srgbClr val="002B5C"/>
                </a:solidFill>
                <a:latin typeface="Aptos Display"/>
                <a:cs typeface="Aptos Display"/>
              </a:rPr>
              <a:t>Repeat across a strategy</a:t>
            </a:r>
          </a:p>
        </p:txBody>
      </p:sp>
      <p:sp>
        <p:nvSpPr>
          <p:cNvPr id="20" name="Rounded Rectangle 19"/>
          <p:cNvSpPr/>
          <p:nvPr/>
        </p:nvSpPr>
        <p:spPr>
          <a:xfrm>
            <a:off x="640080" y="4160520"/>
            <a:ext cx="1090879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160520"/>
            <a:ext cx="1039672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The objective:  </a:t>
            </a:r>
            <a:r>
              <a:rPr sz="1300" b="0" i="0">
                <a:solidFill>
                  <a:srgbClr val="D5DDE6"/>
                </a:solidFill>
                <a:latin typeface="Aptos"/>
                <a:cs typeface="Aptos"/>
              </a:rPr>
              <a:t>move investor confidence from the individual opportunity, to the repeat relationship, and ultimately to the Aravest strategy.</a:t>
            </a:r>
          </a:p>
        </p:txBody>
      </p:sp>
      <p:sp>
        <p:nvSpPr>
          <p:cNvPr id="22" name="TextBox 21"/>
          <p:cNvSpPr txBox="1"/>
          <p:nvPr/>
        </p:nvSpPr>
        <p:spPr>
          <a:xfrm>
            <a:off x="640080" y="5010912"/>
            <a:ext cx="10908792" cy="731520"/>
          </a:xfrm>
          <a:prstGeom prst="rect">
            <a:avLst/>
          </a:prstGeom>
          <a:noFill/>
        </p:spPr>
        <p:txBody>
          <a:bodyPr wrap="square" anchor="t" lIns="0" rIns="0" tIns="0" bIns="0">
            <a:spAutoFit/>
          </a:bodyPr>
          <a:lstStyle/>
          <a:p>
            <a:pPr algn="l">
              <a:lnSpc>
                <a:spcPct val="126000"/>
              </a:lnSpc>
              <a:spcBef>
                <a:spcPts val="0"/>
              </a:spcBef>
              <a:spcAft>
                <a:spcPts val="0"/>
              </a:spcAft>
            </a:pPr>
            <a:r>
              <a:rPr sz="1250" b="0" i="0">
                <a:solidFill>
                  <a:srgbClr val="35464F"/>
                </a:solidFill>
                <a:latin typeface="Aptos"/>
                <a:cs typeface="Aptos"/>
              </a:rPr>
              <a:t>The track record Aravest needs is not simply a record of acquisitions: it is a record of judgement, execution, stewardship, performance, realisation and repeatability under SMFL ownership — the six forms of evidence set out on the next page.</a:t>
            </a:r>
          </a:p>
        </p:txBody>
      </p:sp>
      <p:sp>
        <p:nvSpPr>
          <p:cNvPr id="23" name="TextBox 22"/>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4" name="TextBox 23"/>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6</a:t>
            </a:r>
          </a:p>
        </p:txBody>
      </p:sp>
      <p:pic>
        <p:nvPicPr>
          <p:cNvPr id="25" name="Picture 24"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05 · Building the post-SMFL track record · Evidence</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What investors need to see.</a:t>
            </a:r>
          </a:p>
        </p:txBody>
      </p:sp>
      <p:sp>
        <p:nvSpPr>
          <p:cNvPr id="5" name="Rounded Rectangle 4"/>
          <p:cNvSpPr/>
          <p:nvPr/>
        </p:nvSpPr>
        <p:spPr>
          <a:xfrm>
            <a:off x="640080" y="1481328"/>
            <a:ext cx="3538728" cy="1737360"/>
          </a:xfrm>
          <a:prstGeom prst="roundRect">
            <a:avLst>
              <a:gd name="adj" fmla="val 473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627632"/>
            <a:ext cx="3136392" cy="1444752"/>
          </a:xfrm>
          <a:prstGeom prst="rect">
            <a:avLst/>
          </a:prstGeom>
          <a:noFill/>
        </p:spPr>
        <p:txBody>
          <a:bodyPr wrap="square" anchor="t" lIns="0" rIns="0" tIns="0" bIns="0">
            <a:spAutoFit/>
          </a:bodyPr>
          <a:lstStyle/>
          <a:p>
            <a:pPr>
              <a:spcAft>
                <a:spcPts val="400"/>
              </a:spcAft>
            </a:pPr>
            <a:r>
              <a:rPr sz="1050" b="1" i="0" spc="100">
                <a:solidFill>
                  <a:srgbClr val="869397"/>
                </a:solidFill>
                <a:latin typeface="Aptos"/>
                <a:cs typeface="Aptos"/>
              </a:rPr>
              <a:t>01  </a:t>
            </a:r>
            <a:r>
              <a:rPr sz="1400" b="0" i="0">
                <a:solidFill>
                  <a:srgbClr val="002B5C"/>
                </a:solidFill>
                <a:latin typeface="Aptos Display"/>
                <a:cs typeface="Aptos Display"/>
              </a:rPr>
              <a:t>Judgement</a:t>
            </a:r>
          </a:p>
          <a:p>
            <a:pPr algn="l">
              <a:lnSpc>
                <a:spcPct val="120000"/>
              </a:lnSpc>
              <a:spcBef>
                <a:spcPts val="0"/>
              </a:spcBef>
              <a:spcAft>
                <a:spcPts val="0"/>
              </a:spcAft>
            </a:pPr>
            <a:r>
              <a:rPr sz="1200" b="0" i="0">
                <a:solidFill>
                  <a:srgbClr val="35464F"/>
                </a:solidFill>
                <a:latin typeface="Aptos"/>
                <a:cs typeface="Aptos"/>
              </a:rPr>
              <a:t>Independent sourcing, disciplined underwriting and evidence that Aravest can recognise value rather than merely participate in transactions.</a:t>
            </a:r>
          </a:p>
        </p:txBody>
      </p:sp>
      <p:sp>
        <p:nvSpPr>
          <p:cNvPr id="7" name="Rounded Rectangle 6"/>
          <p:cNvSpPr/>
          <p:nvPr/>
        </p:nvSpPr>
        <p:spPr>
          <a:xfrm>
            <a:off x="4325112" y="1481328"/>
            <a:ext cx="3538728" cy="1737360"/>
          </a:xfrm>
          <a:prstGeom prst="roundRect">
            <a:avLst>
              <a:gd name="adj" fmla="val 473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27632"/>
            <a:ext cx="3136392" cy="1444752"/>
          </a:xfrm>
          <a:prstGeom prst="rect">
            <a:avLst/>
          </a:prstGeom>
          <a:noFill/>
        </p:spPr>
        <p:txBody>
          <a:bodyPr wrap="square" anchor="t" lIns="0" rIns="0" tIns="0" bIns="0">
            <a:spAutoFit/>
          </a:bodyPr>
          <a:lstStyle/>
          <a:p>
            <a:pPr>
              <a:spcAft>
                <a:spcPts val="400"/>
              </a:spcAft>
            </a:pPr>
            <a:r>
              <a:rPr sz="1050" b="1" i="0" spc="100">
                <a:solidFill>
                  <a:srgbClr val="869397"/>
                </a:solidFill>
                <a:latin typeface="Aptos"/>
                <a:cs typeface="Aptos"/>
              </a:rPr>
              <a:t>02  </a:t>
            </a:r>
            <a:r>
              <a:rPr sz="1400" b="0" i="0">
                <a:solidFill>
                  <a:srgbClr val="002B5C"/>
                </a:solidFill>
                <a:latin typeface="Aptos Display"/>
                <a:cs typeface="Aptos Display"/>
              </a:rPr>
              <a:t>Execution</a:t>
            </a:r>
          </a:p>
          <a:p>
            <a:pPr algn="l">
              <a:lnSpc>
                <a:spcPct val="120000"/>
              </a:lnSpc>
              <a:spcBef>
                <a:spcPts val="0"/>
              </a:spcBef>
              <a:spcAft>
                <a:spcPts val="0"/>
              </a:spcAft>
            </a:pPr>
            <a:r>
              <a:rPr sz="1200" b="0" i="0">
                <a:solidFill>
                  <a:srgbClr val="35464F"/>
                </a:solidFill>
                <a:latin typeface="Aptos"/>
                <a:cs typeface="Aptos"/>
              </a:rPr>
              <a:t>Ability to complete transactions, implement business plans and work effectively with partners under the current sponsor.</a:t>
            </a:r>
          </a:p>
        </p:txBody>
      </p:sp>
      <p:sp>
        <p:nvSpPr>
          <p:cNvPr id="9" name="Rounded Rectangle 8"/>
          <p:cNvSpPr/>
          <p:nvPr/>
        </p:nvSpPr>
        <p:spPr>
          <a:xfrm>
            <a:off x="8010144" y="1481328"/>
            <a:ext cx="3538728" cy="1737360"/>
          </a:xfrm>
          <a:prstGeom prst="roundRect">
            <a:avLst>
              <a:gd name="adj" fmla="val 473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627632"/>
            <a:ext cx="3136392" cy="1444752"/>
          </a:xfrm>
          <a:prstGeom prst="rect">
            <a:avLst/>
          </a:prstGeom>
          <a:noFill/>
        </p:spPr>
        <p:txBody>
          <a:bodyPr wrap="square" anchor="t" lIns="0" rIns="0" tIns="0" bIns="0">
            <a:spAutoFit/>
          </a:bodyPr>
          <a:lstStyle/>
          <a:p>
            <a:pPr>
              <a:spcAft>
                <a:spcPts val="400"/>
              </a:spcAft>
            </a:pPr>
            <a:r>
              <a:rPr sz="1050" b="1" i="0" spc="100">
                <a:solidFill>
                  <a:srgbClr val="869397"/>
                </a:solidFill>
                <a:latin typeface="Aptos"/>
                <a:cs typeface="Aptos"/>
              </a:rPr>
              <a:t>03  </a:t>
            </a:r>
            <a:r>
              <a:rPr sz="1400" b="0" i="0">
                <a:solidFill>
                  <a:srgbClr val="002B5C"/>
                </a:solidFill>
                <a:latin typeface="Aptos Display"/>
                <a:cs typeface="Aptos Display"/>
              </a:rPr>
              <a:t>Stewardship</a:t>
            </a:r>
          </a:p>
          <a:p>
            <a:pPr algn="l">
              <a:lnSpc>
                <a:spcPct val="120000"/>
              </a:lnSpc>
              <a:spcBef>
                <a:spcPts val="0"/>
              </a:spcBef>
              <a:spcAft>
                <a:spcPts val="0"/>
              </a:spcAft>
            </a:pPr>
            <a:r>
              <a:rPr sz="1200" b="0" i="0">
                <a:solidFill>
                  <a:srgbClr val="35464F"/>
                </a:solidFill>
                <a:latin typeface="Aptos"/>
                <a:cs typeface="Aptos"/>
              </a:rPr>
              <a:t>Responsible asset management, risk management, governance and communication through changing market conditions.</a:t>
            </a:r>
          </a:p>
        </p:txBody>
      </p:sp>
      <p:sp>
        <p:nvSpPr>
          <p:cNvPr id="11" name="Rounded Rectangle 10"/>
          <p:cNvSpPr/>
          <p:nvPr/>
        </p:nvSpPr>
        <p:spPr>
          <a:xfrm>
            <a:off x="640080" y="3364992"/>
            <a:ext cx="3538728" cy="1737360"/>
          </a:xfrm>
          <a:prstGeom prst="roundRect">
            <a:avLst>
              <a:gd name="adj" fmla="val 473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511296"/>
            <a:ext cx="3136392" cy="1444752"/>
          </a:xfrm>
          <a:prstGeom prst="rect">
            <a:avLst/>
          </a:prstGeom>
          <a:noFill/>
        </p:spPr>
        <p:txBody>
          <a:bodyPr wrap="square" anchor="t" lIns="0" rIns="0" tIns="0" bIns="0">
            <a:spAutoFit/>
          </a:bodyPr>
          <a:lstStyle/>
          <a:p>
            <a:pPr>
              <a:spcAft>
                <a:spcPts val="400"/>
              </a:spcAft>
            </a:pPr>
            <a:r>
              <a:rPr sz="1050" b="1" i="0" spc="100">
                <a:solidFill>
                  <a:srgbClr val="869397"/>
                </a:solidFill>
                <a:latin typeface="Aptos"/>
                <a:cs typeface="Aptos"/>
              </a:rPr>
              <a:t>04  </a:t>
            </a:r>
            <a:r>
              <a:rPr sz="1400" b="0" i="0">
                <a:solidFill>
                  <a:srgbClr val="002B5C"/>
                </a:solidFill>
                <a:latin typeface="Aptos Display"/>
                <a:cs typeface="Aptos Display"/>
              </a:rPr>
              <a:t>Performance</a:t>
            </a:r>
          </a:p>
          <a:p>
            <a:pPr algn="l">
              <a:lnSpc>
                <a:spcPct val="120000"/>
              </a:lnSpc>
              <a:spcBef>
                <a:spcPts val="0"/>
              </a:spcBef>
              <a:spcAft>
                <a:spcPts val="0"/>
              </a:spcAft>
            </a:pPr>
            <a:r>
              <a:rPr sz="1200" b="0" i="0">
                <a:solidFill>
                  <a:srgbClr val="35464F"/>
                </a:solidFill>
                <a:latin typeface="Aptos"/>
                <a:cs typeface="Aptos"/>
              </a:rPr>
              <a:t>Evidence that the investment thesis translates into value creation during the hold period.</a:t>
            </a:r>
          </a:p>
        </p:txBody>
      </p:sp>
      <p:sp>
        <p:nvSpPr>
          <p:cNvPr id="13" name="Rounded Rectangle 12"/>
          <p:cNvSpPr/>
          <p:nvPr/>
        </p:nvSpPr>
        <p:spPr>
          <a:xfrm>
            <a:off x="4325112" y="3364992"/>
            <a:ext cx="3538728" cy="1737360"/>
          </a:xfrm>
          <a:prstGeom prst="roundRect">
            <a:avLst>
              <a:gd name="adj" fmla="val 473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511296"/>
            <a:ext cx="3136392" cy="1444752"/>
          </a:xfrm>
          <a:prstGeom prst="rect">
            <a:avLst/>
          </a:prstGeom>
          <a:noFill/>
        </p:spPr>
        <p:txBody>
          <a:bodyPr wrap="square" anchor="t" lIns="0" rIns="0" tIns="0" bIns="0">
            <a:spAutoFit/>
          </a:bodyPr>
          <a:lstStyle/>
          <a:p>
            <a:pPr>
              <a:spcAft>
                <a:spcPts val="400"/>
              </a:spcAft>
            </a:pPr>
            <a:r>
              <a:rPr sz="1050" b="1" i="0" spc="100">
                <a:solidFill>
                  <a:srgbClr val="869397"/>
                </a:solidFill>
                <a:latin typeface="Aptos"/>
                <a:cs typeface="Aptos"/>
              </a:rPr>
              <a:t>05  </a:t>
            </a:r>
            <a:r>
              <a:rPr sz="1400" b="0" i="0">
                <a:solidFill>
                  <a:srgbClr val="002B5C"/>
                </a:solidFill>
                <a:latin typeface="Aptos Display"/>
                <a:cs typeface="Aptos Display"/>
              </a:rPr>
              <a:t>Realisation</a:t>
            </a:r>
          </a:p>
          <a:p>
            <a:pPr algn="l">
              <a:lnSpc>
                <a:spcPct val="120000"/>
              </a:lnSpc>
              <a:spcBef>
                <a:spcPts val="0"/>
              </a:spcBef>
              <a:spcAft>
                <a:spcPts val="0"/>
              </a:spcAft>
            </a:pPr>
            <a:r>
              <a:rPr sz="1200" b="0" i="0">
                <a:solidFill>
                  <a:srgbClr val="35464F"/>
                </a:solidFill>
                <a:latin typeface="Aptos"/>
                <a:cs typeface="Aptos"/>
              </a:rPr>
              <a:t>Evidence that created value can be converted into actual investor returns.</a:t>
            </a:r>
          </a:p>
        </p:txBody>
      </p:sp>
      <p:sp>
        <p:nvSpPr>
          <p:cNvPr id="15" name="Rounded Rectangle 14"/>
          <p:cNvSpPr/>
          <p:nvPr/>
        </p:nvSpPr>
        <p:spPr>
          <a:xfrm>
            <a:off x="8010144" y="3364992"/>
            <a:ext cx="3538728" cy="1737360"/>
          </a:xfrm>
          <a:prstGeom prst="roundRect">
            <a:avLst>
              <a:gd name="adj" fmla="val 473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3511296"/>
            <a:ext cx="3136392" cy="1444752"/>
          </a:xfrm>
          <a:prstGeom prst="rect">
            <a:avLst/>
          </a:prstGeom>
          <a:noFill/>
        </p:spPr>
        <p:txBody>
          <a:bodyPr wrap="square" anchor="t" lIns="0" rIns="0" tIns="0" bIns="0">
            <a:spAutoFit/>
          </a:bodyPr>
          <a:lstStyle/>
          <a:p>
            <a:pPr>
              <a:spcAft>
                <a:spcPts val="400"/>
              </a:spcAft>
            </a:pPr>
            <a:r>
              <a:rPr sz="1050" b="1" i="0" spc="100">
                <a:solidFill>
                  <a:srgbClr val="008080"/>
                </a:solidFill>
                <a:latin typeface="Aptos"/>
                <a:cs typeface="Aptos"/>
              </a:rPr>
              <a:t>06  </a:t>
            </a:r>
            <a:r>
              <a:rPr sz="1400" b="0" i="0">
                <a:solidFill>
                  <a:srgbClr val="002B5C"/>
                </a:solidFill>
                <a:latin typeface="Aptos Display"/>
                <a:cs typeface="Aptos Display"/>
              </a:rPr>
              <a:t>Repeatability</a:t>
            </a:r>
          </a:p>
          <a:p>
            <a:pPr algn="l">
              <a:lnSpc>
                <a:spcPct val="120000"/>
              </a:lnSpc>
              <a:spcBef>
                <a:spcPts val="0"/>
              </a:spcBef>
              <a:spcAft>
                <a:spcPts val="0"/>
              </a:spcAft>
            </a:pPr>
            <a:r>
              <a:rPr sz="1200" b="0" i="0">
                <a:solidFill>
                  <a:srgbClr val="35464F"/>
                </a:solidFill>
                <a:latin typeface="Aptos"/>
                <a:cs typeface="Aptos"/>
              </a:rPr>
              <a:t>A body of evidence across more than one transaction, capable of supporting confidence in a repeatable Aravest strategy.</a:t>
            </a:r>
          </a:p>
        </p:txBody>
      </p:sp>
      <p:sp>
        <p:nvSpPr>
          <p:cNvPr id="17" name="Rounded Rectangle 16"/>
          <p:cNvSpPr/>
          <p:nvPr/>
        </p:nvSpPr>
        <p:spPr>
          <a:xfrm>
            <a:off x="640080" y="5358384"/>
            <a:ext cx="1090879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358384"/>
            <a:ext cx="1039672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As the evidence accumulates,  </a:t>
            </a:r>
            <a:r>
              <a:rPr sz="1300" b="0" i="0">
                <a:solidFill>
                  <a:srgbClr val="D5DDE6"/>
                </a:solidFill>
                <a:latin typeface="Aptos"/>
                <a:cs typeface="Aptos"/>
              </a:rPr>
              <a:t>investor confidence moves from individual opportunities to repeat participation and ultimately to broader strategy-level capital.</a:t>
            </a:r>
          </a:p>
        </p:txBody>
      </p:sp>
      <p:sp>
        <p:nvSpPr>
          <p:cNvPr id="19" name="TextBox 18"/>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0" name="TextBox 19"/>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7</a:t>
            </a:r>
          </a:p>
        </p:txBody>
      </p:sp>
      <p:pic>
        <p:nvPicPr>
          <p:cNvPr id="21" name="Picture 20"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06 · Two parallel pathways</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Aravest will build the platform through two complementary pathways.</a:t>
            </a:r>
          </a:p>
        </p:txBody>
      </p:sp>
      <p:sp>
        <p:nvSpPr>
          <p:cNvPr id="5" name="Rounded Rectangle 4"/>
          <p:cNvSpPr/>
          <p:nvPr/>
        </p:nvSpPr>
        <p:spPr>
          <a:xfrm>
            <a:off x="640080" y="1408176"/>
            <a:ext cx="5303520" cy="4041648"/>
          </a:xfrm>
          <a:prstGeom prst="roundRect">
            <a:avLst>
              <a:gd name="adj" fmla="val 203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408176"/>
            <a:ext cx="4901184"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536192"/>
            <a:ext cx="4828032" cy="777240"/>
          </a:xfrm>
          <a:prstGeom prst="rect">
            <a:avLst/>
          </a:prstGeom>
          <a:noFill/>
        </p:spPr>
        <p:txBody>
          <a:bodyPr wrap="square" anchor="t" lIns="0" rIns="0" tIns="0" bIns="0">
            <a:spAutoFit/>
          </a:bodyPr>
          <a:lstStyle/>
          <a:p>
            <a:pPr algn="l">
              <a:lnSpc>
                <a:spcPct val="104000"/>
              </a:lnSpc>
              <a:spcBef>
                <a:spcPts val="0"/>
              </a:spcBef>
              <a:spcAft>
                <a:spcPts val="300"/>
              </a:spcAft>
            </a:pPr>
            <a:r>
              <a:rPr sz="1450" b="0" i="0">
                <a:solidFill>
                  <a:srgbClr val="002B5C"/>
                </a:solidFill>
                <a:latin typeface="Aptos Display"/>
                <a:cs typeface="Aptos Display"/>
              </a:rPr>
              <a:t>Pathway 1 — Diversified Track Record Building</a:t>
            </a:r>
          </a:p>
          <a:p>
            <a:pPr algn="l">
              <a:spcBef>
                <a:spcPts val="0"/>
              </a:spcBef>
              <a:spcAft>
                <a:spcPts val="0"/>
              </a:spcAft>
            </a:pPr>
            <a:r>
              <a:rPr sz="900" b="1" i="0" spc="110">
                <a:solidFill>
                  <a:srgbClr val="008080"/>
                </a:solidFill>
                <a:latin typeface="Aptos"/>
                <a:cs typeface="Aptos"/>
              </a:rPr>
              <a:t>THE PRINCIPAL PROGRAMME — BUILDS THE RECORD</a:t>
            </a:r>
          </a:p>
        </p:txBody>
      </p:sp>
      <p:sp>
        <p:nvSpPr>
          <p:cNvPr id="8" name="TextBox 7"/>
          <p:cNvSpPr txBox="1"/>
          <p:nvPr/>
        </p:nvSpPr>
        <p:spPr>
          <a:xfrm>
            <a:off x="877824" y="2359152"/>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PRIMARY PURPOSE</a:t>
            </a:r>
          </a:p>
          <a:p>
            <a:pPr algn="l">
              <a:lnSpc>
                <a:spcPct val="113000"/>
              </a:lnSpc>
              <a:spcBef>
                <a:spcPts val="0"/>
              </a:spcBef>
              <a:spcAft>
                <a:spcPts val="0"/>
              </a:spcAft>
            </a:pPr>
            <a:r>
              <a:rPr sz="1250" b="0" i="0">
                <a:solidFill>
                  <a:srgbClr val="35464F"/>
                </a:solidFill>
                <a:latin typeface="Aptos"/>
                <a:cs typeface="Aptos"/>
              </a:rPr>
              <a:t>Build multiple proof points and a repeatable post-SMFL investment record.</a:t>
            </a:r>
          </a:p>
        </p:txBody>
      </p:sp>
      <p:sp>
        <p:nvSpPr>
          <p:cNvPr id="9" name="TextBox 8"/>
          <p:cNvSpPr txBox="1"/>
          <p:nvPr/>
        </p:nvSpPr>
        <p:spPr>
          <a:xfrm>
            <a:off x="877824" y="3145536"/>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TYPICAL OPPORTUNITY</a:t>
            </a:r>
          </a:p>
          <a:p>
            <a:pPr algn="l">
              <a:lnSpc>
                <a:spcPct val="113000"/>
              </a:lnSpc>
              <a:spcBef>
                <a:spcPts val="0"/>
              </a:spcBef>
              <a:spcAft>
                <a:spcPts val="0"/>
              </a:spcAft>
            </a:pPr>
            <a:r>
              <a:rPr sz="1250" b="0" i="0">
                <a:solidFill>
                  <a:srgbClr val="35464F"/>
                </a:solidFill>
                <a:latin typeface="Aptos"/>
                <a:cs typeface="Aptos"/>
              </a:rPr>
              <a:t>Selected small and medium transactions across repeatable themes.</a:t>
            </a:r>
          </a:p>
        </p:txBody>
      </p:sp>
      <p:sp>
        <p:nvSpPr>
          <p:cNvPr id="10" name="TextBox 9"/>
          <p:cNvSpPr txBox="1"/>
          <p:nvPr/>
        </p:nvSpPr>
        <p:spPr>
          <a:xfrm>
            <a:off x="877824" y="3803904"/>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CAPITAL PROFILE</a:t>
            </a:r>
          </a:p>
          <a:p>
            <a:pPr algn="l">
              <a:lnSpc>
                <a:spcPct val="113000"/>
              </a:lnSpc>
              <a:spcBef>
                <a:spcPts val="0"/>
              </a:spcBef>
              <a:spcAft>
                <a:spcPts val="0"/>
              </a:spcAft>
            </a:pPr>
            <a:r>
              <a:rPr sz="1250" b="0" i="0">
                <a:solidFill>
                  <a:srgbClr val="35464F"/>
                </a:solidFill>
                <a:latin typeface="Aptos"/>
                <a:cs typeface="Aptos"/>
              </a:rPr>
              <a:t>Existing US$300 million support can be diversified across several investments.</a:t>
            </a:r>
          </a:p>
        </p:txBody>
      </p:sp>
      <p:sp>
        <p:nvSpPr>
          <p:cNvPr id="11" name="TextBox 10"/>
          <p:cNvSpPr txBox="1"/>
          <p:nvPr/>
        </p:nvSpPr>
        <p:spPr>
          <a:xfrm>
            <a:off x="877824" y="4425696"/>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RISK PROFILE</a:t>
            </a:r>
          </a:p>
          <a:p>
            <a:pPr algn="l">
              <a:lnSpc>
                <a:spcPct val="113000"/>
              </a:lnSpc>
              <a:spcBef>
                <a:spcPts val="0"/>
              </a:spcBef>
              <a:spcAft>
                <a:spcPts val="0"/>
              </a:spcAft>
            </a:pPr>
            <a:r>
              <a:rPr sz="1250" b="0" i="0">
                <a:solidFill>
                  <a:srgbClr val="35464F"/>
                </a:solidFill>
                <a:latin typeface="Aptos"/>
                <a:cs typeface="Aptos"/>
              </a:rPr>
              <a:t>More diversified, with lower single-asset concentration.</a:t>
            </a:r>
          </a:p>
        </p:txBody>
      </p:sp>
      <p:sp>
        <p:nvSpPr>
          <p:cNvPr id="12" name="TextBox 11"/>
          <p:cNvSpPr txBox="1"/>
          <p:nvPr/>
        </p:nvSpPr>
        <p:spPr>
          <a:xfrm>
            <a:off x="877824" y="5010912"/>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EXPECTED AUM EFFECT</a:t>
            </a:r>
          </a:p>
          <a:p>
            <a:pPr algn="l">
              <a:lnSpc>
                <a:spcPct val="113000"/>
              </a:lnSpc>
              <a:spcBef>
                <a:spcPts val="0"/>
              </a:spcBef>
              <a:spcAft>
                <a:spcPts val="0"/>
              </a:spcAft>
            </a:pPr>
            <a:r>
              <a:rPr sz="1250" b="0" i="0">
                <a:solidFill>
                  <a:srgbClr val="35464F"/>
                </a:solidFill>
                <a:latin typeface="Aptos"/>
                <a:cs typeface="Aptos"/>
              </a:rPr>
              <a:t>Gradual and potentially uneven.</a:t>
            </a:r>
          </a:p>
        </p:txBody>
      </p:sp>
      <p:sp>
        <p:nvSpPr>
          <p:cNvPr id="13" name="Rounded Rectangle 12"/>
          <p:cNvSpPr/>
          <p:nvPr/>
        </p:nvSpPr>
        <p:spPr>
          <a:xfrm>
            <a:off x="6245352" y="1408176"/>
            <a:ext cx="5303520" cy="4041648"/>
          </a:xfrm>
          <a:prstGeom prst="roundRect">
            <a:avLst>
              <a:gd name="adj" fmla="val 2036"/>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46520" y="1408176"/>
            <a:ext cx="4901184" cy="31750"/>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3096" y="1536192"/>
            <a:ext cx="4828032" cy="777240"/>
          </a:xfrm>
          <a:prstGeom prst="rect">
            <a:avLst/>
          </a:prstGeom>
          <a:noFill/>
        </p:spPr>
        <p:txBody>
          <a:bodyPr wrap="square" anchor="t" lIns="0" rIns="0" tIns="0" bIns="0">
            <a:spAutoFit/>
          </a:bodyPr>
          <a:lstStyle/>
          <a:p>
            <a:pPr algn="l">
              <a:lnSpc>
                <a:spcPct val="104000"/>
              </a:lnSpc>
              <a:spcBef>
                <a:spcPts val="0"/>
              </a:spcBef>
              <a:spcAft>
                <a:spcPts val="300"/>
              </a:spcAft>
            </a:pPr>
            <a:r>
              <a:rPr sz="1450" b="0" i="0">
                <a:solidFill>
                  <a:srgbClr val="002B5C"/>
                </a:solidFill>
                <a:latin typeface="Aptos Display"/>
                <a:cs typeface="Aptos Display"/>
              </a:rPr>
              <a:t>Pathway 2 — Institutional-Scale Opportunities</a:t>
            </a:r>
          </a:p>
          <a:p>
            <a:pPr algn="l">
              <a:spcBef>
                <a:spcPts val="0"/>
              </a:spcBef>
              <a:spcAft>
                <a:spcPts val="0"/>
              </a:spcAft>
            </a:pPr>
            <a:r>
              <a:rPr sz="900" b="1" i="0" spc="110">
                <a:solidFill>
                  <a:srgbClr val="4682B4"/>
                </a:solidFill>
                <a:latin typeface="Aptos"/>
                <a:cs typeface="Aptos"/>
              </a:rPr>
              <a:t>CASE-BY-CASE — CAN ACCELERATE SCALE</a:t>
            </a:r>
          </a:p>
        </p:txBody>
      </p:sp>
      <p:sp>
        <p:nvSpPr>
          <p:cNvPr id="16" name="TextBox 15"/>
          <p:cNvSpPr txBox="1"/>
          <p:nvPr/>
        </p:nvSpPr>
        <p:spPr>
          <a:xfrm>
            <a:off x="6483096" y="2359152"/>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PRIMARY PURPOSE</a:t>
            </a:r>
          </a:p>
          <a:p>
            <a:pPr algn="l">
              <a:lnSpc>
                <a:spcPct val="113000"/>
              </a:lnSpc>
              <a:spcBef>
                <a:spcPts val="0"/>
              </a:spcBef>
              <a:spcAft>
                <a:spcPts val="0"/>
              </a:spcAft>
            </a:pPr>
            <a:r>
              <a:rPr sz="1250" b="0" i="0">
                <a:solidFill>
                  <a:srgbClr val="35464F"/>
                </a:solidFill>
                <a:latin typeface="Aptos"/>
                <a:cs typeface="Aptos"/>
              </a:rPr>
              <a:t>Accelerate AUM, institutional relevance and market visibility — each opportunity presented to the Board for decision case-by-case.</a:t>
            </a:r>
          </a:p>
        </p:txBody>
      </p:sp>
      <p:sp>
        <p:nvSpPr>
          <p:cNvPr id="17" name="TextBox 16"/>
          <p:cNvSpPr txBox="1"/>
          <p:nvPr/>
        </p:nvSpPr>
        <p:spPr>
          <a:xfrm>
            <a:off x="6483096" y="3145536"/>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TYPICAL OPPORTUNITY</a:t>
            </a:r>
          </a:p>
          <a:p>
            <a:pPr algn="l">
              <a:lnSpc>
                <a:spcPct val="113000"/>
              </a:lnSpc>
              <a:spcBef>
                <a:spcPts val="0"/>
              </a:spcBef>
              <a:spcAft>
                <a:spcPts val="0"/>
              </a:spcAft>
            </a:pPr>
            <a:r>
              <a:rPr sz="1250" b="0" i="0">
                <a:solidFill>
                  <a:srgbClr val="35464F"/>
                </a:solidFill>
                <a:latin typeface="Aptos"/>
                <a:cs typeface="Aptos"/>
              </a:rPr>
              <a:t>Selected large transactions capable of creating meaningful scale.</a:t>
            </a:r>
          </a:p>
        </p:txBody>
      </p:sp>
      <p:sp>
        <p:nvSpPr>
          <p:cNvPr id="18" name="TextBox 17"/>
          <p:cNvSpPr txBox="1"/>
          <p:nvPr/>
        </p:nvSpPr>
        <p:spPr>
          <a:xfrm>
            <a:off x="6483096" y="3803904"/>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CAPITAL PROFILE</a:t>
            </a:r>
          </a:p>
          <a:p>
            <a:pPr algn="l">
              <a:lnSpc>
                <a:spcPct val="113000"/>
              </a:lnSpc>
              <a:spcBef>
                <a:spcPts val="0"/>
              </a:spcBef>
              <a:spcAft>
                <a:spcPts val="0"/>
              </a:spcAft>
            </a:pPr>
            <a:r>
              <a:rPr sz="1250" b="0" i="0">
                <a:solidFill>
                  <a:srgbClr val="35464F"/>
                </a:solidFill>
                <a:latin typeface="Aptos"/>
                <a:cs typeface="Aptos"/>
              </a:rPr>
              <a:t>May require materially greater transaction-specific capital.</a:t>
            </a:r>
          </a:p>
        </p:txBody>
      </p:sp>
      <p:sp>
        <p:nvSpPr>
          <p:cNvPr id="19" name="TextBox 18"/>
          <p:cNvSpPr txBox="1"/>
          <p:nvPr/>
        </p:nvSpPr>
        <p:spPr>
          <a:xfrm>
            <a:off x="6483096" y="4425696"/>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RISK PROFILE</a:t>
            </a:r>
          </a:p>
          <a:p>
            <a:pPr algn="l">
              <a:lnSpc>
                <a:spcPct val="113000"/>
              </a:lnSpc>
              <a:spcBef>
                <a:spcPts val="0"/>
              </a:spcBef>
              <a:spcAft>
                <a:spcPts val="0"/>
              </a:spcAft>
            </a:pPr>
            <a:r>
              <a:rPr sz="1250" b="0" i="0">
                <a:solidFill>
                  <a:srgbClr val="35464F"/>
                </a:solidFill>
                <a:latin typeface="Aptos"/>
                <a:cs typeface="Aptos"/>
              </a:rPr>
              <a:t>Higher single-asset concentration and liquidity exposure.</a:t>
            </a:r>
          </a:p>
        </p:txBody>
      </p:sp>
      <p:sp>
        <p:nvSpPr>
          <p:cNvPr id="20" name="TextBox 19"/>
          <p:cNvSpPr txBox="1"/>
          <p:nvPr/>
        </p:nvSpPr>
        <p:spPr>
          <a:xfrm>
            <a:off x="6483096" y="5010912"/>
            <a:ext cx="4828032" cy="77724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EXPECTED AUM EFFECT</a:t>
            </a:r>
          </a:p>
          <a:p>
            <a:pPr algn="l">
              <a:lnSpc>
                <a:spcPct val="113000"/>
              </a:lnSpc>
              <a:spcBef>
                <a:spcPts val="0"/>
              </a:spcBef>
              <a:spcAft>
                <a:spcPts val="0"/>
              </a:spcAft>
            </a:pPr>
            <a:r>
              <a:rPr sz="1250" b="0" i="0">
                <a:solidFill>
                  <a:srgbClr val="35464F"/>
                </a:solidFill>
                <a:latin typeface="Aptos"/>
                <a:cs typeface="Aptos"/>
              </a:rPr>
              <a:t>Potential step-change growth.</a:t>
            </a:r>
          </a:p>
        </p:txBody>
      </p:sp>
      <p:sp>
        <p:nvSpPr>
          <p:cNvPr id="21" name="Rounded Rectangle 20"/>
          <p:cNvSpPr/>
          <p:nvPr/>
        </p:nvSpPr>
        <p:spPr>
          <a:xfrm>
            <a:off x="640080" y="5614416"/>
            <a:ext cx="10908792" cy="530352"/>
          </a:xfrm>
          <a:prstGeom prst="roundRect">
            <a:avLst>
              <a:gd name="adj" fmla="val 15517"/>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614416"/>
            <a:ext cx="10396728" cy="530352"/>
          </a:xfrm>
          <a:prstGeom prst="rect">
            <a:avLst/>
          </a:prstGeom>
          <a:noFill/>
        </p:spPr>
        <p:txBody>
          <a:bodyPr wrap="square" anchor="ctr" lIns="0" rIns="0" tIns="0" bIns="0">
            <a:spAutoFit/>
          </a:bodyPr>
          <a:lstStyle/>
          <a:p>
            <a:pPr>
              <a:spcAft>
                <a:spcPts val="0"/>
              </a:spcAft>
            </a:pPr>
            <a:r>
              <a:rPr sz="1000" b="1" i="0" spc="140">
                <a:solidFill>
                  <a:srgbClr val="D5DDE6"/>
                </a:solidFill>
                <a:latin typeface="Aptos"/>
                <a:cs typeface="Aptos"/>
              </a:rPr>
              <a:t>RUN IN PARALLEL   </a:t>
            </a:r>
            <a:r>
              <a:rPr sz="1300" b="1" i="0">
                <a:solidFill>
                  <a:srgbClr val="8FC6C6"/>
                </a:solidFill>
                <a:latin typeface="Aptos"/>
                <a:cs typeface="Aptos"/>
              </a:rPr>
              <a:t>Pathway 1 builds the record</a:t>
            </a:r>
            <a:r>
              <a:rPr sz="1300" b="0" i="0">
                <a:solidFill>
                  <a:srgbClr val="D5DDE6"/>
                </a:solidFill>
                <a:latin typeface="Aptos"/>
                <a:cs typeface="Aptos"/>
              </a:rPr>
              <a:t>;  </a:t>
            </a:r>
            <a:r>
              <a:rPr sz="1300" b="1" i="0">
                <a:solidFill>
                  <a:srgbClr val="A9C6E2"/>
                </a:solidFill>
                <a:latin typeface="Aptos"/>
                <a:cs typeface="Aptos"/>
              </a:rPr>
              <a:t>Pathway 2 can accelerate scale</a:t>
            </a:r>
            <a:r>
              <a:rPr sz="1300" b="0" i="0">
                <a:solidFill>
                  <a:srgbClr val="D5DDE6"/>
                </a:solidFill>
                <a:latin typeface="Aptos"/>
                <a:cs typeface="Aptos"/>
              </a:rPr>
              <a:t>.</a:t>
            </a:r>
          </a:p>
        </p:txBody>
      </p:sp>
      <p:sp>
        <p:nvSpPr>
          <p:cNvPr id="23" name="TextBox 22"/>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4" name="TextBox 23"/>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8</a:t>
            </a:r>
          </a:p>
        </p:txBody>
      </p:sp>
      <p:pic>
        <p:nvPicPr>
          <p:cNvPr id="25" name="Picture 24"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008080"/>
                </a:solidFill>
                <a:latin typeface="Aptos"/>
                <a:cs typeface="Aptos"/>
              </a:rPr>
              <a:t>07 · Pathway 1 · Diversified Track Record Building</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Use the existing US$300 million support across selected small and medium transactions to build multiple proof points and diversify risk.</a:t>
            </a:r>
          </a:p>
        </p:txBody>
      </p:sp>
      <p:sp>
        <p:nvSpPr>
          <p:cNvPr id="5" name="TextBox 4"/>
          <p:cNvSpPr txBox="1"/>
          <p:nvPr/>
        </p:nvSpPr>
        <p:spPr>
          <a:xfrm>
            <a:off x="640080" y="1737360"/>
            <a:ext cx="10908792" cy="548640"/>
          </a:xfrm>
          <a:prstGeom prst="rect">
            <a:avLst/>
          </a:prstGeom>
          <a:noFill/>
        </p:spPr>
        <p:txBody>
          <a:bodyPr wrap="square" anchor="t" lIns="0" rIns="0" tIns="0" bIns="0">
            <a:spAutoFit/>
          </a:bodyPr>
          <a:lstStyle/>
          <a:p>
            <a:pPr algn="l">
              <a:lnSpc>
                <a:spcPct val="124000"/>
              </a:lnSpc>
              <a:spcBef>
                <a:spcPts val="0"/>
              </a:spcBef>
              <a:spcAft>
                <a:spcPts val="0"/>
              </a:spcAft>
            </a:pPr>
            <a:r>
              <a:rPr sz="1250" b="0" i="0">
                <a:solidFill>
                  <a:srgbClr val="35464F"/>
                </a:solidFill>
                <a:latin typeface="Aptos"/>
                <a:cs typeface="Aptos"/>
              </a:rPr>
              <a:t>The primary objective is to establish a diversified body of post-SMFL investment evidence. Capital recycling remains important because the sponsor capital is finite, but the immediate priority is to create the investment record from which longer-term capital efficiency can develop.</a:t>
            </a:r>
          </a:p>
        </p:txBody>
      </p:sp>
      <p:sp>
        <p:nvSpPr>
          <p:cNvPr id="6" name="Rounded Rectangle 5"/>
          <p:cNvSpPr/>
          <p:nvPr/>
        </p:nvSpPr>
        <p:spPr>
          <a:xfrm>
            <a:off x="640080" y="2651760"/>
            <a:ext cx="1938528" cy="1298448"/>
          </a:xfrm>
          <a:prstGeom prst="roundRect">
            <a:avLst>
              <a:gd name="adj" fmla="val 6338"/>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78892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008080"/>
                </a:solidFill>
                <a:latin typeface="Aptos"/>
                <a:cs typeface="Aptos"/>
              </a:rPr>
              <a:t>01</a:t>
            </a:r>
          </a:p>
          <a:p>
            <a:pPr algn="l">
              <a:lnSpc>
                <a:spcPct val="108000"/>
              </a:lnSpc>
              <a:spcBef>
                <a:spcPts val="0"/>
              </a:spcBef>
              <a:spcAft>
                <a:spcPts val="0"/>
              </a:spcAft>
            </a:pPr>
            <a:r>
              <a:rPr sz="1300" b="0" i="0">
                <a:solidFill>
                  <a:srgbClr val="002B5C"/>
                </a:solidFill>
                <a:latin typeface="Aptos Display"/>
                <a:cs typeface="Aptos Display"/>
              </a:rPr>
              <a:t>Execute several investments</a:t>
            </a:r>
          </a:p>
        </p:txBody>
      </p:sp>
      <p:sp>
        <p:nvSpPr>
          <p:cNvPr id="8" name="TextBox 7"/>
          <p:cNvSpPr txBox="1"/>
          <p:nvPr/>
        </p:nvSpPr>
        <p:spPr>
          <a:xfrm>
            <a:off x="2578608" y="3108960"/>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9" name="Rounded Rectangle 8"/>
          <p:cNvSpPr/>
          <p:nvPr/>
        </p:nvSpPr>
        <p:spPr>
          <a:xfrm>
            <a:off x="2882646" y="2651760"/>
            <a:ext cx="1938528" cy="1298448"/>
          </a:xfrm>
          <a:prstGeom prst="roundRect">
            <a:avLst>
              <a:gd name="adj" fmla="val 6338"/>
            </a:avLst>
          </a:prstGeom>
          <a:solidFill>
            <a:srgbClr val="EDF6F6"/>
          </a:solidFill>
          <a:ln w="9525">
            <a:solidFill>
              <a:srgbClr val="99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8950" y="278892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008080"/>
                </a:solidFill>
                <a:latin typeface="Aptos"/>
                <a:cs typeface="Aptos"/>
              </a:rPr>
              <a:t>02</a:t>
            </a:r>
          </a:p>
          <a:p>
            <a:pPr algn="l">
              <a:lnSpc>
                <a:spcPct val="108000"/>
              </a:lnSpc>
              <a:spcBef>
                <a:spcPts val="0"/>
              </a:spcBef>
              <a:spcAft>
                <a:spcPts val="0"/>
              </a:spcAft>
            </a:pPr>
            <a:r>
              <a:rPr sz="1300" b="0" i="0">
                <a:solidFill>
                  <a:srgbClr val="002B5C"/>
                </a:solidFill>
                <a:latin typeface="Aptos Display"/>
                <a:cs typeface="Aptos Display"/>
              </a:rPr>
              <a:t>Build diversified proof</a:t>
            </a:r>
          </a:p>
        </p:txBody>
      </p:sp>
      <p:sp>
        <p:nvSpPr>
          <p:cNvPr id="11" name="TextBox 10"/>
          <p:cNvSpPr txBox="1"/>
          <p:nvPr/>
        </p:nvSpPr>
        <p:spPr>
          <a:xfrm>
            <a:off x="4821174" y="3108960"/>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2" name="Rounded Rectangle 11"/>
          <p:cNvSpPr/>
          <p:nvPr/>
        </p:nvSpPr>
        <p:spPr>
          <a:xfrm>
            <a:off x="5125212" y="2651760"/>
            <a:ext cx="1938528" cy="1298448"/>
          </a:xfrm>
          <a:prstGeom prst="roundRect">
            <a:avLst>
              <a:gd name="adj" fmla="val 6338"/>
            </a:avLst>
          </a:prstGeom>
          <a:solidFill>
            <a:srgbClr val="EDF6F6"/>
          </a:solidFill>
          <a:ln w="9525">
            <a:solidFill>
              <a:srgbClr val="99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1516" y="278892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008080"/>
                </a:solidFill>
                <a:latin typeface="Aptos"/>
                <a:cs typeface="Aptos"/>
              </a:rPr>
              <a:t>03</a:t>
            </a:r>
          </a:p>
          <a:p>
            <a:pPr algn="l">
              <a:lnSpc>
                <a:spcPct val="108000"/>
              </a:lnSpc>
              <a:spcBef>
                <a:spcPts val="0"/>
              </a:spcBef>
              <a:spcAft>
                <a:spcPts val="0"/>
              </a:spcAft>
            </a:pPr>
            <a:r>
              <a:rPr sz="1300" b="0" i="0">
                <a:solidFill>
                  <a:srgbClr val="002B5C"/>
                </a:solidFill>
                <a:latin typeface="Aptos Display"/>
                <a:cs typeface="Aptos Display"/>
              </a:rPr>
              <a:t>Create and realise value</a:t>
            </a:r>
          </a:p>
        </p:txBody>
      </p:sp>
      <p:sp>
        <p:nvSpPr>
          <p:cNvPr id="14" name="TextBox 13"/>
          <p:cNvSpPr txBox="1"/>
          <p:nvPr/>
        </p:nvSpPr>
        <p:spPr>
          <a:xfrm>
            <a:off x="7063740" y="3108960"/>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5" name="Rounded Rectangle 14"/>
          <p:cNvSpPr/>
          <p:nvPr/>
        </p:nvSpPr>
        <p:spPr>
          <a:xfrm>
            <a:off x="7367778" y="2651760"/>
            <a:ext cx="1938528" cy="1298448"/>
          </a:xfrm>
          <a:prstGeom prst="roundRect">
            <a:avLst>
              <a:gd name="adj" fmla="val 6338"/>
            </a:avLst>
          </a:prstGeom>
          <a:solidFill>
            <a:srgbClr val="EDF6F6"/>
          </a:solidFill>
          <a:ln w="9525">
            <a:solidFill>
              <a:srgbClr val="99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4082" y="278892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008080"/>
                </a:solidFill>
                <a:latin typeface="Aptos"/>
                <a:cs typeface="Aptos"/>
              </a:rPr>
              <a:t>04</a:t>
            </a:r>
          </a:p>
          <a:p>
            <a:pPr algn="l">
              <a:lnSpc>
                <a:spcPct val="108000"/>
              </a:lnSpc>
              <a:spcBef>
                <a:spcPts val="0"/>
              </a:spcBef>
              <a:spcAft>
                <a:spcPts val="0"/>
              </a:spcAft>
            </a:pPr>
            <a:r>
              <a:rPr sz="1300" b="0" i="0">
                <a:solidFill>
                  <a:srgbClr val="002B5C"/>
                </a:solidFill>
                <a:latin typeface="Aptos Display"/>
                <a:cs typeface="Aptos Display"/>
              </a:rPr>
              <a:t>Recycle at asset or portfolio level</a:t>
            </a:r>
          </a:p>
        </p:txBody>
      </p:sp>
      <p:sp>
        <p:nvSpPr>
          <p:cNvPr id="17" name="TextBox 16"/>
          <p:cNvSpPr txBox="1"/>
          <p:nvPr/>
        </p:nvSpPr>
        <p:spPr>
          <a:xfrm>
            <a:off x="9306306" y="3108960"/>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8" name="Rounded Rectangle 17"/>
          <p:cNvSpPr/>
          <p:nvPr/>
        </p:nvSpPr>
        <p:spPr>
          <a:xfrm>
            <a:off x="9610344" y="2651760"/>
            <a:ext cx="1938528" cy="1298448"/>
          </a:xfrm>
          <a:prstGeom prst="roundRect">
            <a:avLst>
              <a:gd name="adj" fmla="val 6338"/>
            </a:avLst>
          </a:prstGeom>
          <a:solidFill>
            <a:srgbClr val="EDF6F6"/>
          </a:solidFill>
          <a:ln w="9525">
            <a:solidFill>
              <a:srgbClr val="99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56648" y="278892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008080"/>
                </a:solidFill>
                <a:latin typeface="Aptos"/>
                <a:cs typeface="Aptos"/>
              </a:rPr>
              <a:t>05</a:t>
            </a:r>
          </a:p>
          <a:p>
            <a:pPr algn="l">
              <a:lnSpc>
                <a:spcPct val="108000"/>
              </a:lnSpc>
              <a:spcBef>
                <a:spcPts val="0"/>
              </a:spcBef>
              <a:spcAft>
                <a:spcPts val="0"/>
              </a:spcAft>
            </a:pPr>
            <a:r>
              <a:rPr sz="1300" b="0" i="0">
                <a:solidFill>
                  <a:srgbClr val="002B5C"/>
                </a:solidFill>
                <a:latin typeface="Aptos Display"/>
                <a:cs typeface="Aptos Display"/>
              </a:rPr>
              <a:t>Redeploy and repeat</a:t>
            </a:r>
          </a:p>
        </p:txBody>
      </p:sp>
      <p:sp>
        <p:nvSpPr>
          <p:cNvPr id="20" name="TextBox 19"/>
          <p:cNvSpPr txBox="1"/>
          <p:nvPr/>
        </p:nvSpPr>
        <p:spPr>
          <a:xfrm>
            <a:off x="640080" y="4434840"/>
            <a:ext cx="10908792" cy="548640"/>
          </a:xfrm>
          <a:prstGeom prst="rect">
            <a:avLst/>
          </a:prstGeom>
          <a:noFill/>
        </p:spPr>
        <p:txBody>
          <a:bodyPr wrap="square" anchor="t" lIns="0" rIns="0" tIns="0" bIns="0">
            <a:spAutoFit/>
          </a:bodyPr>
          <a:lstStyle/>
          <a:p>
            <a:pPr algn="l">
              <a:lnSpc>
                <a:spcPct val="124000"/>
              </a:lnSpc>
              <a:spcBef>
                <a:spcPts val="0"/>
              </a:spcBef>
              <a:spcAft>
                <a:spcPts val="0"/>
              </a:spcAft>
            </a:pPr>
            <a:r>
              <a:rPr sz="1250" b="0" i="0">
                <a:solidFill>
                  <a:srgbClr val="35464F"/>
                </a:solidFill>
                <a:latin typeface="Aptos"/>
                <a:cs typeface="Aptos"/>
              </a:rPr>
              <a:t>For each investment, capital may be recycled at the individual asset level or after aggregation into a larger portfolio — the two routes compared on the next page.</a:t>
            </a:r>
          </a:p>
        </p:txBody>
      </p:sp>
      <p:sp>
        <p:nvSpPr>
          <p:cNvPr id="21" name="Rounded Rectangle 20"/>
          <p:cNvSpPr/>
          <p:nvPr/>
        </p:nvSpPr>
        <p:spPr>
          <a:xfrm>
            <a:off x="640080" y="5230368"/>
            <a:ext cx="1090879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230368"/>
            <a:ext cx="1039672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Finite capital, compounding proof.  </a:t>
            </a:r>
            <a:r>
              <a:rPr sz="1300" b="0" i="0">
                <a:solidFill>
                  <a:srgbClr val="D5DDE6"/>
                </a:solidFill>
                <a:latin typeface="Aptos"/>
                <a:cs typeface="Aptos"/>
              </a:rPr>
              <a:t>Several diversified investments convert one pool of sponsor support into a repeatable record.</a:t>
            </a:r>
          </a:p>
        </p:txBody>
      </p:sp>
      <p:sp>
        <p:nvSpPr>
          <p:cNvPr id="23" name="TextBox 22"/>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4" name="TextBox 23"/>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9</a:t>
            </a:r>
          </a:p>
        </p:txBody>
      </p:sp>
      <p:pic>
        <p:nvPicPr>
          <p:cNvPr id="25" name="Picture 24"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008080"/>
                </a:solidFill>
                <a:latin typeface="Aptos"/>
                <a:cs typeface="Aptos"/>
              </a:rPr>
              <a:t>08 · Pathway 1 · Two routes to capital recycling</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Asset-level recycling releases capital earlier; portfolio aggregation builds institutional scale.</a:t>
            </a:r>
          </a:p>
        </p:txBody>
      </p:sp>
      <p:sp>
        <p:nvSpPr>
          <p:cNvPr id="5" name="TextBox 4"/>
          <p:cNvSpPr txBox="1"/>
          <p:nvPr/>
        </p:nvSpPr>
        <p:spPr>
          <a:xfrm>
            <a:off x="3108960" y="1499616"/>
            <a:ext cx="4069080" cy="274320"/>
          </a:xfrm>
          <a:prstGeom prst="rect">
            <a:avLst/>
          </a:prstGeom>
          <a:noFill/>
        </p:spPr>
        <p:txBody>
          <a:bodyPr wrap="square" anchor="t" lIns="0" rIns="0" tIns="0" bIns="0">
            <a:spAutoFit/>
          </a:bodyPr>
          <a:lstStyle/>
          <a:p>
            <a:pPr algn="l">
              <a:spcBef>
                <a:spcPts val="0"/>
              </a:spcBef>
              <a:spcAft>
                <a:spcPts val="0"/>
              </a:spcAft>
            </a:pPr>
            <a:r>
              <a:rPr sz="950" b="1" i="0" spc="90">
                <a:solidFill>
                  <a:srgbClr val="35464F"/>
                </a:solidFill>
                <a:latin typeface="Aptos"/>
                <a:cs typeface="Aptos"/>
              </a:rPr>
              <a:t>ASSET-LEVEL RECYCLING</a:t>
            </a:r>
          </a:p>
        </p:txBody>
      </p:sp>
      <p:sp>
        <p:nvSpPr>
          <p:cNvPr id="6" name="TextBox 5"/>
          <p:cNvSpPr txBox="1"/>
          <p:nvPr/>
        </p:nvSpPr>
        <p:spPr>
          <a:xfrm>
            <a:off x="7406640" y="1499616"/>
            <a:ext cx="4023360" cy="274320"/>
          </a:xfrm>
          <a:prstGeom prst="rect">
            <a:avLst/>
          </a:prstGeom>
          <a:noFill/>
        </p:spPr>
        <p:txBody>
          <a:bodyPr wrap="square" anchor="t" lIns="0" rIns="0" tIns="0" bIns="0">
            <a:spAutoFit/>
          </a:bodyPr>
          <a:lstStyle/>
          <a:p>
            <a:pPr algn="l">
              <a:spcBef>
                <a:spcPts val="0"/>
              </a:spcBef>
              <a:spcAft>
                <a:spcPts val="0"/>
              </a:spcAft>
            </a:pPr>
            <a:r>
              <a:rPr sz="950" b="1" i="0" spc="90">
                <a:solidFill>
                  <a:srgbClr val="35464F"/>
                </a:solidFill>
                <a:latin typeface="Aptos"/>
                <a:cs typeface="Aptos"/>
              </a:rPr>
              <a:t>PORTFOLIO-LEVEL RECYCLING THROUGH AGGREGATION</a:t>
            </a:r>
          </a:p>
        </p:txBody>
      </p:sp>
      <p:sp>
        <p:nvSpPr>
          <p:cNvPr id="7" name="Rectangle 6"/>
          <p:cNvSpPr/>
          <p:nvPr/>
        </p:nvSpPr>
        <p:spPr>
          <a:xfrm>
            <a:off x="640080" y="1792224"/>
            <a:ext cx="10908792" cy="1905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975104"/>
            <a:ext cx="38100" cy="4389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975104"/>
            <a:ext cx="2011680" cy="566928"/>
          </a:xfrm>
          <a:prstGeom prst="rect">
            <a:avLst/>
          </a:prstGeom>
          <a:noFill/>
        </p:spPr>
        <p:txBody>
          <a:bodyPr wrap="square" anchor="t" lIns="0" rIns="0" tIns="0" bIns="0">
            <a:spAutoFit/>
          </a:bodyPr>
          <a:lstStyle/>
          <a:p>
            <a:pPr algn="l">
              <a:lnSpc>
                <a:spcPct val="110000"/>
              </a:lnSpc>
              <a:spcBef>
                <a:spcPts val="0"/>
              </a:spcBef>
              <a:spcAft>
                <a:spcPts val="0"/>
              </a:spcAft>
            </a:pPr>
            <a:r>
              <a:rPr sz="900" b="1" i="0" spc="70">
                <a:solidFill>
                  <a:srgbClr val="35464F"/>
                </a:solidFill>
                <a:latin typeface="Aptos"/>
                <a:cs typeface="Aptos"/>
              </a:rPr>
              <a:t>APPROACH</a:t>
            </a:r>
          </a:p>
        </p:txBody>
      </p:sp>
      <p:sp>
        <p:nvSpPr>
          <p:cNvPr id="10" name="TextBox 9"/>
          <p:cNvSpPr txBox="1"/>
          <p:nvPr/>
        </p:nvSpPr>
        <p:spPr>
          <a:xfrm>
            <a:off x="3108960" y="1956816"/>
            <a:ext cx="406908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Sell, recapitalise or introduce third-party capital into an individual asset.</a:t>
            </a:r>
          </a:p>
        </p:txBody>
      </p:sp>
      <p:sp>
        <p:nvSpPr>
          <p:cNvPr id="11" name="TextBox 10"/>
          <p:cNvSpPr txBox="1"/>
          <p:nvPr/>
        </p:nvSpPr>
        <p:spPr>
          <a:xfrm>
            <a:off x="7406640" y="1956816"/>
            <a:ext cx="402336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Combine related assets into a coherent portfolio before introducing third-party capital.</a:t>
            </a:r>
          </a:p>
        </p:txBody>
      </p:sp>
      <p:sp>
        <p:nvSpPr>
          <p:cNvPr id="12" name="Rectangle 11"/>
          <p:cNvSpPr/>
          <p:nvPr/>
        </p:nvSpPr>
        <p:spPr>
          <a:xfrm>
            <a:off x="640080" y="2505456"/>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596896"/>
            <a:ext cx="38100" cy="4389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596896"/>
            <a:ext cx="2011680" cy="566928"/>
          </a:xfrm>
          <a:prstGeom prst="rect">
            <a:avLst/>
          </a:prstGeom>
          <a:noFill/>
        </p:spPr>
        <p:txBody>
          <a:bodyPr wrap="square" anchor="t" lIns="0" rIns="0" tIns="0" bIns="0">
            <a:spAutoFit/>
          </a:bodyPr>
          <a:lstStyle/>
          <a:p>
            <a:pPr algn="l">
              <a:lnSpc>
                <a:spcPct val="110000"/>
              </a:lnSpc>
              <a:spcBef>
                <a:spcPts val="0"/>
              </a:spcBef>
              <a:spcAft>
                <a:spcPts val="0"/>
              </a:spcAft>
            </a:pPr>
            <a:r>
              <a:rPr sz="900" b="1" i="0" spc="70">
                <a:solidFill>
                  <a:srgbClr val="35464F"/>
                </a:solidFill>
                <a:latin typeface="Aptos"/>
                <a:cs typeface="Aptos"/>
              </a:rPr>
              <a:t>TIMING</a:t>
            </a:r>
          </a:p>
        </p:txBody>
      </p:sp>
      <p:sp>
        <p:nvSpPr>
          <p:cNvPr id="15" name="TextBox 14"/>
          <p:cNvSpPr txBox="1"/>
          <p:nvPr/>
        </p:nvSpPr>
        <p:spPr>
          <a:xfrm>
            <a:off x="3108960" y="2578608"/>
            <a:ext cx="406908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Potentially earlier where there is sufficient demand for the individual asset.</a:t>
            </a:r>
          </a:p>
        </p:txBody>
      </p:sp>
      <p:sp>
        <p:nvSpPr>
          <p:cNvPr id="16" name="TextBox 15"/>
          <p:cNvSpPr txBox="1"/>
          <p:nvPr/>
        </p:nvSpPr>
        <p:spPr>
          <a:xfrm>
            <a:off x="7406640" y="2578608"/>
            <a:ext cx="402336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Usually requires more time to assemble sufficient scale.</a:t>
            </a:r>
          </a:p>
        </p:txBody>
      </p:sp>
      <p:sp>
        <p:nvSpPr>
          <p:cNvPr id="17" name="Rectangle 16"/>
          <p:cNvSpPr/>
          <p:nvPr/>
        </p:nvSpPr>
        <p:spPr>
          <a:xfrm>
            <a:off x="640080" y="3127248"/>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218688"/>
            <a:ext cx="38100" cy="4389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18688"/>
            <a:ext cx="2011680" cy="566928"/>
          </a:xfrm>
          <a:prstGeom prst="rect">
            <a:avLst/>
          </a:prstGeom>
          <a:noFill/>
        </p:spPr>
        <p:txBody>
          <a:bodyPr wrap="square" anchor="t" lIns="0" rIns="0" tIns="0" bIns="0">
            <a:spAutoFit/>
          </a:bodyPr>
          <a:lstStyle/>
          <a:p>
            <a:pPr algn="l">
              <a:lnSpc>
                <a:spcPct val="110000"/>
              </a:lnSpc>
              <a:spcBef>
                <a:spcPts val="0"/>
              </a:spcBef>
              <a:spcAft>
                <a:spcPts val="0"/>
              </a:spcAft>
            </a:pPr>
            <a:r>
              <a:rPr sz="900" b="1" i="0" spc="70">
                <a:solidFill>
                  <a:srgbClr val="35464F"/>
                </a:solidFill>
                <a:latin typeface="Aptos"/>
                <a:cs typeface="Aptos"/>
              </a:rPr>
              <a:t>INVESTOR RELEVANCE</a:t>
            </a:r>
          </a:p>
        </p:txBody>
      </p:sp>
      <p:sp>
        <p:nvSpPr>
          <p:cNvPr id="20" name="TextBox 19"/>
          <p:cNvSpPr txBox="1"/>
          <p:nvPr/>
        </p:nvSpPr>
        <p:spPr>
          <a:xfrm>
            <a:off x="3108960" y="3200400"/>
            <a:ext cx="406908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The individual ticket may be too small for larger institutions.</a:t>
            </a:r>
          </a:p>
        </p:txBody>
      </p:sp>
      <p:sp>
        <p:nvSpPr>
          <p:cNvPr id="21" name="TextBox 20"/>
          <p:cNvSpPr txBox="1"/>
          <p:nvPr/>
        </p:nvSpPr>
        <p:spPr>
          <a:xfrm>
            <a:off x="7406640" y="3200400"/>
            <a:ext cx="402336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The portfolio can provide a more meaningful ticket and greater diversification.</a:t>
            </a:r>
          </a:p>
        </p:txBody>
      </p:sp>
      <p:sp>
        <p:nvSpPr>
          <p:cNvPr id="22" name="Rectangle 21"/>
          <p:cNvSpPr/>
          <p:nvPr/>
        </p:nvSpPr>
        <p:spPr>
          <a:xfrm>
            <a:off x="640080" y="3749040"/>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3840480"/>
            <a:ext cx="38100" cy="4389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3840480"/>
            <a:ext cx="2011680" cy="566928"/>
          </a:xfrm>
          <a:prstGeom prst="rect">
            <a:avLst/>
          </a:prstGeom>
          <a:noFill/>
        </p:spPr>
        <p:txBody>
          <a:bodyPr wrap="square" anchor="t" lIns="0" rIns="0" tIns="0" bIns="0">
            <a:spAutoFit/>
          </a:bodyPr>
          <a:lstStyle/>
          <a:p>
            <a:pPr algn="l">
              <a:lnSpc>
                <a:spcPct val="110000"/>
              </a:lnSpc>
              <a:spcBef>
                <a:spcPts val="0"/>
              </a:spcBef>
              <a:spcAft>
                <a:spcPts val="0"/>
              </a:spcAft>
            </a:pPr>
            <a:r>
              <a:rPr sz="900" b="1" i="0" spc="70">
                <a:solidFill>
                  <a:srgbClr val="35464F"/>
                </a:solidFill>
                <a:latin typeface="Aptos"/>
                <a:cs typeface="Aptos"/>
              </a:rPr>
              <a:t>STRATEGIC BENEFIT</a:t>
            </a:r>
          </a:p>
        </p:txBody>
      </p:sp>
      <p:sp>
        <p:nvSpPr>
          <p:cNvPr id="25" name="TextBox 24"/>
          <p:cNvSpPr txBox="1"/>
          <p:nvPr/>
        </p:nvSpPr>
        <p:spPr>
          <a:xfrm>
            <a:off x="3108960" y="3822192"/>
            <a:ext cx="406908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Releases capital earlier and creates a realised proof point.</a:t>
            </a:r>
          </a:p>
        </p:txBody>
      </p:sp>
      <p:sp>
        <p:nvSpPr>
          <p:cNvPr id="26" name="TextBox 25"/>
          <p:cNvSpPr txBox="1"/>
          <p:nvPr/>
        </p:nvSpPr>
        <p:spPr>
          <a:xfrm>
            <a:off x="7406640" y="3822192"/>
            <a:ext cx="402336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Creates a scalable strategy or platform, rather than a single investment.</a:t>
            </a:r>
          </a:p>
        </p:txBody>
      </p:sp>
      <p:sp>
        <p:nvSpPr>
          <p:cNvPr id="27" name="Rectangle 26"/>
          <p:cNvSpPr/>
          <p:nvPr/>
        </p:nvSpPr>
        <p:spPr>
          <a:xfrm>
            <a:off x="640080" y="4370832"/>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4462272"/>
            <a:ext cx="38100" cy="4389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462272"/>
            <a:ext cx="2011680" cy="566928"/>
          </a:xfrm>
          <a:prstGeom prst="rect">
            <a:avLst/>
          </a:prstGeom>
          <a:noFill/>
        </p:spPr>
        <p:txBody>
          <a:bodyPr wrap="square" anchor="t" lIns="0" rIns="0" tIns="0" bIns="0">
            <a:spAutoFit/>
          </a:bodyPr>
          <a:lstStyle/>
          <a:p>
            <a:pPr algn="l">
              <a:lnSpc>
                <a:spcPct val="110000"/>
              </a:lnSpc>
              <a:spcBef>
                <a:spcPts val="0"/>
              </a:spcBef>
              <a:spcAft>
                <a:spcPts val="0"/>
              </a:spcAft>
            </a:pPr>
            <a:r>
              <a:rPr sz="900" b="1" i="0" spc="70">
                <a:solidFill>
                  <a:srgbClr val="35464F"/>
                </a:solidFill>
                <a:latin typeface="Aptos"/>
                <a:cs typeface="Aptos"/>
              </a:rPr>
              <a:t>SPONSOR CAPITAL DURATION</a:t>
            </a:r>
          </a:p>
        </p:txBody>
      </p:sp>
      <p:sp>
        <p:nvSpPr>
          <p:cNvPr id="30" name="TextBox 29"/>
          <p:cNvSpPr txBox="1"/>
          <p:nvPr/>
        </p:nvSpPr>
        <p:spPr>
          <a:xfrm>
            <a:off x="3108960" y="4443984"/>
            <a:ext cx="406908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Potentially shorter.</a:t>
            </a:r>
          </a:p>
        </p:txBody>
      </p:sp>
      <p:sp>
        <p:nvSpPr>
          <p:cNvPr id="31" name="TextBox 30"/>
          <p:cNvSpPr txBox="1"/>
          <p:nvPr/>
        </p:nvSpPr>
        <p:spPr>
          <a:xfrm>
            <a:off x="7406640" y="4443984"/>
            <a:ext cx="402336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Potentially longer while the portfolio is assembled.</a:t>
            </a:r>
          </a:p>
        </p:txBody>
      </p:sp>
      <p:sp>
        <p:nvSpPr>
          <p:cNvPr id="32" name="Rectangle 31"/>
          <p:cNvSpPr/>
          <p:nvPr/>
        </p:nvSpPr>
        <p:spPr>
          <a:xfrm>
            <a:off x="640080" y="4992624"/>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 y="5084064"/>
            <a:ext cx="38100" cy="4389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 y="5084064"/>
            <a:ext cx="2011680" cy="566928"/>
          </a:xfrm>
          <a:prstGeom prst="rect">
            <a:avLst/>
          </a:prstGeom>
          <a:noFill/>
        </p:spPr>
        <p:txBody>
          <a:bodyPr wrap="square" anchor="t" lIns="0" rIns="0" tIns="0" bIns="0">
            <a:spAutoFit/>
          </a:bodyPr>
          <a:lstStyle/>
          <a:p>
            <a:pPr algn="l">
              <a:lnSpc>
                <a:spcPct val="110000"/>
              </a:lnSpc>
              <a:spcBef>
                <a:spcPts val="0"/>
              </a:spcBef>
              <a:spcAft>
                <a:spcPts val="0"/>
              </a:spcAft>
            </a:pPr>
            <a:r>
              <a:rPr sz="900" b="1" i="0" spc="70">
                <a:solidFill>
                  <a:srgbClr val="35464F"/>
                </a:solidFill>
                <a:latin typeface="Aptos"/>
                <a:cs typeface="Aptos"/>
              </a:rPr>
              <a:t>AUM IMPLICATION</a:t>
            </a:r>
          </a:p>
        </p:txBody>
      </p:sp>
      <p:sp>
        <p:nvSpPr>
          <p:cNvPr id="35" name="TextBox 34"/>
          <p:cNvSpPr txBox="1"/>
          <p:nvPr/>
        </p:nvSpPr>
        <p:spPr>
          <a:xfrm>
            <a:off x="3108960" y="5065776"/>
            <a:ext cx="406908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A full disposal may reduce AUM; a partial sell-down may retain it.</a:t>
            </a:r>
          </a:p>
        </p:txBody>
      </p:sp>
      <p:sp>
        <p:nvSpPr>
          <p:cNvPr id="36" name="TextBox 35"/>
          <p:cNvSpPr txBox="1"/>
          <p:nvPr/>
        </p:nvSpPr>
        <p:spPr>
          <a:xfrm>
            <a:off x="7406640" y="5065776"/>
            <a:ext cx="4023360" cy="566928"/>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Can create larger and more durable portfolio-level AUM.</a:t>
            </a:r>
          </a:p>
        </p:txBody>
      </p:sp>
      <p:sp>
        <p:nvSpPr>
          <p:cNvPr id="37" name="Rectangle 36"/>
          <p:cNvSpPr/>
          <p:nvPr/>
        </p:nvSpPr>
        <p:spPr>
          <a:xfrm>
            <a:off x="640080" y="561441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5705856"/>
            <a:ext cx="10908792" cy="411480"/>
          </a:xfrm>
          <a:prstGeom prst="rect">
            <a:avLst/>
          </a:prstGeom>
          <a:noFill/>
        </p:spPr>
        <p:txBody>
          <a:bodyPr wrap="square" anchor="t" lIns="0" rIns="0" tIns="0" bIns="0">
            <a:spAutoFit/>
          </a:bodyPr>
          <a:lstStyle/>
          <a:p>
            <a:pPr algn="l">
              <a:lnSpc>
                <a:spcPct val="120000"/>
              </a:lnSpc>
              <a:spcBef>
                <a:spcPts val="0"/>
              </a:spcBef>
              <a:spcAft>
                <a:spcPts val="0"/>
              </a:spcAft>
            </a:pPr>
            <a:r>
              <a:rPr sz="1200" b="0" i="0">
                <a:solidFill>
                  <a:srgbClr val="35464F"/>
                </a:solidFill>
                <a:latin typeface="Aptos"/>
                <a:cs typeface="Aptos"/>
              </a:rPr>
              <a:t>Asset-level recycling may be faster; portfolio aggregation may be more relevant to institutional investors but may require more time.</a:t>
            </a:r>
          </a:p>
        </p:txBody>
      </p:sp>
      <p:sp>
        <p:nvSpPr>
          <p:cNvPr id="39" name="TextBox 38"/>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40" name="TextBox 39"/>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10</a:t>
            </a:r>
          </a:p>
        </p:txBody>
      </p:sp>
      <p:pic>
        <p:nvPicPr>
          <p:cNvPr id="41" name="Picture 40"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4682B4"/>
                </a:solidFill>
                <a:latin typeface="Aptos"/>
                <a:cs typeface="Aptos"/>
              </a:rPr>
              <a:t>09 · Pathway 2 · Institutional-Scale Opportunities</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Continue to source selected large opportunities that may materially accelerate AUM, institutional relevance and market visibility.</a:t>
            </a:r>
          </a:p>
        </p:txBody>
      </p:sp>
      <p:sp>
        <p:nvSpPr>
          <p:cNvPr id="5" name="TextBox 4"/>
          <p:cNvSpPr txBox="1"/>
          <p:nvPr/>
        </p:nvSpPr>
        <p:spPr>
          <a:xfrm>
            <a:off x="640080" y="1700784"/>
            <a:ext cx="10908792" cy="566928"/>
          </a:xfrm>
          <a:prstGeom prst="rect">
            <a:avLst/>
          </a:prstGeom>
          <a:noFill/>
        </p:spPr>
        <p:txBody>
          <a:bodyPr wrap="square" anchor="t" lIns="0" rIns="0" tIns="0" bIns="0">
            <a:spAutoFit/>
          </a:bodyPr>
          <a:lstStyle/>
          <a:p>
            <a:pPr algn="l">
              <a:lnSpc>
                <a:spcPct val="124000"/>
              </a:lnSpc>
              <a:spcBef>
                <a:spcPts val="0"/>
              </a:spcBef>
              <a:spcAft>
                <a:spcPts val="0"/>
              </a:spcAft>
            </a:pPr>
            <a:r>
              <a:rPr sz="1250" b="0" i="0">
                <a:solidFill>
                  <a:srgbClr val="35464F"/>
                </a:solidFill>
                <a:latin typeface="Aptos"/>
                <a:cs typeface="Aptos"/>
              </a:rPr>
              <a:t>Institutional-scale opportunities are not a replacement for the diversified pathway; they serve a different strategic purpose. One large transaction can create an increase in AUM that would otherwise require several years of smaller transactions, while providing a more meaningful opportunity for large institutional investors.</a:t>
            </a:r>
          </a:p>
        </p:txBody>
      </p:sp>
      <p:sp>
        <p:nvSpPr>
          <p:cNvPr id="6" name="Rounded Rectangle 5"/>
          <p:cNvSpPr/>
          <p:nvPr/>
        </p:nvSpPr>
        <p:spPr>
          <a:xfrm>
            <a:off x="640080" y="2542032"/>
            <a:ext cx="5303520" cy="2377440"/>
          </a:xfrm>
          <a:prstGeom prst="roundRect">
            <a:avLst>
              <a:gd name="adj" fmla="val 3461"/>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542032"/>
            <a:ext cx="4901184" cy="31750"/>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688336"/>
            <a:ext cx="4828032" cy="2084832"/>
          </a:xfrm>
          <a:prstGeom prst="rect">
            <a:avLst/>
          </a:prstGeom>
          <a:noFill/>
        </p:spPr>
        <p:txBody>
          <a:bodyPr wrap="square" anchor="t" lIns="0" rIns="0" tIns="0" bIns="0">
            <a:spAutoFit/>
          </a:bodyPr>
          <a:lstStyle/>
          <a:p>
            <a:pPr algn="l">
              <a:spcBef>
                <a:spcPts val="0"/>
              </a:spcBef>
              <a:spcAft>
                <a:spcPts val="600"/>
              </a:spcAft>
            </a:pPr>
            <a:r>
              <a:rPr sz="950" b="1" i="0" spc="120">
                <a:solidFill>
                  <a:srgbClr val="4682B4"/>
                </a:solidFill>
                <a:latin typeface="Aptos"/>
                <a:cs typeface="Aptos"/>
              </a:rPr>
              <a:t>STRATEGIC BENEFITS</a:t>
            </a:r>
          </a:p>
          <a:p>
            <a:pPr algn="l">
              <a:lnSpc>
                <a:spcPct val="118000"/>
              </a:lnSpc>
              <a:spcBef>
                <a:spcPts val="0"/>
              </a:spcBef>
              <a:spcAft>
                <a:spcPts val="600"/>
              </a:spcAft>
            </a:pPr>
            <a:r>
              <a:rPr sz="1200" b="0" i="0">
                <a:solidFill>
                  <a:srgbClr val="35464F"/>
                </a:solidFill>
                <a:latin typeface="Aptos"/>
                <a:cs typeface="Aptos"/>
              </a:rPr>
              <a:t>Faster AUM growth — a single transaction can create a material increase in AUM.</a:t>
            </a:r>
          </a:p>
          <a:p>
            <a:pPr algn="l">
              <a:lnSpc>
                <a:spcPct val="118000"/>
              </a:lnSpc>
              <a:spcBef>
                <a:spcPts val="0"/>
              </a:spcBef>
              <a:spcAft>
                <a:spcPts val="600"/>
              </a:spcAft>
            </a:pPr>
            <a:r>
              <a:rPr sz="1200" b="0" i="0">
                <a:solidFill>
                  <a:srgbClr val="35464F"/>
                </a:solidFill>
                <a:latin typeface="Aptos"/>
                <a:cs typeface="Aptos"/>
              </a:rPr>
              <a:t>Greater institutional relevance — meaningful ticket sizes for institutional investors.</a:t>
            </a:r>
          </a:p>
          <a:p>
            <a:pPr algn="l">
              <a:lnSpc>
                <a:spcPct val="118000"/>
              </a:lnSpc>
              <a:spcBef>
                <a:spcPts val="0"/>
              </a:spcBef>
              <a:spcAft>
                <a:spcPts val="600"/>
              </a:spcAft>
            </a:pPr>
            <a:r>
              <a:rPr sz="1200" b="0" i="0">
                <a:solidFill>
                  <a:srgbClr val="35464F"/>
                </a:solidFill>
                <a:latin typeface="Aptos"/>
                <a:cs typeface="Aptos"/>
              </a:rPr>
              <a:t>Stronger external profile — visible execution of significant investments under SMFL ownership.</a:t>
            </a:r>
          </a:p>
          <a:p>
            <a:pPr algn="l">
              <a:lnSpc>
                <a:spcPct val="118000"/>
              </a:lnSpc>
              <a:spcBef>
                <a:spcPts val="0"/>
              </a:spcBef>
              <a:spcAft>
                <a:spcPts val="600"/>
              </a:spcAft>
            </a:pPr>
            <a:r>
              <a:rPr sz="1200" b="0" i="0">
                <a:solidFill>
                  <a:srgbClr val="35464F"/>
                </a:solidFill>
                <a:latin typeface="Aptos"/>
                <a:cs typeface="Aptos"/>
              </a:rPr>
              <a:t>Accelerated platform development — visibility supports future fundraising, partnerships and recognition.</a:t>
            </a:r>
          </a:p>
        </p:txBody>
      </p:sp>
      <p:sp>
        <p:nvSpPr>
          <p:cNvPr id="9" name="Rounded Rectangle 8"/>
          <p:cNvSpPr/>
          <p:nvPr/>
        </p:nvSpPr>
        <p:spPr>
          <a:xfrm>
            <a:off x="6245352" y="2542032"/>
            <a:ext cx="5303520" cy="2377440"/>
          </a:xfrm>
          <a:prstGeom prst="roundRect">
            <a:avLst>
              <a:gd name="adj" fmla="val 3461"/>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46520" y="2542032"/>
            <a:ext cx="4901184"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688336"/>
            <a:ext cx="4828032" cy="2084832"/>
          </a:xfrm>
          <a:prstGeom prst="rect">
            <a:avLst/>
          </a:prstGeom>
          <a:noFill/>
        </p:spPr>
        <p:txBody>
          <a:bodyPr wrap="square" anchor="t" lIns="0" rIns="0" tIns="0" bIns="0">
            <a:spAutoFit/>
          </a:bodyPr>
          <a:lstStyle/>
          <a:p>
            <a:pPr algn="l">
              <a:spcBef>
                <a:spcPts val="0"/>
              </a:spcBef>
              <a:spcAft>
                <a:spcPts val="600"/>
              </a:spcAft>
            </a:pPr>
            <a:r>
              <a:rPr sz="950" b="1" i="0" spc="120">
                <a:solidFill>
                  <a:srgbClr val="35464F"/>
                </a:solidFill>
                <a:latin typeface="Aptos"/>
                <a:cs typeface="Aptos"/>
              </a:rPr>
              <a:t>CAPITAL AND RISK IMPLICATIONS</a:t>
            </a:r>
          </a:p>
          <a:p>
            <a:pPr algn="l">
              <a:lnSpc>
                <a:spcPct val="118000"/>
              </a:lnSpc>
              <a:spcBef>
                <a:spcPts val="0"/>
              </a:spcBef>
              <a:spcAft>
                <a:spcPts val="600"/>
              </a:spcAft>
            </a:pPr>
            <a:r>
              <a:rPr sz="1200" b="0" i="0">
                <a:solidFill>
                  <a:srgbClr val="35464F"/>
                </a:solidFill>
                <a:latin typeface="Aptos"/>
                <a:cs typeface="Aptos"/>
              </a:rPr>
              <a:t>Higher capital requirement — may be materially beyond the ordinary diversified programme.</a:t>
            </a:r>
          </a:p>
          <a:p>
            <a:pPr algn="l">
              <a:lnSpc>
                <a:spcPct val="118000"/>
              </a:lnSpc>
              <a:spcBef>
                <a:spcPts val="0"/>
              </a:spcBef>
              <a:spcAft>
                <a:spcPts val="600"/>
              </a:spcAft>
            </a:pPr>
            <a:r>
              <a:rPr sz="1200" b="0" i="0">
                <a:solidFill>
                  <a:srgbClr val="35464F"/>
                </a:solidFill>
                <a:latin typeface="Aptos"/>
                <a:cs typeface="Aptos"/>
              </a:rPr>
              <a:t>Higher concentration — more capital exposed to one asset, market and business plan.</a:t>
            </a:r>
          </a:p>
          <a:p>
            <a:pPr algn="l">
              <a:lnSpc>
                <a:spcPct val="118000"/>
              </a:lnSpc>
              <a:spcBef>
                <a:spcPts val="0"/>
              </a:spcBef>
              <a:spcAft>
                <a:spcPts val="600"/>
              </a:spcAft>
            </a:pPr>
            <a:r>
              <a:rPr sz="1200" b="0" i="0">
                <a:solidFill>
                  <a:srgbClr val="35464F"/>
                </a:solidFill>
                <a:latin typeface="Aptos"/>
                <a:cs typeface="Aptos"/>
              </a:rPr>
              <a:t>Greater liquidity and holding exposure — the full investment may need to be held for longer than initially expected.</a:t>
            </a:r>
          </a:p>
          <a:p>
            <a:pPr algn="l">
              <a:lnSpc>
                <a:spcPct val="118000"/>
              </a:lnSpc>
              <a:spcBef>
                <a:spcPts val="0"/>
              </a:spcBef>
              <a:spcAft>
                <a:spcPts val="600"/>
              </a:spcAft>
            </a:pPr>
            <a:r>
              <a:rPr sz="1200" b="0" i="0">
                <a:solidFill>
                  <a:srgbClr val="35464F"/>
                </a:solidFill>
                <a:latin typeface="Aptos"/>
                <a:cs typeface="Aptos"/>
              </a:rPr>
              <a:t>Board consideration — each opportunity presented separately, to determine whether the strategic benefits justify the capital and concentration involved.</a:t>
            </a:r>
          </a:p>
        </p:txBody>
      </p:sp>
      <p:sp>
        <p:nvSpPr>
          <p:cNvPr id="12" name="Rounded Rectangle 11"/>
          <p:cNvSpPr/>
          <p:nvPr/>
        </p:nvSpPr>
        <p:spPr>
          <a:xfrm>
            <a:off x="640080" y="5175504"/>
            <a:ext cx="1090879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5175504"/>
            <a:ext cx="1039672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Not part of the ordinary programme.  </a:t>
            </a:r>
            <a:r>
              <a:rPr sz="1300" b="0" i="0">
                <a:solidFill>
                  <a:srgbClr val="D5DDE6"/>
                </a:solidFill>
                <a:latin typeface="Aptos"/>
                <a:cs typeface="Aptos"/>
              </a:rPr>
              <a:t>Each opportunity is presented separately to the Board — investment merits, strategic relevance, capital requirement and risk profile — for decision case-by-case.</a:t>
            </a:r>
          </a:p>
        </p:txBody>
      </p:sp>
      <p:sp>
        <p:nvSpPr>
          <p:cNvPr id="14" name="TextBox 13"/>
          <p:cNvSpPr txBox="1"/>
          <p:nvPr/>
        </p:nvSpPr>
        <p:spPr>
          <a:xfrm>
            <a:off x="640080" y="5943600"/>
            <a:ext cx="10908792" cy="365760"/>
          </a:xfrm>
          <a:prstGeom prst="rect">
            <a:avLst/>
          </a:prstGeom>
          <a:noFill/>
        </p:spPr>
        <p:txBody>
          <a:bodyPr wrap="square" anchor="t" lIns="0" rIns="0" tIns="0" bIns="0">
            <a:spAutoFit/>
          </a:bodyPr>
          <a:lstStyle/>
          <a:p>
            <a:pPr algn="l">
              <a:lnSpc>
                <a:spcPct val="120000"/>
              </a:lnSpc>
              <a:spcBef>
                <a:spcPts val="0"/>
              </a:spcBef>
              <a:spcAft>
                <a:spcPts val="0"/>
              </a:spcAft>
            </a:pPr>
            <a:r>
              <a:rPr sz="1050" b="0" i="0">
                <a:solidFill>
                  <a:srgbClr val="35464F"/>
                </a:solidFill>
                <a:latin typeface="Aptos"/>
                <a:cs typeface="Aptos"/>
              </a:rPr>
              <a:t>A meaningful ticket size does not necessarily mean external capital is introduced more quickly — the capital required is also larger. The principal strategic value is the potential to accelerate AUM growth and strengthen Aravest’s institutional profile.</a:t>
            </a:r>
          </a:p>
        </p:txBody>
      </p:sp>
      <p:sp>
        <p:nvSpPr>
          <p:cNvPr id="15" name="TextBox 14"/>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6" name="TextBox 15"/>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11</a:t>
            </a:r>
          </a:p>
        </p:txBody>
      </p:sp>
      <p:pic>
        <p:nvPicPr>
          <p:cNvPr id="17" name="Picture 16"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10 · Warehousing as an execution enabler</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Warehousing bridges the timing gap between securing a transaction and forming third-party capital.</a:t>
            </a:r>
          </a:p>
        </p:txBody>
      </p:sp>
      <p:sp>
        <p:nvSpPr>
          <p:cNvPr id="5" name="TextBox 4"/>
          <p:cNvSpPr txBox="1"/>
          <p:nvPr/>
        </p:nvSpPr>
        <p:spPr>
          <a:xfrm>
            <a:off x="640080" y="1517904"/>
            <a:ext cx="10908792" cy="365760"/>
          </a:xfrm>
          <a:prstGeom prst="rect">
            <a:avLst/>
          </a:prstGeom>
          <a:noFill/>
        </p:spPr>
        <p:txBody>
          <a:bodyPr wrap="square" anchor="t" lIns="0" rIns="0" tIns="0" bIns="0">
            <a:spAutoFit/>
          </a:bodyPr>
          <a:lstStyle/>
          <a:p>
            <a:pPr algn="l">
              <a:lnSpc>
                <a:spcPct val="124000"/>
              </a:lnSpc>
              <a:spcBef>
                <a:spcPts val="0"/>
              </a:spcBef>
              <a:spcAft>
                <a:spcPts val="0"/>
              </a:spcAft>
            </a:pPr>
            <a:r>
              <a:rPr sz="1250" b="0" i="0">
                <a:solidFill>
                  <a:srgbClr val="35464F"/>
                </a:solidFill>
                <a:latin typeface="Aptos"/>
                <a:cs typeface="Aptos"/>
              </a:rPr>
              <a:t>In principle, transaction closing and third-party capital formation can be matched. In practice, the two timetables often do not align.</a:t>
            </a:r>
          </a:p>
        </p:txBody>
      </p:sp>
      <p:sp>
        <p:nvSpPr>
          <p:cNvPr id="6" name="Rounded Rectangle 5"/>
          <p:cNvSpPr/>
          <p:nvPr/>
        </p:nvSpPr>
        <p:spPr>
          <a:xfrm>
            <a:off x="640080" y="2103120"/>
            <a:ext cx="5303520" cy="1920240"/>
          </a:xfrm>
          <a:prstGeom prst="roundRect">
            <a:avLst>
              <a:gd name="adj" fmla="val 4285"/>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03120"/>
            <a:ext cx="4901184"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258568"/>
            <a:ext cx="4828032" cy="1609344"/>
          </a:xfrm>
          <a:prstGeom prst="rect">
            <a:avLst/>
          </a:prstGeom>
          <a:noFill/>
        </p:spPr>
        <p:txBody>
          <a:bodyPr wrap="square" anchor="t" lIns="0" rIns="0" tIns="0" bIns="0">
            <a:spAutoFit/>
          </a:bodyPr>
          <a:lstStyle/>
          <a:p>
            <a:pPr algn="l">
              <a:spcBef>
                <a:spcPts val="0"/>
              </a:spcBef>
              <a:spcAft>
                <a:spcPts val="500"/>
              </a:spcAft>
            </a:pPr>
            <a:r>
              <a:rPr sz="950" b="1" i="0" spc="120">
                <a:solidFill>
                  <a:srgbClr val="35464F"/>
                </a:solidFill>
                <a:latin typeface="Aptos"/>
                <a:cs typeface="Aptos"/>
              </a:rPr>
              <a:t>INVESTOR TIMETABLE</a:t>
            </a:r>
          </a:p>
          <a:p>
            <a:pPr algn="l">
              <a:lnSpc>
                <a:spcPct val="108000"/>
              </a:lnSpc>
              <a:spcBef>
                <a:spcPts val="0"/>
              </a:spcBef>
              <a:spcAft>
                <a:spcPts val="600"/>
              </a:spcAft>
            </a:pPr>
            <a:r>
              <a:rPr sz="1400" b="0" i="0">
                <a:solidFill>
                  <a:srgbClr val="002B5C"/>
                </a:solidFill>
                <a:latin typeface="Aptos Display"/>
                <a:cs typeface="Aptos Display"/>
              </a:rPr>
              <a:t>Investors generally require a specific and sufficiently secured opportunity</a:t>
            </a:r>
          </a:p>
          <a:p>
            <a:pPr algn="l">
              <a:lnSpc>
                <a:spcPct val="122000"/>
              </a:lnSpc>
              <a:spcBef>
                <a:spcPts val="0"/>
              </a:spcBef>
              <a:spcAft>
                <a:spcPts val="0"/>
              </a:spcAft>
            </a:pPr>
            <a:r>
              <a:rPr sz="1250" b="0" i="0">
                <a:solidFill>
                  <a:srgbClr val="35464F"/>
                </a:solidFill>
                <a:latin typeface="Aptos"/>
                <a:cs typeface="Aptos"/>
              </a:rPr>
              <a:t>Institutional investors need time to assess the asset, business plan, manager, structure and risk before committing capital. Many will not provide a firm commitment until the opportunity is sufficiently advanced or secured.</a:t>
            </a:r>
          </a:p>
        </p:txBody>
      </p:sp>
      <p:sp>
        <p:nvSpPr>
          <p:cNvPr id="9" name="Rounded Rectangle 8"/>
          <p:cNvSpPr/>
          <p:nvPr/>
        </p:nvSpPr>
        <p:spPr>
          <a:xfrm>
            <a:off x="6245352" y="2103120"/>
            <a:ext cx="5303520" cy="1920240"/>
          </a:xfrm>
          <a:prstGeom prst="roundRect">
            <a:avLst>
              <a:gd name="adj" fmla="val 4285"/>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46520" y="2103120"/>
            <a:ext cx="4901184"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258568"/>
            <a:ext cx="4828032" cy="1609344"/>
          </a:xfrm>
          <a:prstGeom prst="rect">
            <a:avLst/>
          </a:prstGeom>
          <a:noFill/>
        </p:spPr>
        <p:txBody>
          <a:bodyPr wrap="square" anchor="t" lIns="0" rIns="0" tIns="0" bIns="0">
            <a:spAutoFit/>
          </a:bodyPr>
          <a:lstStyle/>
          <a:p>
            <a:pPr algn="l">
              <a:spcBef>
                <a:spcPts val="0"/>
              </a:spcBef>
              <a:spcAft>
                <a:spcPts val="500"/>
              </a:spcAft>
            </a:pPr>
            <a:r>
              <a:rPr sz="950" b="1" i="0" spc="120">
                <a:solidFill>
                  <a:srgbClr val="35464F"/>
                </a:solidFill>
                <a:latin typeface="Aptos"/>
                <a:cs typeface="Aptos"/>
              </a:rPr>
              <a:t>TRANSACTION TIMETABLE</a:t>
            </a:r>
          </a:p>
          <a:p>
            <a:pPr algn="l">
              <a:lnSpc>
                <a:spcPct val="108000"/>
              </a:lnSpc>
              <a:spcBef>
                <a:spcPts val="0"/>
              </a:spcBef>
              <a:spcAft>
                <a:spcPts val="600"/>
              </a:spcAft>
            </a:pPr>
            <a:r>
              <a:rPr sz="1400" b="0" i="0">
                <a:solidFill>
                  <a:srgbClr val="002B5C"/>
                </a:solidFill>
                <a:latin typeface="Aptos Display"/>
                <a:cs typeface="Aptos Display"/>
              </a:rPr>
              <a:t>Sellers require certainty and speed</a:t>
            </a:r>
          </a:p>
          <a:p>
            <a:pPr algn="l">
              <a:lnSpc>
                <a:spcPct val="122000"/>
              </a:lnSpc>
              <a:spcBef>
                <a:spcPts val="0"/>
              </a:spcBef>
              <a:spcAft>
                <a:spcPts val="0"/>
              </a:spcAft>
            </a:pPr>
            <a:r>
              <a:rPr sz="1250" b="0" i="0">
                <a:solidFill>
                  <a:srgbClr val="35464F"/>
                </a:solidFill>
                <a:latin typeface="Aptos"/>
                <a:cs typeface="Aptos"/>
              </a:rPr>
              <a:t>Competitive transactions require committed funding, execution certainty and the ability to close within the seller’s timetable — often before an institutional fundraising process can be completed.</a:t>
            </a:r>
          </a:p>
        </p:txBody>
      </p:sp>
      <p:sp>
        <p:nvSpPr>
          <p:cNvPr id="12" name="Rounded Rectangle 11"/>
          <p:cNvSpPr/>
          <p:nvPr/>
        </p:nvSpPr>
        <p:spPr>
          <a:xfrm>
            <a:off x="640080" y="4261104"/>
            <a:ext cx="10908792" cy="676656"/>
          </a:xfrm>
          <a:prstGeom prst="roundRect">
            <a:avLst>
              <a:gd name="adj" fmla="val 12162"/>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261104"/>
            <a:ext cx="10396728" cy="676656"/>
          </a:xfrm>
          <a:prstGeom prst="rect">
            <a:avLst/>
          </a:prstGeom>
          <a:noFill/>
        </p:spPr>
        <p:txBody>
          <a:bodyPr wrap="square" anchor="ctr" lIns="0" rIns="0" tIns="0" bIns="0">
            <a:spAutoFit/>
          </a:bodyPr>
          <a:lstStyle/>
          <a:p>
            <a:pPr algn="l">
              <a:lnSpc>
                <a:spcPct val="122000"/>
              </a:lnSpc>
              <a:spcBef>
                <a:spcPts val="0"/>
              </a:spcBef>
              <a:spcAft>
                <a:spcPts val="0"/>
              </a:spcAft>
            </a:pPr>
            <a:r>
              <a:rPr sz="1400" b="0" i="0">
                <a:solidFill>
                  <a:srgbClr val="FFFFFF"/>
                </a:solidFill>
                <a:latin typeface="Aptos Display"/>
                <a:cs typeface="Aptos Display"/>
              </a:rPr>
              <a:t>Without the ability to bridge this timing gap, Aravest may be unable to secure opportunities at the point they are available.</a:t>
            </a:r>
          </a:p>
        </p:txBody>
      </p:sp>
      <p:sp>
        <p:nvSpPr>
          <p:cNvPr id="14" name="TextBox 13"/>
          <p:cNvSpPr txBox="1"/>
          <p:nvPr/>
        </p:nvSpPr>
        <p:spPr>
          <a:xfrm>
            <a:off x="640080" y="5175504"/>
            <a:ext cx="10908792" cy="777240"/>
          </a:xfrm>
          <a:prstGeom prst="rect">
            <a:avLst/>
          </a:prstGeom>
          <a:noFill/>
        </p:spPr>
        <p:txBody>
          <a:bodyPr wrap="square" anchor="t" lIns="0" rIns="0" tIns="0" bIns="0">
            <a:spAutoFit/>
          </a:bodyPr>
          <a:lstStyle/>
          <a:p>
            <a:pPr algn="l">
              <a:lnSpc>
                <a:spcPct val="126000"/>
              </a:lnSpc>
              <a:spcBef>
                <a:spcPts val="0"/>
              </a:spcBef>
              <a:spcAft>
                <a:spcPts val="0"/>
              </a:spcAft>
            </a:pPr>
            <a:r>
              <a:rPr sz="1250" b="0" i="0">
                <a:solidFill>
                  <a:srgbClr val="35464F"/>
                </a:solidFill>
                <a:latin typeface="Aptos"/>
                <a:cs typeface="Aptos"/>
              </a:rPr>
              <a:t>This has a direct bearing on Aravest’s long-term development: if the platform executes too few transactions, it cannot build the post-SMFL track record required by institutional investors — and a limited track record in turn makes it harder to attract third-party capital for future opportunities.</a:t>
            </a:r>
          </a:p>
        </p:txBody>
      </p:sp>
      <p:sp>
        <p:nvSpPr>
          <p:cNvPr id="15" name="TextBox 14"/>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6" name="TextBox 15"/>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12</a:t>
            </a:r>
          </a:p>
        </p:txBody>
      </p:sp>
      <p:pic>
        <p:nvPicPr>
          <p:cNvPr id="17" name="Picture 16"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10 · Warehousing as an execution enabler · Why it matters</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Execution builds the record; the record supports long-term capital formation.</a:t>
            </a:r>
          </a:p>
        </p:txBody>
      </p:sp>
      <p:sp>
        <p:nvSpPr>
          <p:cNvPr id="5" name="Rounded Rectangle 4"/>
          <p:cNvSpPr/>
          <p:nvPr/>
        </p:nvSpPr>
        <p:spPr>
          <a:xfrm>
            <a:off x="640080" y="1517904"/>
            <a:ext cx="5303520" cy="1920240"/>
          </a:xfrm>
          <a:prstGeom prst="roundRect">
            <a:avLst>
              <a:gd name="adj" fmla="val 4285"/>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517904"/>
            <a:ext cx="4901184" cy="31750"/>
          </a:xfrm>
          <a:prstGeom prst="rect">
            <a:avLst/>
          </a:prstGeom>
          <a:solidFill>
            <a:srgbClr val="354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673352"/>
            <a:ext cx="4828032" cy="1609344"/>
          </a:xfrm>
          <a:prstGeom prst="rect">
            <a:avLst/>
          </a:prstGeom>
          <a:noFill/>
        </p:spPr>
        <p:txBody>
          <a:bodyPr wrap="square" anchor="t" lIns="0" rIns="0" tIns="0" bIns="0">
            <a:spAutoFit/>
          </a:bodyPr>
          <a:lstStyle/>
          <a:p>
            <a:pPr algn="l">
              <a:spcBef>
                <a:spcPts val="0"/>
              </a:spcBef>
              <a:spcAft>
                <a:spcPts val="500"/>
              </a:spcAft>
            </a:pPr>
            <a:r>
              <a:rPr sz="950" b="1" i="0" spc="120">
                <a:solidFill>
                  <a:srgbClr val="35464F"/>
                </a:solidFill>
                <a:latin typeface="Aptos"/>
                <a:cs typeface="Aptos"/>
              </a:rPr>
              <a:t>WITHOUT WAREHOUSING</a:t>
            </a:r>
          </a:p>
          <a:p>
            <a:pPr algn="l">
              <a:lnSpc>
                <a:spcPct val="108000"/>
              </a:lnSpc>
              <a:spcBef>
                <a:spcPts val="0"/>
              </a:spcBef>
              <a:spcAft>
                <a:spcPts val="600"/>
              </a:spcAft>
            </a:pPr>
            <a:r>
              <a:rPr sz="1400" b="0" i="0">
                <a:solidFill>
                  <a:srgbClr val="002B5C"/>
                </a:solidFill>
                <a:latin typeface="Aptos Display"/>
                <a:cs typeface="Aptos Display"/>
              </a:rPr>
              <a:t>The record cannot form</a:t>
            </a:r>
          </a:p>
          <a:p>
            <a:pPr algn="l">
              <a:lnSpc>
                <a:spcPct val="124000"/>
              </a:lnSpc>
              <a:spcBef>
                <a:spcPts val="0"/>
              </a:spcBef>
              <a:spcAft>
                <a:spcPts val="0"/>
              </a:spcAft>
            </a:pPr>
            <a:r>
              <a:rPr sz="1250" b="0" i="0">
                <a:solidFill>
                  <a:srgbClr val="35464F"/>
                </a:solidFill>
                <a:latin typeface="Aptos"/>
                <a:cs typeface="Aptos"/>
              </a:rPr>
              <a:t>Limited advance third-party commitments → fewer secured transactions → insufficient post-SMFL proof → continued difficulty attracting third-party capital.</a:t>
            </a:r>
          </a:p>
        </p:txBody>
      </p:sp>
      <p:sp>
        <p:nvSpPr>
          <p:cNvPr id="8" name="Rounded Rectangle 7"/>
          <p:cNvSpPr/>
          <p:nvPr/>
        </p:nvSpPr>
        <p:spPr>
          <a:xfrm>
            <a:off x="6245352" y="1517904"/>
            <a:ext cx="5303520" cy="1920240"/>
          </a:xfrm>
          <a:prstGeom prst="roundRect">
            <a:avLst>
              <a:gd name="adj" fmla="val 4285"/>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517904"/>
            <a:ext cx="4901184"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3096" y="1673352"/>
            <a:ext cx="4828032" cy="1609344"/>
          </a:xfrm>
          <a:prstGeom prst="rect">
            <a:avLst/>
          </a:prstGeom>
          <a:noFill/>
        </p:spPr>
        <p:txBody>
          <a:bodyPr wrap="square" anchor="t" lIns="0" rIns="0" tIns="0" bIns="0">
            <a:spAutoFit/>
          </a:bodyPr>
          <a:lstStyle/>
          <a:p>
            <a:pPr algn="l">
              <a:spcBef>
                <a:spcPts val="0"/>
              </a:spcBef>
              <a:spcAft>
                <a:spcPts val="500"/>
              </a:spcAft>
            </a:pPr>
            <a:r>
              <a:rPr sz="950" b="1" i="0" spc="120">
                <a:solidFill>
                  <a:srgbClr val="008080"/>
                </a:solidFill>
                <a:latin typeface="Aptos"/>
                <a:cs typeface="Aptos"/>
              </a:rPr>
              <a:t>WITH WAREHOUSING</a:t>
            </a:r>
          </a:p>
          <a:p>
            <a:pPr algn="l">
              <a:lnSpc>
                <a:spcPct val="108000"/>
              </a:lnSpc>
              <a:spcBef>
                <a:spcPts val="0"/>
              </a:spcBef>
              <a:spcAft>
                <a:spcPts val="600"/>
              </a:spcAft>
            </a:pPr>
            <a:r>
              <a:rPr sz="1400" b="0" i="0">
                <a:solidFill>
                  <a:srgbClr val="002B5C"/>
                </a:solidFill>
                <a:latin typeface="Aptos Display"/>
                <a:cs typeface="Aptos Display"/>
              </a:rPr>
              <a:t>Execution builds the record</a:t>
            </a:r>
          </a:p>
          <a:p>
            <a:pPr algn="l">
              <a:lnSpc>
                <a:spcPct val="124000"/>
              </a:lnSpc>
              <a:spcBef>
                <a:spcPts val="0"/>
              </a:spcBef>
              <a:spcAft>
                <a:spcPts val="0"/>
              </a:spcAft>
            </a:pPr>
            <a:r>
              <a:rPr sz="1250" b="0" i="0">
                <a:solidFill>
                  <a:srgbClr val="35464F"/>
                </a:solidFill>
                <a:latin typeface="Aptos"/>
                <a:cs typeface="Aptos"/>
              </a:rPr>
              <a:t>Secure and execute transactions → demonstrate the full investment lifecycle → establish investor confidence → introduce or raise third-party capital → repeat.</a:t>
            </a:r>
          </a:p>
        </p:txBody>
      </p:sp>
      <p:sp>
        <p:nvSpPr>
          <p:cNvPr id="11" name="TextBox 10"/>
          <p:cNvSpPr txBox="1"/>
          <p:nvPr/>
        </p:nvSpPr>
        <p:spPr>
          <a:xfrm>
            <a:off x="640080" y="3703320"/>
            <a:ext cx="10908792" cy="777240"/>
          </a:xfrm>
          <a:prstGeom prst="rect">
            <a:avLst/>
          </a:prstGeom>
          <a:noFill/>
        </p:spPr>
        <p:txBody>
          <a:bodyPr wrap="square" anchor="t" lIns="0" rIns="0" tIns="0" bIns="0">
            <a:spAutoFit/>
          </a:bodyPr>
          <a:lstStyle/>
          <a:p>
            <a:pPr algn="l">
              <a:lnSpc>
                <a:spcPct val="126000"/>
              </a:lnSpc>
              <a:spcBef>
                <a:spcPts val="0"/>
              </a:spcBef>
              <a:spcAft>
                <a:spcPts val="0"/>
              </a:spcAft>
            </a:pPr>
            <a:r>
              <a:rPr sz="1250" b="0" i="0">
                <a:solidFill>
                  <a:srgbClr val="35464F"/>
                </a:solidFill>
                <a:latin typeface="Aptos"/>
                <a:cs typeface="Aptos"/>
              </a:rPr>
              <a:t>Warehousing is relevant to both pathways. For Diversified Track Record Building, the existing US$300 million support can be spread across several small and medium investments, allowing risk to be diversified. For Institutional-Scale Opportunities, the capital requirement and single-asset concentration are materially greater.</a:t>
            </a:r>
          </a:p>
        </p:txBody>
      </p:sp>
      <p:sp>
        <p:nvSpPr>
          <p:cNvPr id="12" name="Rounded Rectangle 11"/>
          <p:cNvSpPr/>
          <p:nvPr/>
        </p:nvSpPr>
        <p:spPr>
          <a:xfrm>
            <a:off x="640080" y="4754880"/>
            <a:ext cx="10908792" cy="914400"/>
          </a:xfrm>
          <a:prstGeom prst="roundRect">
            <a:avLst>
              <a:gd name="adj" fmla="val 9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754880"/>
            <a:ext cx="10396728" cy="914400"/>
          </a:xfrm>
          <a:prstGeom prst="rect">
            <a:avLst/>
          </a:prstGeom>
          <a:noFill/>
        </p:spPr>
        <p:txBody>
          <a:bodyPr wrap="square" anchor="ctr" lIns="0" rIns="0" tIns="0" bIns="0">
            <a:spAutoFit/>
          </a:bodyPr>
          <a:lstStyle/>
          <a:p>
            <a:pPr>
              <a:lnSpc>
                <a:spcPct val="130000"/>
              </a:lnSpc>
              <a:spcAft>
                <a:spcPts val="0"/>
              </a:spcAft>
            </a:pPr>
            <a:r>
              <a:rPr sz="1350" b="0" i="0">
                <a:solidFill>
                  <a:srgbClr val="FFFFFF"/>
                </a:solidFill>
                <a:latin typeface="Aptos Display"/>
                <a:cs typeface="Aptos Display"/>
              </a:rPr>
              <a:t>Warehousing enables transaction execution.  </a:t>
            </a:r>
            <a:r>
              <a:rPr sz="1350" b="0" i="0">
                <a:solidFill>
                  <a:srgbClr val="8FC6C6"/>
                </a:solidFill>
                <a:latin typeface="Aptos Display"/>
                <a:cs typeface="Aptos Display"/>
              </a:rPr>
              <a:t>Transaction execution builds the track record.  </a:t>
            </a:r>
            <a:r>
              <a:rPr sz="1350" b="0" i="0">
                <a:solidFill>
                  <a:srgbClr val="FFFFFF"/>
                </a:solidFill>
                <a:latin typeface="Aptos Display"/>
                <a:cs typeface="Aptos Display"/>
              </a:rPr>
              <a:t>The track record supports long-term third-party capital formation.</a:t>
            </a:r>
          </a:p>
        </p:txBody>
      </p:sp>
      <p:sp>
        <p:nvSpPr>
          <p:cNvPr id="14" name="TextBox 13"/>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5" name="TextBox 14"/>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13</a:t>
            </a:r>
          </a:p>
        </p:txBody>
      </p:sp>
      <p:pic>
        <p:nvPicPr>
          <p:cNvPr id="16" name="Picture 15"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11 · Expected AUM profile</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two pathways are expected to produce different AUM profiles.</a:t>
            </a:r>
          </a:p>
        </p:txBody>
      </p:sp>
      <p:sp>
        <p:nvSpPr>
          <p:cNvPr id="5" name="Rectangle 4"/>
          <p:cNvSpPr/>
          <p:nvPr/>
        </p:nvSpPr>
        <p:spPr>
          <a:xfrm>
            <a:off x="640080" y="1408176"/>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17904"/>
            <a:ext cx="10908792" cy="365760"/>
          </a:xfrm>
          <a:prstGeom prst="rect">
            <a:avLst/>
          </a:prstGeom>
          <a:noFill/>
        </p:spPr>
        <p:txBody>
          <a:bodyPr wrap="square" anchor="ctr" lIns="0" rIns="0" tIns="0" bIns="0">
            <a:spAutoFit/>
          </a:bodyPr>
          <a:lstStyle/>
          <a:p>
            <a:pPr algn="ctr">
              <a:spcBef>
                <a:spcPts val="0"/>
              </a:spcBef>
              <a:spcAft>
                <a:spcPts val="0"/>
              </a:spcAft>
            </a:pPr>
            <a:r>
              <a:rPr sz="1450" b="0" i="0">
                <a:solidFill>
                  <a:srgbClr val="002B5C"/>
                </a:solidFill>
                <a:latin typeface="Aptos Display"/>
                <a:cs typeface="Aptos Display"/>
              </a:rPr>
              <a:t>Closing AUM  =  Opening AUM  +  New investments  −  Realisations  ±  Valuation and FX movements</a:t>
            </a:r>
          </a:p>
        </p:txBody>
      </p:sp>
      <p:sp>
        <p:nvSpPr>
          <p:cNvPr id="7" name="Rectangle 6"/>
          <p:cNvSpPr/>
          <p:nvPr/>
        </p:nvSpPr>
        <p:spPr>
          <a:xfrm>
            <a:off x="640080" y="1993392"/>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212848"/>
            <a:ext cx="5303520" cy="3566160"/>
          </a:xfrm>
          <a:prstGeom prst="roundRect">
            <a:avLst>
              <a:gd name="adj" fmla="val 2307"/>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359152"/>
            <a:ext cx="4828032" cy="365760"/>
          </a:xfrm>
          <a:prstGeom prst="rect">
            <a:avLst/>
          </a:prstGeom>
          <a:noFill/>
        </p:spPr>
        <p:txBody>
          <a:bodyPr wrap="square" anchor="t" lIns="0" rIns="0" tIns="0" bIns="0">
            <a:spAutoFit/>
          </a:bodyPr>
          <a:lstStyle/>
          <a:p>
            <a:pPr algn="l">
              <a:lnSpc>
                <a:spcPct val="103000"/>
              </a:lnSpc>
              <a:spcBef>
                <a:spcPts val="0"/>
              </a:spcBef>
              <a:spcAft>
                <a:spcPts val="0"/>
              </a:spcAft>
            </a:pPr>
            <a:r>
              <a:rPr sz="1400" b="0" i="0">
                <a:solidFill>
                  <a:srgbClr val="008080"/>
                </a:solidFill>
                <a:latin typeface="Aptos Display"/>
                <a:cs typeface="Aptos Display"/>
              </a:rPr>
              <a:t>Pathway 1 — Diversified Track Record Building</a:t>
            </a:r>
          </a:p>
        </p:txBody>
      </p:sp>
      <p:sp>
        <p:nvSpPr>
          <p:cNvPr id="10" name="Rectangle 9"/>
          <p:cNvSpPr/>
          <p:nvPr/>
        </p:nvSpPr>
        <p:spPr>
          <a:xfrm>
            <a:off x="877824" y="3475635"/>
            <a:ext cx="384048" cy="364845"/>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18488" y="3362707"/>
            <a:ext cx="384048" cy="477773"/>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59152" y="3432201"/>
            <a:ext cx="384048" cy="408279"/>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99816" y="3301899"/>
            <a:ext cx="384048" cy="538581"/>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3388767"/>
            <a:ext cx="384048" cy="451713"/>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81144" y="3232405"/>
            <a:ext cx="384048" cy="608075"/>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21808" y="3293212"/>
            <a:ext cx="384048" cy="547268"/>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77824" y="3840480"/>
            <a:ext cx="4828032" cy="1270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3968496"/>
            <a:ext cx="4828032" cy="1737360"/>
          </a:xfrm>
          <a:prstGeom prst="rect">
            <a:avLst/>
          </a:prstGeom>
          <a:noFill/>
        </p:spPr>
        <p:txBody>
          <a:bodyPr wrap="square" anchor="t" lIns="0" rIns="0" tIns="0" bIns="0">
            <a:spAutoFit/>
          </a:bodyPr>
          <a:lstStyle/>
          <a:p>
            <a:pPr>
              <a:lnSpc>
                <a:spcPct val="116000"/>
              </a:lnSpc>
              <a:spcAft>
                <a:spcPts val="400"/>
              </a:spcAft>
            </a:pPr>
            <a:r>
              <a:rPr sz="1200" b="1" i="0">
                <a:solidFill>
                  <a:srgbClr val="008080"/>
                </a:solidFill>
                <a:latin typeface="Aptos"/>
                <a:cs typeface="Aptos"/>
              </a:rPr>
              <a:t>·  </a:t>
            </a:r>
            <a:r>
              <a:rPr sz="1200" b="0" i="0">
                <a:solidFill>
                  <a:srgbClr val="35464F"/>
                </a:solidFill>
                <a:latin typeface="Aptos"/>
                <a:cs typeface="Aptos"/>
              </a:rPr>
              <a:t>AUM growth is likely to be gradual and uneven.</a:t>
            </a:r>
          </a:p>
          <a:p>
            <a:pPr>
              <a:lnSpc>
                <a:spcPct val="116000"/>
              </a:lnSpc>
              <a:spcAft>
                <a:spcPts val="400"/>
              </a:spcAft>
            </a:pPr>
            <a:r>
              <a:rPr sz="1200" b="1" i="0">
                <a:solidFill>
                  <a:srgbClr val="008080"/>
                </a:solidFill>
                <a:latin typeface="Aptos"/>
                <a:cs typeface="Aptos"/>
              </a:rPr>
              <a:t>·  </a:t>
            </a:r>
            <a:r>
              <a:rPr sz="1200" b="0" i="0">
                <a:solidFill>
                  <a:srgbClr val="35464F"/>
                </a:solidFill>
                <a:latin typeface="Aptos"/>
                <a:cs typeface="Aptos"/>
              </a:rPr>
              <a:t>AUM may remain flat where new investments broadly replace realised assets.</a:t>
            </a:r>
          </a:p>
          <a:p>
            <a:pPr>
              <a:lnSpc>
                <a:spcPct val="116000"/>
              </a:lnSpc>
              <a:spcAft>
                <a:spcPts val="400"/>
              </a:spcAft>
            </a:pPr>
            <a:r>
              <a:rPr sz="1200" b="1" i="0">
                <a:solidFill>
                  <a:srgbClr val="008080"/>
                </a:solidFill>
                <a:latin typeface="Aptos"/>
                <a:cs typeface="Aptos"/>
              </a:rPr>
              <a:t>·  </a:t>
            </a:r>
            <a:r>
              <a:rPr sz="1200" b="0" i="0">
                <a:solidFill>
                  <a:srgbClr val="35464F"/>
                </a:solidFill>
                <a:latin typeface="Aptos"/>
                <a:cs typeface="Aptos"/>
              </a:rPr>
              <a:t>AUM may decline temporarily following successful disposals or sell-downs.</a:t>
            </a:r>
          </a:p>
          <a:p>
            <a:pPr>
              <a:lnSpc>
                <a:spcPct val="116000"/>
              </a:lnSpc>
              <a:spcAft>
                <a:spcPts val="400"/>
              </a:spcAft>
            </a:pPr>
            <a:r>
              <a:rPr sz="1200" b="1" i="0">
                <a:solidFill>
                  <a:srgbClr val="008080"/>
                </a:solidFill>
                <a:latin typeface="Aptos"/>
                <a:cs typeface="Aptos"/>
              </a:rPr>
              <a:t>·  </a:t>
            </a:r>
            <a:r>
              <a:rPr sz="1200" b="0" i="0">
                <a:solidFill>
                  <a:srgbClr val="35464F"/>
                </a:solidFill>
                <a:latin typeface="Aptos"/>
                <a:cs typeface="Aptos"/>
              </a:rPr>
              <a:t>The platform may nevertheless improve through stronger realised returns, profitability, investor confidence and repeatability.</a:t>
            </a:r>
          </a:p>
          <a:p>
            <a:pPr algn="l">
              <a:spcBef>
                <a:spcPts val="400"/>
              </a:spcBef>
              <a:spcAft>
                <a:spcPts val="0"/>
              </a:spcAft>
            </a:pPr>
            <a:r>
              <a:rPr sz="850" b="0" i="1">
                <a:solidFill>
                  <a:srgbClr val="869397"/>
                </a:solidFill>
                <a:latin typeface="Aptos"/>
                <a:cs typeface="Aptos"/>
              </a:rPr>
              <a:t>Illustrative profile only — not a forecast.</a:t>
            </a:r>
          </a:p>
        </p:txBody>
      </p:sp>
      <p:sp>
        <p:nvSpPr>
          <p:cNvPr id="19" name="Rounded Rectangle 18"/>
          <p:cNvSpPr/>
          <p:nvPr/>
        </p:nvSpPr>
        <p:spPr>
          <a:xfrm>
            <a:off x="6245352" y="2212848"/>
            <a:ext cx="5303520" cy="3566160"/>
          </a:xfrm>
          <a:prstGeom prst="roundRect">
            <a:avLst>
              <a:gd name="adj" fmla="val 2307"/>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3096" y="2359152"/>
            <a:ext cx="4828032" cy="365760"/>
          </a:xfrm>
          <a:prstGeom prst="rect">
            <a:avLst/>
          </a:prstGeom>
          <a:noFill/>
        </p:spPr>
        <p:txBody>
          <a:bodyPr wrap="square" anchor="t" lIns="0" rIns="0" tIns="0" bIns="0">
            <a:spAutoFit/>
          </a:bodyPr>
          <a:lstStyle/>
          <a:p>
            <a:pPr algn="l">
              <a:lnSpc>
                <a:spcPct val="103000"/>
              </a:lnSpc>
              <a:spcBef>
                <a:spcPts val="0"/>
              </a:spcBef>
              <a:spcAft>
                <a:spcPts val="0"/>
              </a:spcAft>
            </a:pPr>
            <a:r>
              <a:rPr sz="1400" b="0" i="0">
                <a:solidFill>
                  <a:srgbClr val="4682B4"/>
                </a:solidFill>
                <a:latin typeface="Aptos Display"/>
                <a:cs typeface="Aptos Display"/>
              </a:rPr>
              <a:t>Pathway 2 — Institutional-Scale Opportunities</a:t>
            </a:r>
          </a:p>
        </p:txBody>
      </p:sp>
      <p:sp>
        <p:nvSpPr>
          <p:cNvPr id="21" name="Rectangle 20"/>
          <p:cNvSpPr/>
          <p:nvPr/>
        </p:nvSpPr>
        <p:spPr>
          <a:xfrm>
            <a:off x="6483096" y="3527756"/>
            <a:ext cx="384048" cy="312724"/>
          </a:xfrm>
          <a:prstGeom prst="rect">
            <a:avLst/>
          </a:prstGeom>
          <a:solidFill>
            <a:srgbClr val="B9D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23760" y="3510382"/>
            <a:ext cx="384048" cy="330098"/>
          </a:xfrm>
          <a:prstGeom prst="rect">
            <a:avLst/>
          </a:prstGeom>
          <a:solidFill>
            <a:srgbClr val="B9D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64424" y="3493008"/>
            <a:ext cx="384048" cy="347472"/>
          </a:xfrm>
          <a:prstGeom prst="rect">
            <a:avLst/>
          </a:prstGeom>
          <a:solidFill>
            <a:srgbClr val="B9D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705088" y="3032608"/>
            <a:ext cx="384048" cy="807872"/>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45752" y="3015234"/>
            <a:ext cx="384048" cy="825246"/>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86416" y="2971800"/>
            <a:ext cx="384048" cy="868680"/>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7080" y="2971800"/>
            <a:ext cx="384048" cy="868680"/>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83096" y="3840480"/>
            <a:ext cx="4828032" cy="1270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83096" y="3968496"/>
            <a:ext cx="4828032" cy="1737360"/>
          </a:xfrm>
          <a:prstGeom prst="rect">
            <a:avLst/>
          </a:prstGeom>
          <a:noFill/>
        </p:spPr>
        <p:txBody>
          <a:bodyPr wrap="square" anchor="t" lIns="0" rIns="0" tIns="0" bIns="0">
            <a:spAutoFit/>
          </a:bodyPr>
          <a:lstStyle/>
          <a:p>
            <a:pPr>
              <a:lnSpc>
                <a:spcPct val="116000"/>
              </a:lnSpc>
              <a:spcAft>
                <a:spcPts val="400"/>
              </a:spcAft>
            </a:pPr>
            <a:r>
              <a:rPr sz="1200" b="1" i="0">
                <a:solidFill>
                  <a:srgbClr val="4682B4"/>
                </a:solidFill>
                <a:latin typeface="Aptos"/>
                <a:cs typeface="Aptos"/>
              </a:rPr>
              <a:t>·  </a:t>
            </a:r>
            <a:r>
              <a:rPr sz="1200" b="0" i="0">
                <a:solidFill>
                  <a:srgbClr val="35464F"/>
                </a:solidFill>
                <a:latin typeface="Aptos"/>
                <a:cs typeface="Aptos"/>
              </a:rPr>
              <a:t>Potential for a material or step-change increase in AUM.</a:t>
            </a:r>
          </a:p>
          <a:p>
            <a:pPr>
              <a:lnSpc>
                <a:spcPct val="116000"/>
              </a:lnSpc>
              <a:spcAft>
                <a:spcPts val="400"/>
              </a:spcAft>
            </a:pPr>
            <a:r>
              <a:rPr sz="1200" b="1" i="0">
                <a:solidFill>
                  <a:srgbClr val="4682B4"/>
                </a:solidFill>
                <a:latin typeface="Aptos"/>
                <a:cs typeface="Aptos"/>
              </a:rPr>
              <a:t>·  </a:t>
            </a:r>
            <a:r>
              <a:rPr sz="1200" b="0" i="0">
                <a:solidFill>
                  <a:srgbClr val="35464F"/>
                </a:solidFill>
                <a:latin typeface="Aptos"/>
                <a:cs typeface="Aptos"/>
              </a:rPr>
              <a:t>Creates more meaningful institutional ticket sizes.</a:t>
            </a:r>
          </a:p>
          <a:p>
            <a:pPr>
              <a:lnSpc>
                <a:spcPct val="116000"/>
              </a:lnSpc>
              <a:spcAft>
                <a:spcPts val="400"/>
              </a:spcAft>
            </a:pPr>
            <a:r>
              <a:rPr sz="1200" b="1" i="0">
                <a:solidFill>
                  <a:srgbClr val="4682B4"/>
                </a:solidFill>
                <a:latin typeface="Aptos"/>
                <a:cs typeface="Aptos"/>
              </a:rPr>
              <a:t>·  </a:t>
            </a:r>
            <a:r>
              <a:rPr sz="1200" b="0" i="0">
                <a:solidFill>
                  <a:srgbClr val="35464F"/>
                </a:solidFill>
                <a:latin typeface="Aptos"/>
                <a:cs typeface="Aptos"/>
              </a:rPr>
              <a:t>Strengthens visibility and fundraising credibility.</a:t>
            </a:r>
          </a:p>
          <a:p>
            <a:pPr>
              <a:lnSpc>
                <a:spcPct val="116000"/>
              </a:lnSpc>
              <a:spcAft>
                <a:spcPts val="400"/>
              </a:spcAft>
            </a:pPr>
            <a:r>
              <a:rPr sz="1200" b="1" i="0">
                <a:solidFill>
                  <a:srgbClr val="4682B4"/>
                </a:solidFill>
                <a:latin typeface="Aptos"/>
                <a:cs typeface="Aptos"/>
              </a:rPr>
              <a:t>·  </a:t>
            </a:r>
            <a:r>
              <a:rPr sz="1200" b="0" i="0">
                <a:solidFill>
                  <a:srgbClr val="35464F"/>
                </a:solidFill>
                <a:latin typeface="Aptos"/>
                <a:cs typeface="Aptos"/>
              </a:rPr>
              <a:t>May accelerate the pathway from proof-building to institutional scale.</a:t>
            </a:r>
          </a:p>
          <a:p>
            <a:pPr algn="l">
              <a:spcBef>
                <a:spcPts val="400"/>
              </a:spcBef>
              <a:spcAft>
                <a:spcPts val="0"/>
              </a:spcAft>
            </a:pPr>
            <a:r>
              <a:rPr sz="850" b="0" i="1">
                <a:solidFill>
                  <a:srgbClr val="869397"/>
                </a:solidFill>
                <a:latin typeface="Aptos"/>
                <a:cs typeface="Aptos"/>
              </a:rPr>
              <a:t>Illustrative profile only — not a forecast.</a:t>
            </a:r>
          </a:p>
        </p:txBody>
      </p:sp>
      <p:sp>
        <p:nvSpPr>
          <p:cNvPr id="30" name="TextBox 29"/>
          <p:cNvSpPr txBox="1"/>
          <p:nvPr/>
        </p:nvSpPr>
        <p:spPr>
          <a:xfrm>
            <a:off x="640080" y="5925312"/>
            <a:ext cx="10908792" cy="320040"/>
          </a:xfrm>
          <a:prstGeom prst="rect">
            <a:avLst/>
          </a:prstGeom>
          <a:noFill/>
        </p:spPr>
        <p:txBody>
          <a:bodyPr wrap="square" anchor="t" lIns="0" rIns="0" tIns="0" bIns="0">
            <a:spAutoFit/>
          </a:bodyPr>
          <a:lstStyle/>
          <a:p>
            <a:pPr algn="l">
              <a:spcBef>
                <a:spcPts val="0"/>
              </a:spcBef>
              <a:spcAft>
                <a:spcPts val="0"/>
              </a:spcAft>
            </a:pPr>
            <a:r>
              <a:rPr sz="850" b="0" i="1">
                <a:solidFill>
                  <a:srgbClr val="869397"/>
                </a:solidFill>
                <a:latin typeface="Aptos"/>
                <a:cs typeface="Aptos"/>
              </a:rPr>
              <a:t>Source: Locked Board Strategy Narrative v8. Financial figures to be populated by Finance before Board circulation.</a:t>
            </a:r>
          </a:p>
        </p:txBody>
      </p:sp>
      <p:sp>
        <p:nvSpPr>
          <p:cNvPr id="31" name="TextBox 30"/>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32" name="TextBox 31"/>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14</a:t>
            </a:r>
          </a:p>
        </p:txBody>
      </p:sp>
      <p:pic>
        <p:nvPicPr>
          <p:cNvPr id="33" name="Picture 32"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12 · Conrad Seoul illustration</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Conrad Seoul illustrates the sequencing of warehousing, execution and institutional capital formation.</a:t>
            </a:r>
          </a:p>
        </p:txBody>
      </p:sp>
      <p:sp>
        <p:nvSpPr>
          <p:cNvPr id="5" name="TextBox 4"/>
          <p:cNvSpPr txBox="1"/>
          <p:nvPr/>
        </p:nvSpPr>
        <p:spPr>
          <a:xfrm>
            <a:off x="640080" y="1517904"/>
            <a:ext cx="10908792" cy="548640"/>
          </a:xfrm>
          <a:prstGeom prst="rect">
            <a:avLst/>
          </a:prstGeom>
          <a:noFill/>
        </p:spPr>
        <p:txBody>
          <a:bodyPr wrap="square" anchor="t" lIns="0" rIns="0" tIns="0" bIns="0">
            <a:spAutoFit/>
          </a:bodyPr>
          <a:lstStyle/>
          <a:p>
            <a:pPr algn="l">
              <a:lnSpc>
                <a:spcPct val="124000"/>
              </a:lnSpc>
              <a:spcBef>
                <a:spcPts val="0"/>
              </a:spcBef>
              <a:spcAft>
                <a:spcPts val="0"/>
              </a:spcAft>
            </a:pPr>
            <a:r>
              <a:rPr sz="1250" b="0" i="0">
                <a:solidFill>
                  <a:srgbClr val="35464F"/>
                </a:solidFill>
                <a:latin typeface="Aptos"/>
                <a:cs typeface="Aptos"/>
              </a:rPr>
              <a:t>Sponsor-supported capital enabled the transaction to be secured and completed. Following acquisition, Aravest brought in institutional investors, including GIC and M&amp;G, allowing capital to be recycled while the platform retained the management relationship and strengthened its investment record.</a:t>
            </a:r>
          </a:p>
        </p:txBody>
      </p:sp>
      <p:sp>
        <p:nvSpPr>
          <p:cNvPr id="6" name="Rounded Rectangle 5"/>
          <p:cNvSpPr/>
          <p:nvPr/>
        </p:nvSpPr>
        <p:spPr>
          <a:xfrm>
            <a:off x="640080" y="2395728"/>
            <a:ext cx="1938528" cy="1188720"/>
          </a:xfrm>
          <a:prstGeom prst="roundRect">
            <a:avLst>
              <a:gd name="adj" fmla="val 69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514600"/>
            <a:ext cx="1645920" cy="960120"/>
          </a:xfrm>
          <a:prstGeom prst="rect">
            <a:avLst/>
          </a:prstGeom>
          <a:noFill/>
        </p:spPr>
        <p:txBody>
          <a:bodyPr wrap="square" anchor="t" lIns="0" rIns="0" tIns="0" bIns="0">
            <a:spAutoFit/>
          </a:bodyPr>
          <a:lstStyle/>
          <a:p>
            <a:pPr algn="l">
              <a:spcBef>
                <a:spcPts val="0"/>
              </a:spcBef>
              <a:spcAft>
                <a:spcPts val="300"/>
              </a:spcAft>
            </a:pPr>
            <a:r>
              <a:rPr sz="1000" b="1" i="0" spc="120">
                <a:solidFill>
                  <a:srgbClr val="869397"/>
                </a:solidFill>
                <a:latin typeface="Aptos"/>
                <a:cs typeface="Aptos"/>
              </a:rPr>
              <a:t>01</a:t>
            </a:r>
          </a:p>
          <a:p>
            <a:pPr algn="l">
              <a:lnSpc>
                <a:spcPct val="108000"/>
              </a:lnSpc>
              <a:spcBef>
                <a:spcPts val="0"/>
              </a:spcBef>
              <a:spcAft>
                <a:spcPts val="0"/>
              </a:spcAft>
            </a:pPr>
            <a:r>
              <a:rPr sz="1250" b="0" i="0">
                <a:solidFill>
                  <a:srgbClr val="002B5C"/>
                </a:solidFill>
                <a:latin typeface="Aptos Display"/>
                <a:cs typeface="Aptos Display"/>
              </a:rPr>
              <a:t>Secure opportunity</a:t>
            </a:r>
          </a:p>
        </p:txBody>
      </p:sp>
      <p:sp>
        <p:nvSpPr>
          <p:cNvPr id="8" name="TextBox 7"/>
          <p:cNvSpPr txBox="1"/>
          <p:nvPr/>
        </p:nvSpPr>
        <p:spPr>
          <a:xfrm>
            <a:off x="2578608" y="2807208"/>
            <a:ext cx="304038" cy="365760"/>
          </a:xfrm>
          <a:prstGeom prst="rect">
            <a:avLst/>
          </a:prstGeom>
          <a:noFill/>
        </p:spPr>
        <p:txBody>
          <a:bodyPr wrap="square" anchor="ctr" lIns="0" rIns="0" tIns="0" bIns="0">
            <a:spAutoFit/>
          </a:bodyPr>
          <a:lstStyle/>
          <a:p>
            <a:pPr algn="ctr">
              <a:spcBef>
                <a:spcPts val="0"/>
              </a:spcBef>
              <a:spcAft>
                <a:spcPts val="0"/>
              </a:spcAft>
            </a:pPr>
            <a:r>
              <a:rPr sz="1400" b="0" i="0">
                <a:solidFill>
                  <a:srgbClr val="35464F"/>
                </a:solidFill>
                <a:latin typeface="Aptos"/>
                <a:cs typeface="Aptos"/>
              </a:rPr>
              <a:t>→</a:t>
            </a:r>
          </a:p>
        </p:txBody>
      </p:sp>
      <p:sp>
        <p:nvSpPr>
          <p:cNvPr id="9" name="Rounded Rectangle 8"/>
          <p:cNvSpPr/>
          <p:nvPr/>
        </p:nvSpPr>
        <p:spPr>
          <a:xfrm>
            <a:off x="2882646" y="2395728"/>
            <a:ext cx="1938528" cy="1188720"/>
          </a:xfrm>
          <a:prstGeom prst="roundRect">
            <a:avLst>
              <a:gd name="adj" fmla="val 69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8950" y="2514600"/>
            <a:ext cx="1645920" cy="960120"/>
          </a:xfrm>
          <a:prstGeom prst="rect">
            <a:avLst/>
          </a:prstGeom>
          <a:noFill/>
        </p:spPr>
        <p:txBody>
          <a:bodyPr wrap="square" anchor="t" lIns="0" rIns="0" tIns="0" bIns="0">
            <a:spAutoFit/>
          </a:bodyPr>
          <a:lstStyle/>
          <a:p>
            <a:pPr algn="l">
              <a:spcBef>
                <a:spcPts val="0"/>
              </a:spcBef>
              <a:spcAft>
                <a:spcPts val="300"/>
              </a:spcAft>
            </a:pPr>
            <a:r>
              <a:rPr sz="1000" b="1" i="0" spc="120">
                <a:solidFill>
                  <a:srgbClr val="869397"/>
                </a:solidFill>
                <a:latin typeface="Aptos"/>
                <a:cs typeface="Aptos"/>
              </a:rPr>
              <a:t>02</a:t>
            </a:r>
          </a:p>
          <a:p>
            <a:pPr algn="l">
              <a:lnSpc>
                <a:spcPct val="108000"/>
              </a:lnSpc>
              <a:spcBef>
                <a:spcPts val="0"/>
              </a:spcBef>
              <a:spcAft>
                <a:spcPts val="0"/>
              </a:spcAft>
            </a:pPr>
            <a:r>
              <a:rPr sz="1250" b="0" i="0">
                <a:solidFill>
                  <a:srgbClr val="002B5C"/>
                </a:solidFill>
                <a:latin typeface="Aptos Display"/>
                <a:cs typeface="Aptos Display"/>
              </a:rPr>
              <a:t>Warehouse with sponsor support</a:t>
            </a:r>
          </a:p>
        </p:txBody>
      </p:sp>
      <p:sp>
        <p:nvSpPr>
          <p:cNvPr id="11" name="TextBox 10"/>
          <p:cNvSpPr txBox="1"/>
          <p:nvPr/>
        </p:nvSpPr>
        <p:spPr>
          <a:xfrm>
            <a:off x="4821174" y="2807208"/>
            <a:ext cx="304038" cy="365760"/>
          </a:xfrm>
          <a:prstGeom prst="rect">
            <a:avLst/>
          </a:prstGeom>
          <a:noFill/>
        </p:spPr>
        <p:txBody>
          <a:bodyPr wrap="square" anchor="ctr" lIns="0" rIns="0" tIns="0" bIns="0">
            <a:spAutoFit/>
          </a:bodyPr>
          <a:lstStyle/>
          <a:p>
            <a:pPr algn="ctr">
              <a:spcBef>
                <a:spcPts val="0"/>
              </a:spcBef>
              <a:spcAft>
                <a:spcPts val="0"/>
              </a:spcAft>
            </a:pPr>
            <a:r>
              <a:rPr sz="1400" b="0" i="0">
                <a:solidFill>
                  <a:srgbClr val="35464F"/>
                </a:solidFill>
                <a:latin typeface="Aptos"/>
                <a:cs typeface="Aptos"/>
              </a:rPr>
              <a:t>→</a:t>
            </a:r>
          </a:p>
        </p:txBody>
      </p:sp>
      <p:sp>
        <p:nvSpPr>
          <p:cNvPr id="12" name="Rounded Rectangle 11"/>
          <p:cNvSpPr/>
          <p:nvPr/>
        </p:nvSpPr>
        <p:spPr>
          <a:xfrm>
            <a:off x="5125212" y="2395728"/>
            <a:ext cx="1938528" cy="1188720"/>
          </a:xfrm>
          <a:prstGeom prst="roundRect">
            <a:avLst>
              <a:gd name="adj" fmla="val 69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1516" y="2514600"/>
            <a:ext cx="1645920" cy="960120"/>
          </a:xfrm>
          <a:prstGeom prst="rect">
            <a:avLst/>
          </a:prstGeom>
          <a:noFill/>
        </p:spPr>
        <p:txBody>
          <a:bodyPr wrap="square" anchor="t" lIns="0" rIns="0" tIns="0" bIns="0">
            <a:spAutoFit/>
          </a:bodyPr>
          <a:lstStyle/>
          <a:p>
            <a:pPr algn="l">
              <a:spcBef>
                <a:spcPts val="0"/>
              </a:spcBef>
              <a:spcAft>
                <a:spcPts val="300"/>
              </a:spcAft>
            </a:pPr>
            <a:r>
              <a:rPr sz="1000" b="1" i="0" spc="120">
                <a:solidFill>
                  <a:srgbClr val="869397"/>
                </a:solidFill>
                <a:latin typeface="Aptos"/>
                <a:cs typeface="Aptos"/>
              </a:rPr>
              <a:t>03</a:t>
            </a:r>
          </a:p>
          <a:p>
            <a:pPr algn="l">
              <a:lnSpc>
                <a:spcPct val="108000"/>
              </a:lnSpc>
              <a:spcBef>
                <a:spcPts val="0"/>
              </a:spcBef>
              <a:spcAft>
                <a:spcPts val="0"/>
              </a:spcAft>
            </a:pPr>
            <a:r>
              <a:rPr sz="1250" b="0" i="0">
                <a:solidFill>
                  <a:srgbClr val="002B5C"/>
                </a:solidFill>
                <a:latin typeface="Aptos Display"/>
                <a:cs typeface="Aptos Display"/>
              </a:rPr>
              <a:t>Execute and establish confidence</a:t>
            </a:r>
          </a:p>
        </p:txBody>
      </p:sp>
      <p:sp>
        <p:nvSpPr>
          <p:cNvPr id="14" name="TextBox 13"/>
          <p:cNvSpPr txBox="1"/>
          <p:nvPr/>
        </p:nvSpPr>
        <p:spPr>
          <a:xfrm>
            <a:off x="7063740" y="2807208"/>
            <a:ext cx="304038" cy="365760"/>
          </a:xfrm>
          <a:prstGeom prst="rect">
            <a:avLst/>
          </a:prstGeom>
          <a:noFill/>
        </p:spPr>
        <p:txBody>
          <a:bodyPr wrap="square" anchor="ctr" lIns="0" rIns="0" tIns="0" bIns="0">
            <a:spAutoFit/>
          </a:bodyPr>
          <a:lstStyle/>
          <a:p>
            <a:pPr algn="ctr">
              <a:spcBef>
                <a:spcPts val="0"/>
              </a:spcBef>
              <a:spcAft>
                <a:spcPts val="0"/>
              </a:spcAft>
            </a:pPr>
            <a:r>
              <a:rPr sz="1400" b="0" i="0">
                <a:solidFill>
                  <a:srgbClr val="35464F"/>
                </a:solidFill>
                <a:latin typeface="Aptos"/>
                <a:cs typeface="Aptos"/>
              </a:rPr>
              <a:t>→</a:t>
            </a:r>
          </a:p>
        </p:txBody>
      </p:sp>
      <p:sp>
        <p:nvSpPr>
          <p:cNvPr id="15" name="Rounded Rectangle 14"/>
          <p:cNvSpPr/>
          <p:nvPr/>
        </p:nvSpPr>
        <p:spPr>
          <a:xfrm>
            <a:off x="7367778" y="2395728"/>
            <a:ext cx="1938528" cy="1188720"/>
          </a:xfrm>
          <a:prstGeom prst="roundRect">
            <a:avLst>
              <a:gd name="adj" fmla="val 6923"/>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4082" y="2514600"/>
            <a:ext cx="1645920" cy="960120"/>
          </a:xfrm>
          <a:prstGeom prst="rect">
            <a:avLst/>
          </a:prstGeom>
          <a:noFill/>
        </p:spPr>
        <p:txBody>
          <a:bodyPr wrap="square" anchor="t" lIns="0" rIns="0" tIns="0" bIns="0">
            <a:spAutoFit/>
          </a:bodyPr>
          <a:lstStyle/>
          <a:p>
            <a:pPr algn="l">
              <a:spcBef>
                <a:spcPts val="0"/>
              </a:spcBef>
              <a:spcAft>
                <a:spcPts val="300"/>
              </a:spcAft>
            </a:pPr>
            <a:r>
              <a:rPr sz="1000" b="1" i="0" spc="120">
                <a:solidFill>
                  <a:srgbClr val="008080"/>
                </a:solidFill>
                <a:latin typeface="Aptos"/>
                <a:cs typeface="Aptos"/>
              </a:rPr>
              <a:t>04</a:t>
            </a:r>
          </a:p>
          <a:p>
            <a:pPr algn="l">
              <a:lnSpc>
                <a:spcPct val="108000"/>
              </a:lnSpc>
              <a:spcBef>
                <a:spcPts val="0"/>
              </a:spcBef>
              <a:spcAft>
                <a:spcPts val="0"/>
              </a:spcAft>
            </a:pPr>
            <a:r>
              <a:rPr sz="1250" b="0" i="0">
                <a:solidFill>
                  <a:srgbClr val="002B5C"/>
                </a:solidFill>
                <a:latin typeface="Aptos Display"/>
                <a:cs typeface="Aptos Display"/>
              </a:rPr>
              <a:t>Introduce institutional capital</a:t>
            </a:r>
          </a:p>
        </p:txBody>
      </p:sp>
      <p:sp>
        <p:nvSpPr>
          <p:cNvPr id="17" name="TextBox 16"/>
          <p:cNvSpPr txBox="1"/>
          <p:nvPr/>
        </p:nvSpPr>
        <p:spPr>
          <a:xfrm>
            <a:off x="9306306" y="2807208"/>
            <a:ext cx="304038" cy="365760"/>
          </a:xfrm>
          <a:prstGeom prst="rect">
            <a:avLst/>
          </a:prstGeom>
          <a:noFill/>
        </p:spPr>
        <p:txBody>
          <a:bodyPr wrap="square" anchor="ctr" lIns="0" rIns="0" tIns="0" bIns="0">
            <a:spAutoFit/>
          </a:bodyPr>
          <a:lstStyle/>
          <a:p>
            <a:pPr algn="ctr">
              <a:spcBef>
                <a:spcPts val="0"/>
              </a:spcBef>
              <a:spcAft>
                <a:spcPts val="0"/>
              </a:spcAft>
            </a:pPr>
            <a:r>
              <a:rPr sz="1400" b="0" i="0">
                <a:solidFill>
                  <a:srgbClr val="35464F"/>
                </a:solidFill>
                <a:latin typeface="Aptos"/>
                <a:cs typeface="Aptos"/>
              </a:rPr>
              <a:t>→</a:t>
            </a:r>
          </a:p>
        </p:txBody>
      </p:sp>
      <p:sp>
        <p:nvSpPr>
          <p:cNvPr id="18" name="Rounded Rectangle 17"/>
          <p:cNvSpPr/>
          <p:nvPr/>
        </p:nvSpPr>
        <p:spPr>
          <a:xfrm>
            <a:off x="9610344" y="2395728"/>
            <a:ext cx="1938528" cy="1188720"/>
          </a:xfrm>
          <a:prstGeom prst="roundRect">
            <a:avLst>
              <a:gd name="adj" fmla="val 6923"/>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56648" y="2514600"/>
            <a:ext cx="1645920" cy="960120"/>
          </a:xfrm>
          <a:prstGeom prst="rect">
            <a:avLst/>
          </a:prstGeom>
          <a:noFill/>
        </p:spPr>
        <p:txBody>
          <a:bodyPr wrap="square" anchor="t" lIns="0" rIns="0" tIns="0" bIns="0">
            <a:spAutoFit/>
          </a:bodyPr>
          <a:lstStyle/>
          <a:p>
            <a:pPr algn="l">
              <a:spcBef>
                <a:spcPts val="0"/>
              </a:spcBef>
              <a:spcAft>
                <a:spcPts val="300"/>
              </a:spcAft>
            </a:pPr>
            <a:r>
              <a:rPr sz="1000" b="1" i="0" spc="120">
                <a:solidFill>
                  <a:srgbClr val="008080"/>
                </a:solidFill>
                <a:latin typeface="Aptos"/>
                <a:cs typeface="Aptos"/>
              </a:rPr>
              <a:t>05</a:t>
            </a:r>
          </a:p>
          <a:p>
            <a:pPr algn="l">
              <a:lnSpc>
                <a:spcPct val="108000"/>
              </a:lnSpc>
              <a:spcBef>
                <a:spcPts val="0"/>
              </a:spcBef>
              <a:spcAft>
                <a:spcPts val="0"/>
              </a:spcAft>
            </a:pPr>
            <a:r>
              <a:rPr sz="1250" b="0" i="0">
                <a:solidFill>
                  <a:srgbClr val="002B5C"/>
                </a:solidFill>
                <a:latin typeface="Aptos Display"/>
                <a:cs typeface="Aptos Display"/>
              </a:rPr>
              <a:t>Recycle capital and build proof</a:t>
            </a:r>
          </a:p>
        </p:txBody>
      </p:sp>
      <p:sp>
        <p:nvSpPr>
          <p:cNvPr id="20" name="Rounded Rectangle 19"/>
          <p:cNvSpPr/>
          <p:nvPr/>
        </p:nvSpPr>
        <p:spPr>
          <a:xfrm>
            <a:off x="640080" y="3840480"/>
            <a:ext cx="5303520" cy="2057400"/>
          </a:xfrm>
          <a:prstGeom prst="roundRect">
            <a:avLst>
              <a:gd name="adj" fmla="val 4000"/>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1248" y="3840480"/>
            <a:ext cx="4901184"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3977640"/>
            <a:ext cx="4828032" cy="1783080"/>
          </a:xfrm>
          <a:prstGeom prst="rect">
            <a:avLst/>
          </a:prstGeom>
          <a:noFill/>
        </p:spPr>
        <p:txBody>
          <a:bodyPr wrap="square" anchor="t" lIns="0" rIns="0" tIns="0" bIns="0">
            <a:spAutoFit/>
          </a:bodyPr>
          <a:lstStyle/>
          <a:p>
            <a:pPr algn="l">
              <a:spcBef>
                <a:spcPts val="0"/>
              </a:spcBef>
              <a:spcAft>
                <a:spcPts val="600"/>
              </a:spcAft>
            </a:pPr>
            <a:r>
              <a:rPr sz="950" b="1" i="0" spc="110">
                <a:solidFill>
                  <a:srgbClr val="008080"/>
                </a:solidFill>
                <a:latin typeface="Aptos"/>
                <a:cs typeface="Aptos"/>
              </a:rPr>
              <a:t>WHAT THE CASE DEMONSTRATES</a:t>
            </a:r>
          </a:p>
          <a:p>
            <a:pPr algn="l">
              <a:lnSpc>
                <a:spcPct val="116000"/>
              </a:lnSpc>
              <a:spcBef>
                <a:spcPts val="0"/>
              </a:spcBef>
              <a:spcAft>
                <a:spcPts val="500"/>
              </a:spcAft>
            </a:pPr>
            <a:r>
              <a:rPr sz="1150" b="0" i="0">
                <a:solidFill>
                  <a:srgbClr val="35464F"/>
                </a:solidFill>
                <a:latin typeface="Aptos"/>
                <a:cs typeface="Aptos"/>
              </a:rPr>
              <a:t>Warehousing can provide the transaction certainty required to secure a significant opportunity.</a:t>
            </a:r>
          </a:p>
          <a:p>
            <a:pPr algn="l">
              <a:lnSpc>
                <a:spcPct val="116000"/>
              </a:lnSpc>
              <a:spcBef>
                <a:spcPts val="0"/>
              </a:spcBef>
              <a:spcAft>
                <a:spcPts val="500"/>
              </a:spcAft>
            </a:pPr>
            <a:r>
              <a:rPr sz="1150" b="0" i="0">
                <a:solidFill>
                  <a:srgbClr val="35464F"/>
                </a:solidFill>
                <a:latin typeface="Aptos"/>
                <a:cs typeface="Aptos"/>
              </a:rPr>
              <a:t>A secured and executed transaction gives institutional investors a more tangible basis for participation.</a:t>
            </a:r>
          </a:p>
          <a:p>
            <a:pPr algn="l">
              <a:lnSpc>
                <a:spcPct val="116000"/>
              </a:lnSpc>
              <a:spcBef>
                <a:spcPts val="0"/>
              </a:spcBef>
              <a:spcAft>
                <a:spcPts val="500"/>
              </a:spcAft>
            </a:pPr>
            <a:r>
              <a:rPr sz="1150" b="0" i="0">
                <a:solidFill>
                  <a:srgbClr val="35464F"/>
                </a:solidFill>
                <a:latin typeface="Aptos"/>
                <a:cs typeface="Aptos"/>
              </a:rPr>
              <a:t>Subsequent institutional capital can release sponsor capital and strengthen the post-SMFL track record.</a:t>
            </a:r>
          </a:p>
          <a:p>
            <a:pPr algn="l">
              <a:lnSpc>
                <a:spcPct val="116000"/>
              </a:lnSpc>
              <a:spcBef>
                <a:spcPts val="0"/>
              </a:spcBef>
              <a:spcAft>
                <a:spcPts val="500"/>
              </a:spcAft>
            </a:pPr>
            <a:r>
              <a:rPr sz="1150" b="0" i="0">
                <a:solidFill>
                  <a:srgbClr val="35464F"/>
                </a:solidFill>
                <a:latin typeface="Aptos"/>
                <a:cs typeface="Aptos"/>
              </a:rPr>
              <a:t>The management relationship and institutional credibility can extend beyond the initial capital deployment.</a:t>
            </a:r>
          </a:p>
        </p:txBody>
      </p:sp>
      <p:sp>
        <p:nvSpPr>
          <p:cNvPr id="23" name="Rounded Rectangle 22"/>
          <p:cNvSpPr/>
          <p:nvPr/>
        </p:nvSpPr>
        <p:spPr>
          <a:xfrm>
            <a:off x="6245352" y="3840480"/>
            <a:ext cx="5303520" cy="2057400"/>
          </a:xfrm>
          <a:prstGeom prst="roundRect">
            <a:avLst>
              <a:gd name="adj" fmla="val 4000"/>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46520" y="3840480"/>
            <a:ext cx="4901184"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3096" y="3977640"/>
            <a:ext cx="4828032" cy="1783080"/>
          </a:xfrm>
          <a:prstGeom prst="rect">
            <a:avLst/>
          </a:prstGeom>
          <a:noFill/>
        </p:spPr>
        <p:txBody>
          <a:bodyPr wrap="square" anchor="t" lIns="0" rIns="0" tIns="0" bIns="0">
            <a:spAutoFit/>
          </a:bodyPr>
          <a:lstStyle/>
          <a:p>
            <a:pPr algn="l">
              <a:spcBef>
                <a:spcPts val="0"/>
              </a:spcBef>
              <a:spcAft>
                <a:spcPts val="600"/>
              </a:spcAft>
            </a:pPr>
            <a:r>
              <a:rPr sz="950" b="1" i="0" spc="110">
                <a:solidFill>
                  <a:srgbClr val="35464F"/>
                </a:solidFill>
                <a:latin typeface="Aptos"/>
                <a:cs typeface="Aptos"/>
              </a:rPr>
              <a:t>HOW THE EXAMPLE SHOULD BE UNDERSTOOD</a:t>
            </a:r>
          </a:p>
          <a:p>
            <a:pPr algn="l">
              <a:lnSpc>
                <a:spcPct val="116000"/>
              </a:lnSpc>
              <a:spcBef>
                <a:spcPts val="0"/>
              </a:spcBef>
              <a:spcAft>
                <a:spcPts val="500"/>
              </a:spcAft>
            </a:pPr>
            <a:r>
              <a:rPr sz="1150" b="0" i="0">
                <a:solidFill>
                  <a:srgbClr val="35464F"/>
                </a:solidFill>
                <a:latin typeface="Aptos"/>
                <a:cs typeface="Aptos"/>
              </a:rPr>
              <a:t>The sequence demonstrates an available model, not an assured timetable for every transaction.</a:t>
            </a:r>
          </a:p>
          <a:p>
            <a:pPr algn="l">
              <a:lnSpc>
                <a:spcPct val="116000"/>
              </a:lnSpc>
              <a:spcBef>
                <a:spcPts val="0"/>
              </a:spcBef>
              <a:spcAft>
                <a:spcPts val="500"/>
              </a:spcAft>
            </a:pPr>
            <a:r>
              <a:rPr sz="1150" b="0" i="0">
                <a:solidFill>
                  <a:srgbClr val="35464F"/>
                </a:solidFill>
                <a:latin typeface="Aptos"/>
                <a:cs typeface="Aptos"/>
              </a:rPr>
              <a:t>The sponsor may need to retain the investment for longer if external capital takes time to form.</a:t>
            </a:r>
          </a:p>
          <a:p>
            <a:pPr algn="l">
              <a:lnSpc>
                <a:spcPct val="116000"/>
              </a:lnSpc>
              <a:spcBef>
                <a:spcPts val="0"/>
              </a:spcBef>
              <a:spcAft>
                <a:spcPts val="500"/>
              </a:spcAft>
            </a:pPr>
            <a:r>
              <a:rPr sz="1150" b="0" i="0">
                <a:solidFill>
                  <a:srgbClr val="35464F"/>
                </a:solidFill>
                <a:latin typeface="Aptos"/>
                <a:cs typeface="Aptos"/>
              </a:rPr>
              <a:t>The case illustrates why transaction execution can precede, rather than follow, institutional capital formation.</a:t>
            </a:r>
          </a:p>
        </p:txBody>
      </p:sp>
      <p:sp>
        <p:nvSpPr>
          <p:cNvPr id="26" name="TextBox 25"/>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7" name="TextBox 26"/>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15</a:t>
            </a:r>
          </a:p>
        </p:txBody>
      </p:sp>
      <p:pic>
        <p:nvPicPr>
          <p:cNvPr id="28" name="Picture 27"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13 · Current pipeline</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Current opportunities illustrate how the two pathways may develop in practice.</a:t>
            </a:r>
          </a:p>
        </p:txBody>
      </p:sp>
      <p:sp>
        <p:nvSpPr>
          <p:cNvPr id="5" name="TextBox 4"/>
          <p:cNvSpPr txBox="1"/>
          <p:nvPr/>
        </p:nvSpPr>
        <p:spPr>
          <a:xfrm>
            <a:off x="932688" y="1554480"/>
            <a:ext cx="278892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STRATEGIC ROLE</a:t>
            </a:r>
          </a:p>
        </p:txBody>
      </p:sp>
      <p:sp>
        <p:nvSpPr>
          <p:cNvPr id="6" name="TextBox 5"/>
          <p:cNvSpPr txBox="1"/>
          <p:nvPr/>
        </p:nvSpPr>
        <p:spPr>
          <a:xfrm>
            <a:off x="3950208" y="1554480"/>
            <a:ext cx="3977639"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ILLUSTRATIVE OPPORTUNITIES</a:t>
            </a:r>
          </a:p>
        </p:txBody>
      </p:sp>
      <p:sp>
        <p:nvSpPr>
          <p:cNvPr id="7" name="TextBox 6"/>
          <p:cNvSpPr txBox="1"/>
          <p:nvPr/>
        </p:nvSpPr>
        <p:spPr>
          <a:xfrm>
            <a:off x="8202168" y="1554480"/>
            <a:ext cx="315468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CONNECTION TO THE PATHWAY</a:t>
            </a:r>
          </a:p>
        </p:txBody>
      </p:sp>
      <p:sp>
        <p:nvSpPr>
          <p:cNvPr id="8" name="Rounded Rectangle 7"/>
          <p:cNvSpPr/>
          <p:nvPr/>
        </p:nvSpPr>
        <p:spPr>
          <a:xfrm>
            <a:off x="640080" y="1920240"/>
            <a:ext cx="10908792" cy="1225296"/>
          </a:xfrm>
          <a:prstGeom prst="roundRect">
            <a:avLst>
              <a:gd name="adj" fmla="val 6716"/>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084832"/>
            <a:ext cx="38100" cy="896112"/>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103120"/>
            <a:ext cx="2788920" cy="859536"/>
          </a:xfrm>
          <a:prstGeom prst="rect">
            <a:avLst/>
          </a:prstGeom>
          <a:noFill/>
        </p:spPr>
        <p:txBody>
          <a:bodyPr wrap="square" anchor="t" lIns="0" rIns="0" tIns="0" bIns="0">
            <a:spAutoFit/>
          </a:bodyPr>
          <a:lstStyle/>
          <a:p>
            <a:pPr algn="l">
              <a:lnSpc>
                <a:spcPct val="105000"/>
              </a:lnSpc>
              <a:spcBef>
                <a:spcPts val="0"/>
              </a:spcBef>
              <a:spcAft>
                <a:spcPts val="500"/>
              </a:spcAft>
            </a:pPr>
            <a:r>
              <a:rPr sz="1400" b="0" i="0">
                <a:solidFill>
                  <a:srgbClr val="002B5C"/>
                </a:solidFill>
                <a:latin typeface="Aptos Display"/>
                <a:cs typeface="Aptos Display"/>
              </a:rPr>
              <a:t>Institutional-scale opportunity</a:t>
            </a:r>
          </a:p>
          <a:p>
            <a:pPr algn="l">
              <a:spcBef>
                <a:spcPts val="0"/>
              </a:spcBef>
              <a:spcAft>
                <a:spcPts val="0"/>
              </a:spcAft>
            </a:pPr>
            <a:r>
              <a:rPr sz="950" b="1" i="0" spc="120">
                <a:solidFill>
                  <a:srgbClr val="4682B4"/>
                </a:solidFill>
                <a:latin typeface="Aptos"/>
                <a:cs typeface="Aptos"/>
              </a:rPr>
              <a:t>PATHWAY 2</a:t>
            </a:r>
          </a:p>
        </p:txBody>
      </p:sp>
      <p:sp>
        <p:nvSpPr>
          <p:cNvPr id="11" name="TextBox 10"/>
          <p:cNvSpPr txBox="1"/>
          <p:nvPr/>
        </p:nvSpPr>
        <p:spPr>
          <a:xfrm>
            <a:off x="3950208" y="2121408"/>
            <a:ext cx="3977639"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Marina One and other selected large opportunities.</a:t>
            </a:r>
          </a:p>
        </p:txBody>
      </p:sp>
      <p:sp>
        <p:nvSpPr>
          <p:cNvPr id="12" name="TextBox 11"/>
          <p:cNvSpPr txBox="1"/>
          <p:nvPr/>
        </p:nvSpPr>
        <p:spPr>
          <a:xfrm>
            <a:off x="8202168" y="2121408"/>
            <a:ext cx="3154680"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Potential to create a material increase in AUM, institutional relevance and market visibility.</a:t>
            </a:r>
          </a:p>
        </p:txBody>
      </p:sp>
      <p:sp>
        <p:nvSpPr>
          <p:cNvPr id="13" name="Rounded Rectangle 12"/>
          <p:cNvSpPr/>
          <p:nvPr/>
        </p:nvSpPr>
        <p:spPr>
          <a:xfrm>
            <a:off x="640080" y="3291840"/>
            <a:ext cx="10908792" cy="1225296"/>
          </a:xfrm>
          <a:prstGeom prst="roundRect">
            <a:avLst>
              <a:gd name="adj" fmla="val 671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456432"/>
            <a:ext cx="38100" cy="8961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474720"/>
            <a:ext cx="2788920" cy="859536"/>
          </a:xfrm>
          <a:prstGeom prst="rect">
            <a:avLst/>
          </a:prstGeom>
          <a:noFill/>
        </p:spPr>
        <p:txBody>
          <a:bodyPr wrap="square" anchor="t" lIns="0" rIns="0" tIns="0" bIns="0">
            <a:spAutoFit/>
          </a:bodyPr>
          <a:lstStyle/>
          <a:p>
            <a:pPr algn="l">
              <a:lnSpc>
                <a:spcPct val="105000"/>
              </a:lnSpc>
              <a:spcBef>
                <a:spcPts val="0"/>
              </a:spcBef>
              <a:spcAft>
                <a:spcPts val="500"/>
              </a:spcAft>
            </a:pPr>
            <a:r>
              <a:rPr sz="1400" b="0" i="0">
                <a:solidFill>
                  <a:srgbClr val="002B5C"/>
                </a:solidFill>
                <a:latin typeface="Aptos Display"/>
                <a:cs typeface="Aptos Display"/>
              </a:rPr>
              <a:t>Portfolio building block</a:t>
            </a:r>
          </a:p>
          <a:p>
            <a:pPr algn="l">
              <a:spcBef>
                <a:spcPts val="0"/>
              </a:spcBef>
              <a:spcAft>
                <a:spcPts val="0"/>
              </a:spcAft>
            </a:pPr>
            <a:r>
              <a:rPr sz="950" b="1" i="0" spc="120">
                <a:solidFill>
                  <a:srgbClr val="008080"/>
                </a:solidFill>
                <a:latin typeface="Aptos"/>
                <a:cs typeface="Aptos"/>
              </a:rPr>
              <a:t>PATHWAY 1</a:t>
            </a:r>
          </a:p>
        </p:txBody>
      </p:sp>
      <p:sp>
        <p:nvSpPr>
          <p:cNvPr id="16" name="TextBox 15"/>
          <p:cNvSpPr txBox="1"/>
          <p:nvPr/>
        </p:nvSpPr>
        <p:spPr>
          <a:xfrm>
            <a:off x="3950208" y="3493008"/>
            <a:ext cx="3977639"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Project Guardian / PBSA and subsequent PBSA opportunities.</a:t>
            </a:r>
          </a:p>
        </p:txBody>
      </p:sp>
      <p:sp>
        <p:nvSpPr>
          <p:cNvPr id="17" name="TextBox 16"/>
          <p:cNvSpPr txBox="1"/>
          <p:nvPr/>
        </p:nvSpPr>
        <p:spPr>
          <a:xfrm>
            <a:off x="8202168" y="3493008"/>
            <a:ext cx="3154680"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Build a repeatable strategy through aggregation into a portfolio of institutional scale.</a:t>
            </a:r>
          </a:p>
        </p:txBody>
      </p:sp>
      <p:sp>
        <p:nvSpPr>
          <p:cNvPr id="18" name="Rounded Rectangle 17"/>
          <p:cNvSpPr/>
          <p:nvPr/>
        </p:nvSpPr>
        <p:spPr>
          <a:xfrm>
            <a:off x="640080" y="4663440"/>
            <a:ext cx="10908792" cy="1225296"/>
          </a:xfrm>
          <a:prstGeom prst="roundRect">
            <a:avLst>
              <a:gd name="adj" fmla="val 671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828032"/>
            <a:ext cx="38100" cy="8961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6320"/>
            <a:ext cx="2788920" cy="859536"/>
          </a:xfrm>
          <a:prstGeom prst="rect">
            <a:avLst/>
          </a:prstGeom>
          <a:noFill/>
        </p:spPr>
        <p:txBody>
          <a:bodyPr wrap="square" anchor="t" lIns="0" rIns="0" tIns="0" bIns="0">
            <a:spAutoFit/>
          </a:bodyPr>
          <a:lstStyle/>
          <a:p>
            <a:pPr algn="l">
              <a:lnSpc>
                <a:spcPct val="105000"/>
              </a:lnSpc>
              <a:spcBef>
                <a:spcPts val="0"/>
              </a:spcBef>
              <a:spcAft>
                <a:spcPts val="500"/>
              </a:spcAft>
            </a:pPr>
            <a:r>
              <a:rPr sz="1400" b="0" i="0">
                <a:solidFill>
                  <a:srgbClr val="002B5C"/>
                </a:solidFill>
                <a:latin typeface="Aptos Display"/>
                <a:cs typeface="Aptos Display"/>
              </a:rPr>
              <a:t>Track-record proof point</a:t>
            </a:r>
          </a:p>
          <a:p>
            <a:pPr algn="l">
              <a:spcBef>
                <a:spcPts val="0"/>
              </a:spcBef>
              <a:spcAft>
                <a:spcPts val="0"/>
              </a:spcAft>
            </a:pPr>
            <a:r>
              <a:rPr sz="950" b="1" i="0" spc="120">
                <a:solidFill>
                  <a:srgbClr val="008080"/>
                </a:solidFill>
                <a:latin typeface="Aptos"/>
                <a:cs typeface="Aptos"/>
              </a:rPr>
              <a:t>PATHWAY 1</a:t>
            </a:r>
          </a:p>
        </p:txBody>
      </p:sp>
      <p:sp>
        <p:nvSpPr>
          <p:cNvPr id="21" name="TextBox 20"/>
          <p:cNvSpPr txBox="1"/>
          <p:nvPr/>
        </p:nvSpPr>
        <p:spPr>
          <a:xfrm>
            <a:off x="3950208" y="4864608"/>
            <a:ext cx="3977639"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Courtyard by Marriott Suwon, ARA-NH Fund 2, Aberdeen / Shinyoung recapitalisation and other relevant transactions.</a:t>
            </a:r>
          </a:p>
        </p:txBody>
      </p:sp>
      <p:sp>
        <p:nvSpPr>
          <p:cNvPr id="22" name="TextBox 21"/>
          <p:cNvSpPr txBox="1"/>
          <p:nvPr/>
        </p:nvSpPr>
        <p:spPr>
          <a:xfrm>
            <a:off x="8202168" y="4864608"/>
            <a:ext cx="3154680"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Deepen post-SMFL execution evidence and create additional realisation or recycling pathways.</a:t>
            </a:r>
          </a:p>
        </p:txBody>
      </p:sp>
      <p:sp>
        <p:nvSpPr>
          <p:cNvPr id="23" name="TextBox 22"/>
          <p:cNvSpPr txBox="1"/>
          <p:nvPr/>
        </p:nvSpPr>
        <p:spPr>
          <a:xfrm>
            <a:off x="640080" y="6071616"/>
            <a:ext cx="10908792" cy="502920"/>
          </a:xfrm>
          <a:prstGeom prst="rect">
            <a:avLst/>
          </a:prstGeom>
          <a:noFill/>
        </p:spPr>
        <p:txBody>
          <a:bodyPr wrap="square" anchor="t" lIns="0" rIns="0" tIns="0" bIns="0">
            <a:spAutoFit/>
          </a:bodyPr>
          <a:lstStyle/>
          <a:p>
            <a:pPr algn="l">
              <a:lnSpc>
                <a:spcPct val="122000"/>
              </a:lnSpc>
              <a:spcBef>
                <a:spcPts val="0"/>
              </a:spcBef>
              <a:spcAft>
                <a:spcPts val="0"/>
              </a:spcAft>
            </a:pPr>
            <a:r>
              <a:rPr sz="900" b="0" i="1">
                <a:solidFill>
                  <a:srgbClr val="869397"/>
                </a:solidFill>
                <a:latin typeface="Aptos"/>
                <a:cs typeface="Aptos"/>
              </a:rPr>
              <a:t>Private credit is excluded as a core Aravest growth strategy, as it is an agreed SMDAM strategy with Aravest providing support where relevant. Transaction names, figures and status to be refreshed by the relevant transaction teams before Board circulation.</a:t>
            </a:r>
          </a:p>
        </p:txBody>
      </p:sp>
      <p:sp>
        <p:nvSpPr>
          <p:cNvPr id="24" name="TextBox 23"/>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5" name="TextBox 24"/>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16</a:t>
            </a:r>
          </a:p>
        </p:txBody>
      </p:sp>
      <p:pic>
        <p:nvPicPr>
          <p:cNvPr id="26" name="Picture 25"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14 · 2027 investment focus</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Our near-term focus combines established capabilities with selected areas of current market opportunity.</a:t>
            </a:r>
          </a:p>
        </p:txBody>
      </p:sp>
      <p:sp>
        <p:nvSpPr>
          <p:cNvPr id="5" name="TextBox 4"/>
          <p:cNvSpPr txBox="1"/>
          <p:nvPr/>
        </p:nvSpPr>
        <p:spPr>
          <a:xfrm>
            <a:off x="932688" y="1517904"/>
            <a:ext cx="301752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FOCUS</a:t>
            </a:r>
          </a:p>
        </p:txBody>
      </p:sp>
      <p:sp>
        <p:nvSpPr>
          <p:cNvPr id="6" name="TextBox 5"/>
          <p:cNvSpPr txBox="1"/>
          <p:nvPr/>
        </p:nvSpPr>
        <p:spPr>
          <a:xfrm>
            <a:off x="4206240" y="1517904"/>
            <a:ext cx="329184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2027 STRATEGIC ROLE</a:t>
            </a:r>
          </a:p>
        </p:txBody>
      </p:sp>
      <p:sp>
        <p:nvSpPr>
          <p:cNvPr id="7" name="TextBox 6"/>
          <p:cNvSpPr txBox="1"/>
          <p:nvPr/>
        </p:nvSpPr>
        <p:spPr>
          <a:xfrm>
            <a:off x="7772400" y="1517904"/>
            <a:ext cx="356616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HOW WE WILL APPROACH THEM</a:t>
            </a:r>
          </a:p>
        </p:txBody>
      </p:sp>
      <p:sp>
        <p:nvSpPr>
          <p:cNvPr id="8" name="Rounded Rectangle 7"/>
          <p:cNvSpPr/>
          <p:nvPr/>
        </p:nvSpPr>
        <p:spPr>
          <a:xfrm>
            <a:off x="640080" y="1865376"/>
            <a:ext cx="10908792"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11680"/>
            <a:ext cx="3017520" cy="932688"/>
          </a:xfrm>
          <a:prstGeom prst="rect">
            <a:avLst/>
          </a:prstGeom>
          <a:noFill/>
        </p:spPr>
        <p:txBody>
          <a:bodyPr wrap="square" anchor="t" lIns="0" rIns="0" tIns="0" bIns="0">
            <a:spAutoFit/>
          </a:bodyPr>
          <a:lstStyle/>
          <a:p>
            <a:pPr algn="l">
              <a:spcBef>
                <a:spcPts val="0"/>
              </a:spcBef>
              <a:spcAft>
                <a:spcPts val="300"/>
              </a:spcAft>
            </a:pPr>
            <a:r>
              <a:rPr sz="900" b="1" i="0" spc="90">
                <a:solidFill>
                  <a:srgbClr val="35464F"/>
                </a:solidFill>
                <a:latin typeface="Aptos"/>
                <a:cs typeface="Aptos"/>
              </a:rPr>
              <a:t>ESTABLISHED SECTORS</a:t>
            </a:r>
          </a:p>
          <a:p>
            <a:pPr algn="l">
              <a:lnSpc>
                <a:spcPct val="106000"/>
              </a:lnSpc>
              <a:spcBef>
                <a:spcPts val="0"/>
              </a:spcBef>
              <a:spcAft>
                <a:spcPts val="0"/>
              </a:spcAft>
            </a:pPr>
            <a:r>
              <a:rPr sz="1350" b="0" i="0">
                <a:solidFill>
                  <a:srgbClr val="002B5C"/>
                </a:solidFill>
                <a:latin typeface="Aptos Display"/>
                <a:cs typeface="Aptos Display"/>
              </a:rPr>
              <a:t>Office, logistics and selective retail or mixed-use</a:t>
            </a:r>
          </a:p>
        </p:txBody>
      </p:sp>
      <p:sp>
        <p:nvSpPr>
          <p:cNvPr id="10" name="TextBox 9"/>
          <p:cNvSpPr txBox="1"/>
          <p:nvPr/>
        </p:nvSpPr>
        <p:spPr>
          <a:xfrm>
            <a:off x="4206240" y="2011680"/>
            <a:ext cx="3291840" cy="932688"/>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Remain the principal investment base, supported by Aravest’s existing experience, local market knowledge and asset-management capabilities.</a:t>
            </a:r>
          </a:p>
        </p:txBody>
      </p:sp>
      <p:sp>
        <p:nvSpPr>
          <p:cNvPr id="11" name="TextBox 10"/>
          <p:cNvSpPr txBox="1"/>
          <p:nvPr/>
        </p:nvSpPr>
        <p:spPr>
          <a:xfrm>
            <a:off x="7772400" y="2011680"/>
            <a:ext cx="3566160" cy="932688"/>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Prioritise opportunities where repositioning, lease-up, AEI, redevelopment or market dislocation can create a clear and defensible value proposition.</a:t>
            </a:r>
          </a:p>
        </p:txBody>
      </p:sp>
      <p:sp>
        <p:nvSpPr>
          <p:cNvPr id="12" name="Rounded Rectangle 11"/>
          <p:cNvSpPr/>
          <p:nvPr/>
        </p:nvSpPr>
        <p:spPr>
          <a:xfrm>
            <a:off x="640080" y="3218688"/>
            <a:ext cx="10908792" cy="1225296"/>
          </a:xfrm>
          <a:prstGeom prst="roundRect">
            <a:avLst>
              <a:gd name="adj" fmla="val 671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383280"/>
            <a:ext cx="38100" cy="8961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364992"/>
            <a:ext cx="3017520" cy="932688"/>
          </a:xfrm>
          <a:prstGeom prst="rect">
            <a:avLst/>
          </a:prstGeom>
          <a:noFill/>
        </p:spPr>
        <p:txBody>
          <a:bodyPr wrap="square" anchor="t" lIns="0" rIns="0" tIns="0" bIns="0">
            <a:spAutoFit/>
          </a:bodyPr>
          <a:lstStyle/>
          <a:p>
            <a:pPr algn="l">
              <a:spcBef>
                <a:spcPts val="0"/>
              </a:spcBef>
              <a:spcAft>
                <a:spcPts val="300"/>
              </a:spcAft>
            </a:pPr>
            <a:r>
              <a:rPr sz="900" b="1" i="0" spc="90">
                <a:solidFill>
                  <a:srgbClr val="008080"/>
                </a:solidFill>
                <a:latin typeface="Aptos"/>
                <a:cs typeface="Aptos"/>
              </a:rPr>
              <a:t>CURRENT TARGET PRIORITIES</a:t>
            </a:r>
          </a:p>
          <a:p>
            <a:pPr algn="l">
              <a:lnSpc>
                <a:spcPct val="106000"/>
              </a:lnSpc>
              <a:spcBef>
                <a:spcPts val="0"/>
              </a:spcBef>
              <a:spcAft>
                <a:spcPts val="0"/>
              </a:spcAft>
            </a:pPr>
            <a:r>
              <a:rPr sz="1350" b="0" i="0">
                <a:solidFill>
                  <a:srgbClr val="002B5C"/>
                </a:solidFill>
                <a:latin typeface="Aptos Display"/>
                <a:cs typeface="Aptos Display"/>
              </a:rPr>
              <a:t>Hospitality and living</a:t>
            </a:r>
          </a:p>
        </p:txBody>
      </p:sp>
      <p:sp>
        <p:nvSpPr>
          <p:cNvPr id="15" name="TextBox 14"/>
          <p:cNvSpPr txBox="1"/>
          <p:nvPr/>
        </p:nvSpPr>
        <p:spPr>
          <a:xfrm>
            <a:off x="4206240" y="3364992"/>
            <a:ext cx="3291840" cy="932688"/>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Focus origination and capability development where current demand, market conditions and Aravest’s developing experience provide attractive opportunities.</a:t>
            </a:r>
          </a:p>
        </p:txBody>
      </p:sp>
      <p:sp>
        <p:nvSpPr>
          <p:cNvPr id="16" name="TextBox 15"/>
          <p:cNvSpPr txBox="1"/>
          <p:nvPr/>
        </p:nvSpPr>
        <p:spPr>
          <a:xfrm>
            <a:off x="7772400" y="3364992"/>
            <a:ext cx="3566160" cy="932688"/>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Pursue repeatable strategies with strong operating partners, clear demand drivers and a credible path from individual opportunities to institutional portfolios.</a:t>
            </a:r>
          </a:p>
        </p:txBody>
      </p:sp>
      <p:sp>
        <p:nvSpPr>
          <p:cNvPr id="17" name="Rounded Rectangle 16"/>
          <p:cNvSpPr/>
          <p:nvPr/>
        </p:nvSpPr>
        <p:spPr>
          <a:xfrm>
            <a:off x="640080" y="4572000"/>
            <a:ext cx="10908792"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4718304"/>
            <a:ext cx="3017520" cy="932688"/>
          </a:xfrm>
          <a:prstGeom prst="rect">
            <a:avLst/>
          </a:prstGeom>
          <a:noFill/>
        </p:spPr>
        <p:txBody>
          <a:bodyPr wrap="square" anchor="t" lIns="0" rIns="0" tIns="0" bIns="0">
            <a:spAutoFit/>
          </a:bodyPr>
          <a:lstStyle/>
          <a:p>
            <a:pPr algn="l">
              <a:spcBef>
                <a:spcPts val="0"/>
              </a:spcBef>
              <a:spcAft>
                <a:spcPts val="300"/>
              </a:spcAft>
            </a:pPr>
            <a:r>
              <a:rPr sz="900" b="1" i="0" spc="90">
                <a:solidFill>
                  <a:srgbClr val="35464F"/>
                </a:solidFill>
                <a:latin typeface="Aptos"/>
                <a:cs typeface="Aptos"/>
              </a:rPr>
              <a:t>OPPORTUNISTIC ADJACENCIES</a:t>
            </a:r>
          </a:p>
          <a:p>
            <a:pPr algn="l">
              <a:lnSpc>
                <a:spcPct val="106000"/>
              </a:lnSpc>
              <a:spcBef>
                <a:spcPts val="0"/>
              </a:spcBef>
              <a:spcAft>
                <a:spcPts val="0"/>
              </a:spcAft>
            </a:pPr>
            <a:r>
              <a:rPr sz="1350" b="0" i="0">
                <a:solidFill>
                  <a:srgbClr val="002B5C"/>
                </a:solidFill>
                <a:latin typeface="Aptos Display"/>
                <a:cs typeface="Aptos Display"/>
              </a:rPr>
              <a:t>Data centres and other emerging real asset sectors</a:t>
            </a:r>
          </a:p>
        </p:txBody>
      </p:sp>
      <p:sp>
        <p:nvSpPr>
          <p:cNvPr id="19" name="TextBox 18"/>
          <p:cNvSpPr txBox="1"/>
          <p:nvPr/>
        </p:nvSpPr>
        <p:spPr>
          <a:xfrm>
            <a:off x="4206240" y="4718304"/>
            <a:ext cx="3291840" cy="932688"/>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Consider selectively rather than as a standing capital allocation or broad commitment to build every capability internally.</a:t>
            </a:r>
          </a:p>
        </p:txBody>
      </p:sp>
      <p:sp>
        <p:nvSpPr>
          <p:cNvPr id="20" name="TextBox 19"/>
          <p:cNvSpPr txBox="1"/>
          <p:nvPr/>
        </p:nvSpPr>
        <p:spPr>
          <a:xfrm>
            <a:off x="7772400" y="4718304"/>
            <a:ext cx="3566160" cy="932688"/>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Proceed only where there is differentiated access, a compelling value thesis and the required technical, development and operating capabilities have been secured.</a:t>
            </a:r>
          </a:p>
        </p:txBody>
      </p:sp>
      <p:sp>
        <p:nvSpPr>
          <p:cNvPr id="21" name="TextBox 20"/>
          <p:cNvSpPr txBox="1"/>
          <p:nvPr/>
        </p:nvSpPr>
        <p:spPr>
          <a:xfrm>
            <a:off x="640080" y="5952744"/>
            <a:ext cx="10908792" cy="457200"/>
          </a:xfrm>
          <a:prstGeom prst="rect">
            <a:avLst/>
          </a:prstGeom>
          <a:noFill/>
        </p:spPr>
        <p:txBody>
          <a:bodyPr wrap="square" anchor="t" lIns="0" rIns="0" tIns="0" bIns="0">
            <a:spAutoFit/>
          </a:bodyPr>
          <a:lstStyle/>
          <a:p>
            <a:pPr algn="l">
              <a:lnSpc>
                <a:spcPct val="120000"/>
              </a:lnSpc>
              <a:spcBef>
                <a:spcPts val="0"/>
              </a:spcBef>
              <a:spcAft>
                <a:spcPts val="0"/>
              </a:spcAft>
            </a:pPr>
            <a:r>
              <a:rPr sz="1100" b="0" i="0">
                <a:solidFill>
                  <a:srgbClr val="35464F"/>
                </a:solidFill>
                <a:latin typeface="Aptos"/>
                <a:cs typeface="Aptos"/>
              </a:rPr>
              <a:t>These priorities guide origination and capability development for 2027. They are not fixed capital allocations and may evolve with market conditions, investor demand and demonstrated investment outcomes.</a:t>
            </a:r>
          </a:p>
        </p:txBody>
      </p:sp>
      <p:sp>
        <p:nvSpPr>
          <p:cNvPr id="22" name="TextBox 21"/>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3" name="TextBox 22"/>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17</a:t>
            </a:r>
          </a:p>
        </p:txBody>
      </p:sp>
      <p:pic>
        <p:nvPicPr>
          <p:cNvPr id="24" name="Picture 23"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15 · How Aravest creates value</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Sector selection identifies where we invest; the value-creation plan determines why we invest.</a:t>
            </a:r>
          </a:p>
        </p:txBody>
      </p:sp>
      <p:sp>
        <p:nvSpPr>
          <p:cNvPr id="5" name="TextBox 4"/>
          <p:cNvSpPr txBox="1"/>
          <p:nvPr/>
        </p:nvSpPr>
        <p:spPr>
          <a:xfrm>
            <a:off x="932688" y="1572768"/>
            <a:ext cx="329184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VALUE-CREATION PLAYBOOK</a:t>
            </a:r>
          </a:p>
        </p:txBody>
      </p:sp>
      <p:sp>
        <p:nvSpPr>
          <p:cNvPr id="6" name="TextBox 5"/>
          <p:cNvSpPr txBox="1"/>
          <p:nvPr/>
        </p:nvSpPr>
        <p:spPr>
          <a:xfrm>
            <a:off x="4572000" y="1572768"/>
            <a:ext cx="694944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TYPICAL APPLICATION</a:t>
            </a:r>
          </a:p>
        </p:txBody>
      </p:sp>
      <p:sp>
        <p:nvSpPr>
          <p:cNvPr id="7" name="Rectangle 6"/>
          <p:cNvSpPr/>
          <p:nvPr/>
        </p:nvSpPr>
        <p:spPr>
          <a:xfrm>
            <a:off x="640080" y="1847088"/>
            <a:ext cx="10908792" cy="1905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002536"/>
            <a:ext cx="3291840" cy="45720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Repositioning and lease-up</a:t>
            </a:r>
          </a:p>
        </p:txBody>
      </p:sp>
      <p:sp>
        <p:nvSpPr>
          <p:cNvPr id="9" name="TextBox 8"/>
          <p:cNvSpPr txBox="1"/>
          <p:nvPr/>
        </p:nvSpPr>
        <p:spPr>
          <a:xfrm>
            <a:off x="4572000" y="2011680"/>
            <a:ext cx="6949440" cy="457200"/>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Improve occupancy, tenant mix, rental performance and market positioning.</a:t>
            </a:r>
          </a:p>
        </p:txBody>
      </p:sp>
      <p:sp>
        <p:nvSpPr>
          <p:cNvPr id="10" name="Rectangle 9"/>
          <p:cNvSpPr/>
          <p:nvPr/>
        </p:nvSpPr>
        <p:spPr>
          <a:xfrm>
            <a:off x="640080" y="2414016"/>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478024"/>
            <a:ext cx="3291840" cy="45720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Asset enhancement and conversion</a:t>
            </a:r>
          </a:p>
        </p:txBody>
      </p:sp>
      <p:sp>
        <p:nvSpPr>
          <p:cNvPr id="12" name="TextBox 11"/>
          <p:cNvSpPr txBox="1"/>
          <p:nvPr/>
        </p:nvSpPr>
        <p:spPr>
          <a:xfrm>
            <a:off x="4572000" y="2487168"/>
            <a:ext cx="6949440" cy="457200"/>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Undertake refurbishment, AEI, change of use or physical repositioning.</a:t>
            </a:r>
          </a:p>
        </p:txBody>
      </p:sp>
      <p:sp>
        <p:nvSpPr>
          <p:cNvPr id="13" name="Rectangle 12"/>
          <p:cNvSpPr/>
          <p:nvPr/>
        </p:nvSpPr>
        <p:spPr>
          <a:xfrm>
            <a:off x="640080" y="2889504"/>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953512"/>
            <a:ext cx="3291840" cy="45720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Development and redevelopment</a:t>
            </a:r>
          </a:p>
        </p:txBody>
      </p:sp>
      <p:sp>
        <p:nvSpPr>
          <p:cNvPr id="15" name="TextBox 14"/>
          <p:cNvSpPr txBox="1"/>
          <p:nvPr/>
        </p:nvSpPr>
        <p:spPr>
          <a:xfrm>
            <a:off x="4572000" y="2962656"/>
            <a:ext cx="6949440" cy="457200"/>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Create value through ground-up development or material redevelopment where the development capability and risk controls are established.</a:t>
            </a:r>
          </a:p>
        </p:txBody>
      </p:sp>
      <p:sp>
        <p:nvSpPr>
          <p:cNvPr id="16" name="Rectangle 15"/>
          <p:cNvSpPr/>
          <p:nvPr/>
        </p:nvSpPr>
        <p:spPr>
          <a:xfrm>
            <a:off x="640080" y="3364992"/>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429000"/>
            <a:ext cx="3291840" cy="45720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Operational improvement</a:t>
            </a:r>
          </a:p>
        </p:txBody>
      </p:sp>
      <p:sp>
        <p:nvSpPr>
          <p:cNvPr id="18" name="TextBox 17"/>
          <p:cNvSpPr txBox="1"/>
          <p:nvPr/>
        </p:nvSpPr>
        <p:spPr>
          <a:xfrm>
            <a:off x="4572000" y="3438144"/>
            <a:ext cx="6949440" cy="457200"/>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Improve performance through stronger management, branding, service delivery or specialist operating partners.</a:t>
            </a:r>
          </a:p>
        </p:txBody>
      </p:sp>
      <p:sp>
        <p:nvSpPr>
          <p:cNvPr id="19" name="Rectangle 18"/>
          <p:cNvSpPr/>
          <p:nvPr/>
        </p:nvSpPr>
        <p:spPr>
          <a:xfrm>
            <a:off x="640080" y="3840480"/>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904488"/>
            <a:ext cx="3291840" cy="45720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Market or capital dislocation</a:t>
            </a:r>
          </a:p>
        </p:txBody>
      </p:sp>
      <p:sp>
        <p:nvSpPr>
          <p:cNvPr id="21" name="TextBox 20"/>
          <p:cNvSpPr txBox="1"/>
          <p:nvPr/>
        </p:nvSpPr>
        <p:spPr>
          <a:xfrm>
            <a:off x="4572000" y="3913632"/>
            <a:ext cx="6949440" cy="457200"/>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Invest where pricing, ownership constraints, refinancing pressure or capital scarcity create an attractive entry point.</a:t>
            </a:r>
          </a:p>
        </p:txBody>
      </p:sp>
      <p:sp>
        <p:nvSpPr>
          <p:cNvPr id="22" name="Rectangle 21"/>
          <p:cNvSpPr/>
          <p:nvPr/>
        </p:nvSpPr>
        <p:spPr>
          <a:xfrm>
            <a:off x="640080" y="4315968"/>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379976"/>
            <a:ext cx="3291840" cy="45720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Aggregation and portfolio formation</a:t>
            </a:r>
          </a:p>
        </p:txBody>
      </p:sp>
      <p:sp>
        <p:nvSpPr>
          <p:cNvPr id="24" name="TextBox 23"/>
          <p:cNvSpPr txBox="1"/>
          <p:nvPr/>
        </p:nvSpPr>
        <p:spPr>
          <a:xfrm>
            <a:off x="4572000" y="4389120"/>
            <a:ext cx="6949440" cy="457200"/>
          </a:xfrm>
          <a:prstGeom prst="rect">
            <a:avLst/>
          </a:prstGeom>
          <a:noFill/>
        </p:spPr>
        <p:txBody>
          <a:bodyPr wrap="square" anchor="t" lIns="0" rIns="0" tIns="0" bIns="0">
            <a:spAutoFit/>
          </a:bodyPr>
          <a:lstStyle/>
          <a:p>
            <a:pPr algn="l">
              <a:lnSpc>
                <a:spcPct val="114000"/>
              </a:lnSpc>
              <a:spcBef>
                <a:spcPts val="0"/>
              </a:spcBef>
              <a:spcAft>
                <a:spcPts val="0"/>
              </a:spcAft>
            </a:pPr>
            <a:r>
              <a:rPr sz="1200" b="0" i="0">
                <a:solidFill>
                  <a:srgbClr val="35464F"/>
                </a:solidFill>
                <a:latin typeface="Aptos"/>
                <a:cs typeface="Aptos"/>
              </a:rPr>
              <a:t>Combine related investments into portfolios or repeatable strategies capable of attracting institutional capital.</a:t>
            </a:r>
          </a:p>
        </p:txBody>
      </p:sp>
      <p:sp>
        <p:nvSpPr>
          <p:cNvPr id="25" name="Rectangle 24"/>
          <p:cNvSpPr/>
          <p:nvPr/>
        </p:nvSpPr>
        <p:spPr>
          <a:xfrm>
            <a:off x="640080" y="479145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4919472"/>
            <a:ext cx="10908792" cy="950976"/>
          </a:xfrm>
          <a:prstGeom prst="roundRect">
            <a:avLst>
              <a:gd name="adj" fmla="val 8653"/>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020056"/>
            <a:ext cx="10396728" cy="777240"/>
          </a:xfrm>
          <a:prstGeom prst="rect">
            <a:avLst/>
          </a:prstGeom>
          <a:noFill/>
        </p:spPr>
        <p:txBody>
          <a:bodyPr wrap="square" anchor="t" lIns="0" rIns="0" tIns="0" bIns="0">
            <a:spAutoFit/>
          </a:bodyPr>
          <a:lstStyle/>
          <a:p>
            <a:pPr algn="l">
              <a:spcBef>
                <a:spcPts val="0"/>
              </a:spcBef>
              <a:spcAft>
                <a:spcPts val="400"/>
              </a:spcAft>
            </a:pPr>
            <a:r>
              <a:rPr sz="900" b="1" i="0" spc="120">
                <a:solidFill>
                  <a:srgbClr val="D5DDE6"/>
                </a:solidFill>
                <a:latin typeface="Aptos"/>
                <a:cs typeface="Aptos"/>
              </a:rPr>
              <a:t>CAPABILITY COVERAGE IS AN INVESTMENT GATE</a:t>
            </a:r>
          </a:p>
          <a:p>
            <a:pPr algn="l">
              <a:lnSpc>
                <a:spcPct val="118000"/>
              </a:lnSpc>
              <a:spcBef>
                <a:spcPts val="0"/>
              </a:spcBef>
              <a:spcAft>
                <a:spcPts val="0"/>
              </a:spcAft>
            </a:pPr>
            <a:r>
              <a:rPr sz="1100" b="0" i="0">
                <a:solidFill>
                  <a:srgbClr val="FFFFFF"/>
                </a:solidFill>
                <a:latin typeface="Aptos"/>
                <a:cs typeface="Aptos"/>
              </a:rPr>
              <a:t>Aravest will proceed only where all capabilities required for origination, underwriting, financing, development, operations, asset management and realisation are covered internally or through secured partners. For capability-intensive activities — development, hospitality operations, data centres — the relevant partner should generally be identified and sufficiently secured before investment commitment.</a:t>
            </a:r>
          </a:p>
        </p:txBody>
      </p:sp>
      <p:sp>
        <p:nvSpPr>
          <p:cNvPr id="28" name="TextBox 27"/>
          <p:cNvSpPr txBox="1"/>
          <p:nvPr/>
        </p:nvSpPr>
        <p:spPr>
          <a:xfrm>
            <a:off x="640080" y="5961887"/>
            <a:ext cx="10908792" cy="365760"/>
          </a:xfrm>
          <a:prstGeom prst="rect">
            <a:avLst/>
          </a:prstGeom>
          <a:noFill/>
        </p:spPr>
        <p:txBody>
          <a:bodyPr wrap="square" anchor="t" lIns="0" rIns="0" tIns="0" bIns="0">
            <a:spAutoFit/>
          </a:bodyPr>
          <a:lstStyle/>
          <a:p>
            <a:pPr>
              <a:lnSpc>
                <a:spcPct val="115000"/>
              </a:lnSpc>
              <a:spcAft>
                <a:spcPts val="0"/>
              </a:spcAft>
            </a:pPr>
            <a:r>
              <a:rPr sz="1150" b="1" i="0">
                <a:solidFill>
                  <a:srgbClr val="002B5C"/>
                </a:solidFill>
                <a:latin typeface="Aptos"/>
                <a:cs typeface="Aptos"/>
              </a:rPr>
              <a:t>Aravest does not need to perform every function internally. </a:t>
            </a:r>
            <a:r>
              <a:rPr sz="1150" b="0" i="0">
                <a:solidFill>
                  <a:srgbClr val="35464F"/>
                </a:solidFill>
                <a:latin typeface="Aptos"/>
                <a:cs typeface="Aptos"/>
              </a:rPr>
              <a:t>It must ensure that the complete capability set is in place and remain accountable for the investment outcome.</a:t>
            </a:r>
          </a:p>
        </p:txBody>
      </p:sp>
      <p:sp>
        <p:nvSpPr>
          <p:cNvPr id="29" name="TextBox 28"/>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30" name="TextBox 29"/>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18</a:t>
            </a:r>
          </a:p>
        </p:txBody>
      </p:sp>
      <p:pic>
        <p:nvPicPr>
          <p:cNvPr id="31" name="Picture 30"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16 · Institutional structuring standard</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Every fund and investment must be structured to standards acceptable to institutional investors.</a:t>
            </a:r>
          </a:p>
        </p:txBody>
      </p:sp>
      <p:sp>
        <p:nvSpPr>
          <p:cNvPr id="5" name="TextBox 4"/>
          <p:cNvSpPr txBox="1"/>
          <p:nvPr/>
        </p:nvSpPr>
        <p:spPr>
          <a:xfrm>
            <a:off x="640080" y="1481328"/>
            <a:ext cx="10908792" cy="384048"/>
          </a:xfrm>
          <a:prstGeom prst="rect">
            <a:avLst/>
          </a:prstGeom>
          <a:noFill/>
        </p:spPr>
        <p:txBody>
          <a:bodyPr wrap="square" anchor="t" lIns="0" rIns="0" tIns="0" bIns="0">
            <a:spAutoFit/>
          </a:bodyPr>
          <a:lstStyle/>
          <a:p>
            <a:pPr algn="l">
              <a:lnSpc>
                <a:spcPct val="122000"/>
              </a:lnSpc>
              <a:spcBef>
                <a:spcPts val="0"/>
              </a:spcBef>
              <a:spcAft>
                <a:spcPts val="0"/>
              </a:spcAft>
            </a:pPr>
            <a:r>
              <a:rPr sz="1250" b="0" i="0">
                <a:solidFill>
                  <a:srgbClr val="35464F"/>
                </a:solidFill>
                <a:latin typeface="Aptos"/>
                <a:cs typeface="Aptos"/>
              </a:rPr>
              <a:t>Investment discipline extends beyond asset selection to the legal, financing and governance structure through which capital is deployed and risk is contained.</a:t>
            </a:r>
          </a:p>
        </p:txBody>
      </p:sp>
      <p:sp>
        <p:nvSpPr>
          <p:cNvPr id="6" name="Rounded Rectangle 5"/>
          <p:cNvSpPr/>
          <p:nvPr/>
        </p:nvSpPr>
        <p:spPr>
          <a:xfrm>
            <a:off x="640080" y="2084831"/>
            <a:ext cx="2395728" cy="932688"/>
          </a:xfrm>
          <a:prstGeom prst="roundRect">
            <a:avLst>
              <a:gd name="adj" fmla="val 88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084831"/>
            <a:ext cx="2139696" cy="932688"/>
          </a:xfrm>
          <a:prstGeom prst="rect">
            <a:avLst/>
          </a:prstGeom>
          <a:noFill/>
        </p:spPr>
        <p:txBody>
          <a:bodyPr wrap="square" anchor="ctr" lIns="0" rIns="0" tIns="0" bIns="0">
            <a:spAutoFit/>
          </a:bodyPr>
          <a:lstStyle/>
          <a:p>
            <a:pPr algn="ctr">
              <a:lnSpc>
                <a:spcPct val="110000"/>
              </a:lnSpc>
              <a:spcBef>
                <a:spcPts val="0"/>
              </a:spcBef>
              <a:spcAft>
                <a:spcPts val="0"/>
              </a:spcAft>
            </a:pPr>
            <a:r>
              <a:rPr sz="1250" b="0" i="0">
                <a:solidFill>
                  <a:srgbClr val="002B5C"/>
                </a:solidFill>
                <a:latin typeface="Aptos Display"/>
                <a:cs typeface="Aptos Display"/>
              </a:rPr>
              <a:t>Institutional investors and approved co-investors</a:t>
            </a:r>
          </a:p>
        </p:txBody>
      </p:sp>
      <p:sp>
        <p:nvSpPr>
          <p:cNvPr id="8" name="TextBox 7"/>
          <p:cNvSpPr txBox="1"/>
          <p:nvPr/>
        </p:nvSpPr>
        <p:spPr>
          <a:xfrm>
            <a:off x="3035808" y="2359151"/>
            <a:ext cx="441960"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9" name="Rounded Rectangle 8"/>
          <p:cNvSpPr/>
          <p:nvPr/>
        </p:nvSpPr>
        <p:spPr>
          <a:xfrm>
            <a:off x="3477768" y="2084831"/>
            <a:ext cx="2395728" cy="932688"/>
          </a:xfrm>
          <a:prstGeom prst="roundRect">
            <a:avLst>
              <a:gd name="adj" fmla="val 88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5784" y="2084831"/>
            <a:ext cx="2139696" cy="932688"/>
          </a:xfrm>
          <a:prstGeom prst="rect">
            <a:avLst/>
          </a:prstGeom>
          <a:noFill/>
        </p:spPr>
        <p:txBody>
          <a:bodyPr wrap="square" anchor="ctr" lIns="0" rIns="0" tIns="0" bIns="0">
            <a:spAutoFit/>
          </a:bodyPr>
          <a:lstStyle/>
          <a:p>
            <a:pPr algn="ctr">
              <a:lnSpc>
                <a:spcPct val="110000"/>
              </a:lnSpc>
              <a:spcBef>
                <a:spcPts val="0"/>
              </a:spcBef>
              <a:spcAft>
                <a:spcPts val="0"/>
              </a:spcAft>
            </a:pPr>
            <a:r>
              <a:rPr sz="1250" b="0" i="0">
                <a:solidFill>
                  <a:srgbClr val="002B5C"/>
                </a:solidFill>
                <a:latin typeface="Aptos Display"/>
                <a:cs typeface="Aptos Display"/>
              </a:rPr>
              <a:t>Fund vehicle</a:t>
            </a:r>
          </a:p>
        </p:txBody>
      </p:sp>
      <p:sp>
        <p:nvSpPr>
          <p:cNvPr id="11" name="TextBox 10"/>
          <p:cNvSpPr txBox="1"/>
          <p:nvPr/>
        </p:nvSpPr>
        <p:spPr>
          <a:xfrm>
            <a:off x="5873496" y="2359151"/>
            <a:ext cx="441960"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2" name="Rounded Rectangle 11"/>
          <p:cNvSpPr/>
          <p:nvPr/>
        </p:nvSpPr>
        <p:spPr>
          <a:xfrm>
            <a:off x="6315456" y="2084831"/>
            <a:ext cx="2395728" cy="932688"/>
          </a:xfrm>
          <a:prstGeom prst="roundRect">
            <a:avLst>
              <a:gd name="adj" fmla="val 88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3472" y="2084831"/>
            <a:ext cx="2139696" cy="932688"/>
          </a:xfrm>
          <a:prstGeom prst="rect">
            <a:avLst/>
          </a:prstGeom>
          <a:noFill/>
        </p:spPr>
        <p:txBody>
          <a:bodyPr wrap="square" anchor="ctr" lIns="0" rIns="0" tIns="0" bIns="0">
            <a:spAutoFit/>
          </a:bodyPr>
          <a:lstStyle/>
          <a:p>
            <a:pPr algn="ctr">
              <a:lnSpc>
                <a:spcPct val="110000"/>
              </a:lnSpc>
              <a:spcBef>
                <a:spcPts val="0"/>
              </a:spcBef>
              <a:spcAft>
                <a:spcPts val="0"/>
              </a:spcAft>
            </a:pPr>
            <a:r>
              <a:rPr sz="1250" b="0" i="0">
                <a:solidFill>
                  <a:srgbClr val="002B5C"/>
                </a:solidFill>
                <a:latin typeface="Aptos Display"/>
                <a:cs typeface="Aptos Display"/>
              </a:rPr>
              <a:t>Investment SPV / borrower</a:t>
            </a:r>
          </a:p>
        </p:txBody>
      </p:sp>
      <p:sp>
        <p:nvSpPr>
          <p:cNvPr id="14" name="TextBox 13"/>
          <p:cNvSpPr txBox="1"/>
          <p:nvPr/>
        </p:nvSpPr>
        <p:spPr>
          <a:xfrm>
            <a:off x="8711184" y="2359151"/>
            <a:ext cx="441960"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5" name="Rounded Rectangle 14"/>
          <p:cNvSpPr/>
          <p:nvPr/>
        </p:nvSpPr>
        <p:spPr>
          <a:xfrm>
            <a:off x="9153144" y="2084831"/>
            <a:ext cx="2395728" cy="932688"/>
          </a:xfrm>
          <a:prstGeom prst="roundRect">
            <a:avLst>
              <a:gd name="adj" fmla="val 88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2084831"/>
            <a:ext cx="2139696" cy="932688"/>
          </a:xfrm>
          <a:prstGeom prst="rect">
            <a:avLst/>
          </a:prstGeom>
          <a:noFill/>
        </p:spPr>
        <p:txBody>
          <a:bodyPr wrap="square" anchor="ctr" lIns="0" rIns="0" tIns="0" bIns="0">
            <a:spAutoFit/>
          </a:bodyPr>
          <a:lstStyle/>
          <a:p>
            <a:pPr algn="ctr">
              <a:lnSpc>
                <a:spcPct val="110000"/>
              </a:lnSpc>
              <a:spcBef>
                <a:spcPts val="0"/>
              </a:spcBef>
              <a:spcAft>
                <a:spcPts val="0"/>
              </a:spcAft>
            </a:pPr>
            <a:r>
              <a:rPr sz="1250" b="0" i="0">
                <a:solidFill>
                  <a:srgbClr val="002B5C"/>
                </a:solidFill>
                <a:latin typeface="Aptos Display"/>
                <a:cs typeface="Aptos Display"/>
              </a:rPr>
              <a:t>Underlying asset</a:t>
            </a:r>
          </a:p>
        </p:txBody>
      </p:sp>
      <p:sp>
        <p:nvSpPr>
          <p:cNvPr id="17" name="Rounded Rectangle 16"/>
          <p:cNvSpPr/>
          <p:nvPr/>
        </p:nvSpPr>
        <p:spPr>
          <a:xfrm>
            <a:off x="640080" y="3310128"/>
            <a:ext cx="10908792" cy="841248"/>
          </a:xfrm>
          <a:prstGeom prst="roundRect">
            <a:avLst>
              <a:gd name="adj" fmla="val 9782"/>
            </a:avLst>
          </a:prstGeom>
          <a:solidFill>
            <a:srgbClr val="F6F7F7"/>
          </a:solidFill>
          <a:ln w="9525">
            <a:solidFill>
              <a:srgbClr val="CCD1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3310128"/>
            <a:ext cx="10433304" cy="841248"/>
          </a:xfrm>
          <a:prstGeom prst="rect">
            <a:avLst/>
          </a:prstGeom>
          <a:noFill/>
        </p:spPr>
        <p:txBody>
          <a:bodyPr wrap="square" anchor="ctr" lIns="0" rIns="0" tIns="0" bIns="0">
            <a:spAutoFit/>
          </a:bodyPr>
          <a:lstStyle/>
          <a:p>
            <a:pPr algn="l">
              <a:spcBef>
                <a:spcPts val="0"/>
              </a:spcBef>
              <a:spcAft>
                <a:spcPts val="400"/>
              </a:spcAft>
            </a:pPr>
            <a:r>
              <a:rPr sz="900" b="1" i="0" spc="90">
                <a:solidFill>
                  <a:srgbClr val="002B5C"/>
                </a:solidFill>
                <a:latin typeface="Aptos"/>
                <a:cs typeface="Aptos"/>
              </a:rPr>
              <a:t>RISK AND LIABILITIES ARE GENERALLY RING-FENCED WITHIN THE RELEVANT FUND AND ASSET-LEVEL STRUCTURE</a:t>
            </a:r>
          </a:p>
          <a:p>
            <a:pPr algn="l">
              <a:lnSpc>
                <a:spcPct val="120000"/>
              </a:lnSpc>
              <a:spcBef>
                <a:spcPts val="0"/>
              </a:spcBef>
              <a:spcAft>
                <a:spcPts val="0"/>
              </a:spcAft>
            </a:pPr>
            <a:r>
              <a:rPr sz="1250" b="0" i="0">
                <a:solidFill>
                  <a:srgbClr val="35464F"/>
                </a:solidFill>
                <a:latin typeface="Aptos"/>
                <a:cs typeface="Aptos"/>
              </a:rPr>
              <a:t>Financing should generally have recourse only to the relevant borrower, secured assets and expressly agreed credit support.</a:t>
            </a:r>
          </a:p>
        </p:txBody>
      </p:sp>
      <p:sp>
        <p:nvSpPr>
          <p:cNvPr id="19" name="Rounded Rectangle 18"/>
          <p:cNvSpPr/>
          <p:nvPr/>
        </p:nvSpPr>
        <p:spPr>
          <a:xfrm>
            <a:off x="640080" y="4389120"/>
            <a:ext cx="3520440" cy="786384"/>
          </a:xfrm>
          <a:prstGeom prst="roundRect">
            <a:avLst>
              <a:gd name="adj" fmla="val 10465"/>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89120"/>
            <a:ext cx="3154680" cy="786384"/>
          </a:xfrm>
          <a:prstGeom prst="rect">
            <a:avLst/>
          </a:prstGeom>
          <a:noFill/>
        </p:spPr>
        <p:txBody>
          <a:bodyPr wrap="square" anchor="ctr" lIns="0" rIns="0" tIns="0" bIns="0">
            <a:spAutoFit/>
          </a:bodyPr>
          <a:lstStyle/>
          <a:p>
            <a:pPr algn="ctr">
              <a:lnSpc>
                <a:spcPct val="115000"/>
              </a:lnSpc>
              <a:spcBef>
                <a:spcPts val="0"/>
              </a:spcBef>
              <a:spcAft>
                <a:spcPts val="0"/>
              </a:spcAft>
            </a:pPr>
            <a:r>
              <a:rPr sz="1250" b="0" i="0">
                <a:solidFill>
                  <a:srgbClr val="FFFFFF"/>
                </a:solidFill>
                <a:latin typeface="Aptos"/>
                <a:cs typeface="Aptos"/>
              </a:rPr>
              <a:t>Committed capital is exposed to investment performance</a:t>
            </a:r>
          </a:p>
        </p:txBody>
      </p:sp>
      <p:sp>
        <p:nvSpPr>
          <p:cNvPr id="21" name="Rounded Rectangle 20"/>
          <p:cNvSpPr/>
          <p:nvPr/>
        </p:nvSpPr>
        <p:spPr>
          <a:xfrm>
            <a:off x="4334256" y="4389120"/>
            <a:ext cx="3520440" cy="786384"/>
          </a:xfrm>
          <a:prstGeom prst="roundRect">
            <a:avLst>
              <a:gd name="adj" fmla="val 10465"/>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17136" y="4389120"/>
            <a:ext cx="3154680" cy="786384"/>
          </a:xfrm>
          <a:prstGeom prst="rect">
            <a:avLst/>
          </a:prstGeom>
          <a:noFill/>
        </p:spPr>
        <p:txBody>
          <a:bodyPr wrap="square" anchor="ctr" lIns="0" rIns="0" tIns="0" bIns="0">
            <a:spAutoFit/>
          </a:bodyPr>
          <a:lstStyle/>
          <a:p>
            <a:pPr algn="ctr">
              <a:lnSpc>
                <a:spcPct val="115000"/>
              </a:lnSpc>
              <a:spcBef>
                <a:spcPts val="0"/>
              </a:spcBef>
              <a:spcAft>
                <a:spcPts val="0"/>
              </a:spcAft>
            </a:pPr>
            <a:r>
              <a:rPr sz="1250" b="0" i="0">
                <a:solidFill>
                  <a:srgbClr val="FFFFFF"/>
                </a:solidFill>
                <a:latin typeface="Aptos"/>
                <a:cs typeface="Aptos"/>
              </a:rPr>
              <a:t>Wider fund and asset liabilities are ring-fenced</a:t>
            </a:r>
          </a:p>
        </p:txBody>
      </p:sp>
      <p:sp>
        <p:nvSpPr>
          <p:cNvPr id="23" name="Rounded Rectangle 22"/>
          <p:cNvSpPr/>
          <p:nvPr/>
        </p:nvSpPr>
        <p:spPr>
          <a:xfrm>
            <a:off x="8028432" y="4389120"/>
            <a:ext cx="3520440" cy="786384"/>
          </a:xfrm>
          <a:prstGeom prst="roundRect">
            <a:avLst>
              <a:gd name="adj" fmla="val 10465"/>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11312" y="4389120"/>
            <a:ext cx="3154680" cy="786384"/>
          </a:xfrm>
          <a:prstGeom prst="rect">
            <a:avLst/>
          </a:prstGeom>
          <a:noFill/>
        </p:spPr>
        <p:txBody>
          <a:bodyPr wrap="square" anchor="ctr" lIns="0" rIns="0" tIns="0" bIns="0">
            <a:spAutoFit/>
          </a:bodyPr>
          <a:lstStyle/>
          <a:p>
            <a:pPr algn="ctr">
              <a:lnSpc>
                <a:spcPct val="115000"/>
              </a:lnSpc>
              <a:spcBef>
                <a:spcPts val="0"/>
              </a:spcBef>
              <a:spcAft>
                <a:spcPts val="0"/>
              </a:spcAft>
            </a:pPr>
            <a:r>
              <a:rPr sz="1250" b="0" i="0">
                <a:solidFill>
                  <a:srgbClr val="FFFFFF"/>
                </a:solidFill>
                <a:latin typeface="Aptos"/>
                <a:cs typeface="Aptos"/>
              </a:rPr>
              <a:t>Manager or shareholder recourse is not automatic</a:t>
            </a:r>
          </a:p>
        </p:txBody>
      </p:sp>
      <p:sp>
        <p:nvSpPr>
          <p:cNvPr id="25" name="TextBox 24"/>
          <p:cNvSpPr txBox="1"/>
          <p:nvPr/>
        </p:nvSpPr>
        <p:spPr>
          <a:xfrm>
            <a:off x="640080" y="5413248"/>
            <a:ext cx="10908792" cy="731520"/>
          </a:xfrm>
          <a:prstGeom prst="rect">
            <a:avLst/>
          </a:prstGeom>
          <a:noFill/>
        </p:spPr>
        <p:txBody>
          <a:bodyPr wrap="square" anchor="t" lIns="0" rIns="0" tIns="0" bIns="0">
            <a:spAutoFit/>
          </a:bodyPr>
          <a:lstStyle/>
          <a:p>
            <a:pPr algn="l">
              <a:lnSpc>
                <a:spcPct val="126000"/>
              </a:lnSpc>
              <a:spcBef>
                <a:spcPts val="0"/>
              </a:spcBef>
              <a:spcAft>
                <a:spcPts val="0"/>
              </a:spcAft>
            </a:pPr>
            <a:r>
              <a:rPr sz="1250" b="0" i="0">
                <a:solidFill>
                  <a:srgbClr val="35464F"/>
                </a:solidFill>
                <a:latin typeface="Aptos"/>
                <a:cs typeface="Aptos"/>
              </a:rPr>
              <a:t>Where Aravest or SMFL has separately approved an equity or co-investment commitment, that committed capital is at risk. This does not mean that the wider liabilities of the fund or investment automatically become liabilities of Aravest or SMFL.</a:t>
            </a:r>
          </a:p>
        </p:txBody>
      </p:sp>
      <p:sp>
        <p:nvSpPr>
          <p:cNvPr id="26" name="TextBox 25"/>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7" name="TextBox 26"/>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19</a:t>
            </a:r>
          </a:p>
        </p:txBody>
      </p:sp>
      <p:pic>
        <p:nvPicPr>
          <p:cNvPr id="28" name="Picture 27"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16 · Institutional structuring standard · The standards</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Six standards applied to every fund and investment.</a:t>
            </a:r>
          </a:p>
        </p:txBody>
      </p:sp>
      <p:sp>
        <p:nvSpPr>
          <p:cNvPr id="5" name="TextBox 4"/>
          <p:cNvSpPr txBox="1"/>
          <p:nvPr/>
        </p:nvSpPr>
        <p:spPr>
          <a:xfrm>
            <a:off x="932688" y="1389888"/>
            <a:ext cx="310896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INSTITUTIONAL STANDARD</a:t>
            </a:r>
          </a:p>
        </p:txBody>
      </p:sp>
      <p:sp>
        <p:nvSpPr>
          <p:cNvPr id="6" name="TextBox 5"/>
          <p:cNvSpPr txBox="1"/>
          <p:nvPr/>
        </p:nvSpPr>
        <p:spPr>
          <a:xfrm>
            <a:off x="4389120" y="1389888"/>
            <a:ext cx="713232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ARAVEST APPROACH</a:t>
            </a:r>
          </a:p>
        </p:txBody>
      </p:sp>
      <p:sp>
        <p:nvSpPr>
          <p:cNvPr id="7" name="Rectangle 6"/>
          <p:cNvSpPr/>
          <p:nvPr/>
        </p:nvSpPr>
        <p:spPr>
          <a:xfrm>
            <a:off x="640080" y="1664208"/>
            <a:ext cx="10908792" cy="1905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819656"/>
            <a:ext cx="3108960" cy="502920"/>
          </a:xfrm>
          <a:prstGeom prst="rect">
            <a:avLst/>
          </a:prstGeom>
          <a:noFill/>
        </p:spPr>
        <p:txBody>
          <a:bodyPr wrap="square" anchor="t" lIns="0" rIns="0" tIns="0" bIns="0">
            <a:spAutoFit/>
          </a:bodyPr>
          <a:lstStyle/>
          <a:p>
            <a:pPr algn="l">
              <a:lnSpc>
                <a:spcPct val="108000"/>
              </a:lnSpc>
              <a:spcBef>
                <a:spcPts val="0"/>
              </a:spcBef>
              <a:spcAft>
                <a:spcPts val="0"/>
              </a:spcAft>
            </a:pPr>
            <a:r>
              <a:rPr sz="1200" b="0" i="0">
                <a:solidFill>
                  <a:srgbClr val="002B5C"/>
                </a:solidFill>
                <a:latin typeface="Aptos Display"/>
                <a:cs typeface="Aptos Display"/>
              </a:rPr>
              <a:t>Ring-fenced structure</a:t>
            </a:r>
          </a:p>
        </p:txBody>
      </p:sp>
      <p:sp>
        <p:nvSpPr>
          <p:cNvPr id="9" name="TextBox 8"/>
          <p:cNvSpPr txBox="1"/>
          <p:nvPr/>
        </p:nvSpPr>
        <p:spPr>
          <a:xfrm>
            <a:off x="4389120" y="1828800"/>
            <a:ext cx="7132320" cy="502920"/>
          </a:xfrm>
          <a:prstGeom prst="rect">
            <a:avLst/>
          </a:prstGeom>
          <a:noFill/>
        </p:spPr>
        <p:txBody>
          <a:bodyPr wrap="square" anchor="t" lIns="0" rIns="0" tIns="0" bIns="0">
            <a:spAutoFit/>
          </a:bodyPr>
          <a:lstStyle/>
          <a:p>
            <a:pPr algn="l">
              <a:lnSpc>
                <a:spcPct val="114000"/>
              </a:lnSpc>
              <a:spcBef>
                <a:spcPts val="0"/>
              </a:spcBef>
              <a:spcAft>
                <a:spcPts val="0"/>
              </a:spcAft>
            </a:pPr>
            <a:r>
              <a:rPr sz="1150" b="0" i="0">
                <a:solidFill>
                  <a:srgbClr val="35464F"/>
                </a:solidFill>
                <a:latin typeface="Aptos"/>
                <a:cs typeface="Aptos"/>
              </a:rPr>
              <a:t>Assets, liabilities and obligations are generally contained within the relevant fund, investment vehicle and asset-level entities.</a:t>
            </a:r>
          </a:p>
        </p:txBody>
      </p:sp>
      <p:sp>
        <p:nvSpPr>
          <p:cNvPr id="10" name="Rectangle 9"/>
          <p:cNvSpPr/>
          <p:nvPr/>
        </p:nvSpPr>
        <p:spPr>
          <a:xfrm>
            <a:off x="640080" y="2304288"/>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368296"/>
            <a:ext cx="3108960" cy="502920"/>
          </a:xfrm>
          <a:prstGeom prst="rect">
            <a:avLst/>
          </a:prstGeom>
          <a:noFill/>
        </p:spPr>
        <p:txBody>
          <a:bodyPr wrap="square" anchor="t" lIns="0" rIns="0" tIns="0" bIns="0">
            <a:spAutoFit/>
          </a:bodyPr>
          <a:lstStyle/>
          <a:p>
            <a:pPr algn="l">
              <a:lnSpc>
                <a:spcPct val="108000"/>
              </a:lnSpc>
              <a:spcBef>
                <a:spcPts val="0"/>
              </a:spcBef>
              <a:spcAft>
                <a:spcPts val="0"/>
              </a:spcAft>
            </a:pPr>
            <a:r>
              <a:rPr sz="1200" b="0" i="0">
                <a:solidFill>
                  <a:srgbClr val="002B5C"/>
                </a:solidFill>
                <a:latin typeface="Aptos Display"/>
                <a:cs typeface="Aptos Display"/>
              </a:rPr>
              <a:t>Non-recourse or limited-recourse financing</a:t>
            </a:r>
          </a:p>
        </p:txBody>
      </p:sp>
      <p:sp>
        <p:nvSpPr>
          <p:cNvPr id="12" name="TextBox 11"/>
          <p:cNvSpPr txBox="1"/>
          <p:nvPr/>
        </p:nvSpPr>
        <p:spPr>
          <a:xfrm>
            <a:off x="4389120" y="2377440"/>
            <a:ext cx="7132320" cy="502920"/>
          </a:xfrm>
          <a:prstGeom prst="rect">
            <a:avLst/>
          </a:prstGeom>
          <a:noFill/>
        </p:spPr>
        <p:txBody>
          <a:bodyPr wrap="square" anchor="t" lIns="0" rIns="0" tIns="0" bIns="0">
            <a:spAutoFit/>
          </a:bodyPr>
          <a:lstStyle/>
          <a:p>
            <a:pPr algn="l">
              <a:lnSpc>
                <a:spcPct val="114000"/>
              </a:lnSpc>
              <a:spcBef>
                <a:spcPts val="0"/>
              </a:spcBef>
              <a:spcAft>
                <a:spcPts val="0"/>
              </a:spcAft>
            </a:pPr>
            <a:r>
              <a:rPr sz="1150" b="0" i="0">
                <a:solidFill>
                  <a:srgbClr val="35464F"/>
                </a:solidFill>
                <a:latin typeface="Aptos"/>
                <a:cs typeface="Aptos"/>
              </a:rPr>
              <a:t>Financing should generally have recourse only to the relevant borrower, secured assets and expressly agreed transaction-level credit support.</a:t>
            </a:r>
          </a:p>
        </p:txBody>
      </p:sp>
      <p:sp>
        <p:nvSpPr>
          <p:cNvPr id="13" name="Rectangle 12"/>
          <p:cNvSpPr/>
          <p:nvPr/>
        </p:nvSpPr>
        <p:spPr>
          <a:xfrm>
            <a:off x="640080" y="2852928"/>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916936"/>
            <a:ext cx="3108960" cy="502920"/>
          </a:xfrm>
          <a:prstGeom prst="rect">
            <a:avLst/>
          </a:prstGeom>
          <a:noFill/>
        </p:spPr>
        <p:txBody>
          <a:bodyPr wrap="square" anchor="t" lIns="0" rIns="0" tIns="0" bIns="0">
            <a:spAutoFit/>
          </a:bodyPr>
          <a:lstStyle/>
          <a:p>
            <a:pPr algn="l">
              <a:lnSpc>
                <a:spcPct val="108000"/>
              </a:lnSpc>
              <a:spcBef>
                <a:spcPts val="0"/>
              </a:spcBef>
              <a:spcAft>
                <a:spcPts val="0"/>
              </a:spcAft>
            </a:pPr>
            <a:r>
              <a:rPr sz="1200" b="0" i="0">
                <a:solidFill>
                  <a:srgbClr val="002B5C"/>
                </a:solidFill>
                <a:latin typeface="Aptos Display"/>
                <a:cs typeface="Aptos Display"/>
              </a:rPr>
              <a:t>Defined investor exposure</a:t>
            </a:r>
          </a:p>
        </p:txBody>
      </p:sp>
      <p:sp>
        <p:nvSpPr>
          <p:cNvPr id="15" name="TextBox 14"/>
          <p:cNvSpPr txBox="1"/>
          <p:nvPr/>
        </p:nvSpPr>
        <p:spPr>
          <a:xfrm>
            <a:off x="4389120" y="2926080"/>
            <a:ext cx="7132320" cy="502920"/>
          </a:xfrm>
          <a:prstGeom prst="rect">
            <a:avLst/>
          </a:prstGeom>
          <a:noFill/>
        </p:spPr>
        <p:txBody>
          <a:bodyPr wrap="square" anchor="t" lIns="0" rIns="0" tIns="0" bIns="0">
            <a:spAutoFit/>
          </a:bodyPr>
          <a:lstStyle/>
          <a:p>
            <a:pPr algn="l">
              <a:lnSpc>
                <a:spcPct val="114000"/>
              </a:lnSpc>
              <a:spcBef>
                <a:spcPts val="0"/>
              </a:spcBef>
              <a:spcAft>
                <a:spcPts val="0"/>
              </a:spcAft>
            </a:pPr>
            <a:r>
              <a:rPr sz="1150" b="0" i="0">
                <a:solidFill>
                  <a:srgbClr val="35464F"/>
                </a:solidFill>
                <a:latin typeface="Aptos"/>
                <a:cs typeface="Aptos"/>
              </a:rPr>
              <a:t>Investors’ exposure is generally limited to their committed capital and customary obligations under the applicable fund documents.</a:t>
            </a:r>
          </a:p>
        </p:txBody>
      </p:sp>
      <p:sp>
        <p:nvSpPr>
          <p:cNvPr id="16" name="Rectangle 15"/>
          <p:cNvSpPr/>
          <p:nvPr/>
        </p:nvSpPr>
        <p:spPr>
          <a:xfrm>
            <a:off x="640080" y="3401568"/>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465576"/>
            <a:ext cx="3108960" cy="502920"/>
          </a:xfrm>
          <a:prstGeom prst="rect">
            <a:avLst/>
          </a:prstGeom>
          <a:noFill/>
        </p:spPr>
        <p:txBody>
          <a:bodyPr wrap="square" anchor="t" lIns="0" rIns="0" tIns="0" bIns="0">
            <a:spAutoFit/>
          </a:bodyPr>
          <a:lstStyle/>
          <a:p>
            <a:pPr algn="l">
              <a:lnSpc>
                <a:spcPct val="108000"/>
              </a:lnSpc>
              <a:spcBef>
                <a:spcPts val="0"/>
              </a:spcBef>
              <a:spcAft>
                <a:spcPts val="0"/>
              </a:spcAft>
            </a:pPr>
            <a:r>
              <a:rPr sz="1200" b="0" i="0">
                <a:solidFill>
                  <a:srgbClr val="002B5C"/>
                </a:solidFill>
                <a:latin typeface="Aptos Display"/>
                <a:cs typeface="Aptos Display"/>
              </a:rPr>
              <a:t>No automatic manager or shareholder recourse</a:t>
            </a:r>
          </a:p>
        </p:txBody>
      </p:sp>
      <p:sp>
        <p:nvSpPr>
          <p:cNvPr id="18" name="TextBox 17"/>
          <p:cNvSpPr txBox="1"/>
          <p:nvPr/>
        </p:nvSpPr>
        <p:spPr>
          <a:xfrm>
            <a:off x="4389120" y="3474720"/>
            <a:ext cx="7132320" cy="502920"/>
          </a:xfrm>
          <a:prstGeom prst="rect">
            <a:avLst/>
          </a:prstGeom>
          <a:noFill/>
        </p:spPr>
        <p:txBody>
          <a:bodyPr wrap="square" anchor="t" lIns="0" rIns="0" tIns="0" bIns="0">
            <a:spAutoFit/>
          </a:bodyPr>
          <a:lstStyle/>
          <a:p>
            <a:pPr algn="l">
              <a:lnSpc>
                <a:spcPct val="114000"/>
              </a:lnSpc>
              <a:spcBef>
                <a:spcPts val="0"/>
              </a:spcBef>
              <a:spcAft>
                <a:spcPts val="0"/>
              </a:spcAft>
            </a:pPr>
            <a:r>
              <a:rPr sz="1150" b="0" i="0">
                <a:solidFill>
                  <a:srgbClr val="35464F"/>
                </a:solidFill>
                <a:latin typeface="Aptos"/>
                <a:cs typeface="Aptos"/>
              </a:rPr>
              <a:t>The role of Aravest as manager, or SMFL as shareholder, does not by itself create recourse to either party.</a:t>
            </a:r>
          </a:p>
        </p:txBody>
      </p:sp>
      <p:sp>
        <p:nvSpPr>
          <p:cNvPr id="19" name="Rectangle 18"/>
          <p:cNvSpPr/>
          <p:nvPr/>
        </p:nvSpPr>
        <p:spPr>
          <a:xfrm>
            <a:off x="640080" y="3950208"/>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014216"/>
            <a:ext cx="3108960" cy="502920"/>
          </a:xfrm>
          <a:prstGeom prst="rect">
            <a:avLst/>
          </a:prstGeom>
          <a:noFill/>
        </p:spPr>
        <p:txBody>
          <a:bodyPr wrap="square" anchor="t" lIns="0" rIns="0" tIns="0" bIns="0">
            <a:spAutoFit/>
          </a:bodyPr>
          <a:lstStyle/>
          <a:p>
            <a:pPr algn="l">
              <a:lnSpc>
                <a:spcPct val="108000"/>
              </a:lnSpc>
              <a:spcBef>
                <a:spcPts val="0"/>
              </a:spcBef>
              <a:spcAft>
                <a:spcPts val="0"/>
              </a:spcAft>
            </a:pPr>
            <a:r>
              <a:rPr sz="1200" b="0" i="0">
                <a:solidFill>
                  <a:srgbClr val="002B5C"/>
                </a:solidFill>
                <a:latin typeface="Aptos Display"/>
                <a:cs typeface="Aptos Display"/>
              </a:rPr>
              <a:t>Institutional governance</a:t>
            </a:r>
          </a:p>
        </p:txBody>
      </p:sp>
      <p:sp>
        <p:nvSpPr>
          <p:cNvPr id="21" name="TextBox 20"/>
          <p:cNvSpPr txBox="1"/>
          <p:nvPr/>
        </p:nvSpPr>
        <p:spPr>
          <a:xfrm>
            <a:off x="4389120" y="4023360"/>
            <a:ext cx="7132320" cy="502920"/>
          </a:xfrm>
          <a:prstGeom prst="rect">
            <a:avLst/>
          </a:prstGeom>
          <a:noFill/>
        </p:spPr>
        <p:txBody>
          <a:bodyPr wrap="square" anchor="t" lIns="0" rIns="0" tIns="0" bIns="0">
            <a:spAutoFit/>
          </a:bodyPr>
          <a:lstStyle/>
          <a:p>
            <a:pPr algn="l">
              <a:lnSpc>
                <a:spcPct val="114000"/>
              </a:lnSpc>
              <a:spcBef>
                <a:spcPts val="0"/>
              </a:spcBef>
              <a:spcAft>
                <a:spcPts val="0"/>
              </a:spcAft>
            </a:pPr>
            <a:r>
              <a:rPr sz="1150" b="0" i="0">
                <a:solidFill>
                  <a:srgbClr val="35464F"/>
                </a:solidFill>
                <a:latin typeface="Aptos"/>
                <a:cs typeface="Aptos"/>
              </a:rPr>
              <a:t>Each structure should provide appropriate decision rights, reserved matters, conflicts management, reporting, valuation and oversight.</a:t>
            </a:r>
          </a:p>
        </p:txBody>
      </p:sp>
      <p:sp>
        <p:nvSpPr>
          <p:cNvPr id="22" name="Rectangle 21"/>
          <p:cNvSpPr/>
          <p:nvPr/>
        </p:nvSpPr>
        <p:spPr>
          <a:xfrm>
            <a:off x="640080" y="4498848"/>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562856"/>
            <a:ext cx="3108960" cy="502920"/>
          </a:xfrm>
          <a:prstGeom prst="rect">
            <a:avLst/>
          </a:prstGeom>
          <a:noFill/>
        </p:spPr>
        <p:txBody>
          <a:bodyPr wrap="square" anchor="t" lIns="0" rIns="0" tIns="0" bIns="0">
            <a:spAutoFit/>
          </a:bodyPr>
          <a:lstStyle/>
          <a:p>
            <a:pPr algn="l">
              <a:lnSpc>
                <a:spcPct val="108000"/>
              </a:lnSpc>
              <a:spcBef>
                <a:spcPts val="0"/>
              </a:spcBef>
              <a:spcAft>
                <a:spcPts val="0"/>
              </a:spcAft>
            </a:pPr>
            <a:r>
              <a:rPr sz="1200" b="0" i="0">
                <a:solidFill>
                  <a:srgbClr val="002B5C"/>
                </a:solidFill>
                <a:latin typeface="Aptos Display"/>
                <a:cs typeface="Aptos Display"/>
              </a:rPr>
              <a:t>Responsible capital structure</a:t>
            </a:r>
          </a:p>
        </p:txBody>
      </p:sp>
      <p:sp>
        <p:nvSpPr>
          <p:cNvPr id="24" name="TextBox 23"/>
          <p:cNvSpPr txBox="1"/>
          <p:nvPr/>
        </p:nvSpPr>
        <p:spPr>
          <a:xfrm>
            <a:off x="4389120" y="4572000"/>
            <a:ext cx="7132320" cy="502920"/>
          </a:xfrm>
          <a:prstGeom prst="rect">
            <a:avLst/>
          </a:prstGeom>
          <a:noFill/>
        </p:spPr>
        <p:txBody>
          <a:bodyPr wrap="square" anchor="t" lIns="0" rIns="0" tIns="0" bIns="0">
            <a:spAutoFit/>
          </a:bodyPr>
          <a:lstStyle/>
          <a:p>
            <a:pPr algn="l">
              <a:lnSpc>
                <a:spcPct val="114000"/>
              </a:lnSpc>
              <a:spcBef>
                <a:spcPts val="0"/>
              </a:spcBef>
              <a:spcAft>
                <a:spcPts val="0"/>
              </a:spcAft>
            </a:pPr>
            <a:r>
              <a:rPr sz="1150" b="0" i="0">
                <a:solidFill>
                  <a:srgbClr val="35464F"/>
                </a:solidFill>
                <a:latin typeface="Aptos"/>
                <a:cs typeface="Aptos"/>
              </a:rPr>
              <a:t>Leverage, liquidity, risk allocation and the route to capital recycling or exit should be appropriate to the investment strategy.</a:t>
            </a:r>
          </a:p>
        </p:txBody>
      </p:sp>
      <p:sp>
        <p:nvSpPr>
          <p:cNvPr id="25" name="Rectangle 24"/>
          <p:cNvSpPr/>
          <p:nvPr/>
        </p:nvSpPr>
        <p:spPr>
          <a:xfrm>
            <a:off x="640080" y="5047488"/>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5175504"/>
            <a:ext cx="10908792" cy="969264"/>
          </a:xfrm>
          <a:prstGeom prst="roundRect">
            <a:avLst>
              <a:gd name="adj" fmla="val 849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285232"/>
            <a:ext cx="10396728" cy="777240"/>
          </a:xfrm>
          <a:prstGeom prst="rect">
            <a:avLst/>
          </a:prstGeom>
          <a:noFill/>
        </p:spPr>
        <p:txBody>
          <a:bodyPr wrap="square" anchor="t" lIns="0" rIns="0" tIns="0" bIns="0">
            <a:spAutoFit/>
          </a:bodyPr>
          <a:lstStyle/>
          <a:p>
            <a:pPr algn="l">
              <a:spcBef>
                <a:spcPts val="0"/>
              </a:spcBef>
              <a:spcAft>
                <a:spcPts val="400"/>
              </a:spcAft>
            </a:pPr>
            <a:r>
              <a:rPr sz="900" b="1" i="0" spc="120">
                <a:solidFill>
                  <a:srgbClr val="D5DDE6"/>
                </a:solidFill>
                <a:latin typeface="Aptos"/>
                <a:cs typeface="Aptos"/>
              </a:rPr>
              <a:t>EXCEPTIONS MUST BE EXPLICIT AND SEPARATELY APPROVED</a:t>
            </a:r>
          </a:p>
          <a:p>
            <a:pPr algn="l">
              <a:lnSpc>
                <a:spcPct val="120000"/>
              </a:lnSpc>
              <a:spcBef>
                <a:spcPts val="0"/>
              </a:spcBef>
              <a:spcAft>
                <a:spcPts val="0"/>
              </a:spcAft>
            </a:pPr>
            <a:r>
              <a:rPr sz="1150" b="0" i="0">
                <a:solidFill>
                  <a:srgbClr val="FFFFFF"/>
                </a:solidFill>
                <a:latin typeface="Aptos"/>
                <a:cs typeface="Aptos"/>
              </a:rPr>
              <a:t>Any guarantee, keepwell, completion support, cost-overrun undertaking, indemnity or other manager- or shareholder-level obligation must be specifically identified, assessed, quantified and expressly approved through the applicable governance process.</a:t>
            </a:r>
          </a:p>
        </p:txBody>
      </p:sp>
      <p:sp>
        <p:nvSpPr>
          <p:cNvPr id="28" name="TextBox 27"/>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9" name="TextBox 28"/>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20</a:t>
            </a:r>
          </a:p>
        </p:txBody>
      </p:sp>
      <p:pic>
        <p:nvPicPr>
          <p:cNvPr id="30" name="Picture 29"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75488"/>
            <a:ext cx="82296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D5DDE6"/>
                </a:solidFill>
                <a:latin typeface="Aptos"/>
                <a:cs typeface="Aptos"/>
              </a:rPr>
              <a:t>The v8 proposition</a:t>
            </a:r>
          </a:p>
        </p:txBody>
      </p:sp>
      <p:sp>
        <p:nvSpPr>
          <p:cNvPr id="4" name="TextBox 3"/>
          <p:cNvSpPr txBox="1"/>
          <p:nvPr/>
        </p:nvSpPr>
        <p:spPr>
          <a:xfrm>
            <a:off x="640080" y="786384"/>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FFFFFF"/>
                </a:solidFill>
                <a:latin typeface="Aptos Display"/>
                <a:cs typeface="Aptos Display"/>
              </a:rPr>
              <a:t>One coherent proposition for Aravest’s next phase.</a:t>
            </a:r>
          </a:p>
        </p:txBody>
      </p:sp>
      <p:sp>
        <p:nvSpPr>
          <p:cNvPr id="5" name="Rounded Rectangle 4"/>
          <p:cNvSpPr/>
          <p:nvPr/>
        </p:nvSpPr>
        <p:spPr>
          <a:xfrm>
            <a:off x="640080" y="1828800"/>
            <a:ext cx="10908792" cy="2834640"/>
          </a:xfrm>
          <a:prstGeom prst="roundRect">
            <a:avLst>
              <a:gd name="adj" fmla="val 2903"/>
            </a:avLst>
          </a:prstGeom>
          <a:solidFill>
            <a:srgbClr val="123154"/>
          </a:solidFill>
          <a:ln w="9525">
            <a:solidFill>
              <a:srgbClr val="3852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084831"/>
            <a:ext cx="10287000" cy="2377440"/>
          </a:xfrm>
          <a:prstGeom prst="rect">
            <a:avLst/>
          </a:prstGeom>
          <a:noFill/>
        </p:spPr>
        <p:txBody>
          <a:bodyPr wrap="square" anchor="t" lIns="0" rIns="0" tIns="0" bIns="0">
            <a:spAutoFit/>
          </a:bodyPr>
          <a:lstStyle/>
          <a:p>
            <a:pPr algn="l">
              <a:lnSpc>
                <a:spcPct val="140000"/>
              </a:lnSpc>
              <a:spcBef>
                <a:spcPts val="0"/>
              </a:spcBef>
              <a:spcAft>
                <a:spcPts val="1000"/>
              </a:spcAft>
            </a:pPr>
            <a:r>
              <a:rPr sz="1500" b="0" i="0">
                <a:solidFill>
                  <a:srgbClr val="FFFFFF"/>
                </a:solidFill>
                <a:latin typeface="Aptos"/>
                <a:cs typeface="Aptos"/>
              </a:rPr>
              <a:t>Aravest is values-led in how it invests and value-focused in where it deploys. It will remain sector-flexible within a defined 2027 investment focus, pursue opportunities only where there is a clear value-creation plan and complete capability coverage, and structure every fund and investment to institutional standards.</a:t>
            </a:r>
          </a:p>
          <a:p>
            <a:pPr algn="l">
              <a:lnSpc>
                <a:spcPct val="140000"/>
              </a:lnSpc>
              <a:spcBef>
                <a:spcPts val="0"/>
              </a:spcBef>
              <a:spcAft>
                <a:spcPts val="0"/>
              </a:spcAft>
            </a:pPr>
            <a:r>
              <a:rPr sz="1500" b="0" i="0">
                <a:solidFill>
                  <a:srgbClr val="FFFFFF"/>
                </a:solidFill>
                <a:latin typeface="Aptos"/>
                <a:cs typeface="Aptos"/>
              </a:rPr>
              <a:t>Committed equity is exposed to investment performance, but wider liabilities are generally ring-fenced, with no automatic recourse to Aravest as manager or SMFL as shareholder.</a:t>
            </a:r>
          </a:p>
        </p:txBody>
      </p:sp>
      <p:sp>
        <p:nvSpPr>
          <p:cNvPr id="7" name="TextBox 6"/>
          <p:cNvSpPr txBox="1"/>
          <p:nvPr/>
        </p:nvSpPr>
        <p:spPr>
          <a:xfrm>
            <a:off x="640080" y="5029200"/>
            <a:ext cx="10908792" cy="365760"/>
          </a:xfrm>
          <a:prstGeom prst="rect">
            <a:avLst/>
          </a:prstGeom>
          <a:noFill/>
        </p:spPr>
        <p:txBody>
          <a:bodyPr wrap="square" anchor="t" lIns="0" rIns="0" tIns="0" bIns="0">
            <a:spAutoFit/>
          </a:bodyPr>
          <a:lstStyle/>
          <a:p>
            <a:pPr>
              <a:spcAft>
                <a:spcPts val="0"/>
              </a:spcAft>
            </a:pPr>
            <a:r>
              <a:rPr sz="1250" b="1" i="0">
                <a:solidFill>
                  <a:srgbClr val="8FC6C6"/>
                </a:solidFill>
                <a:latin typeface="Aptos"/>
                <a:cs typeface="Aptos"/>
              </a:rPr>
              <a:t>Pathway 1 builds the record</a:t>
            </a:r>
            <a:r>
              <a:rPr sz="1250" b="0" i="0">
                <a:solidFill>
                  <a:srgbClr val="D5DDE6"/>
                </a:solidFill>
                <a:latin typeface="Aptos"/>
                <a:cs typeface="Aptos"/>
              </a:rPr>
              <a:t>   ·   </a:t>
            </a:r>
            <a:r>
              <a:rPr sz="1250" b="1" i="0">
                <a:solidFill>
                  <a:srgbClr val="A9C6E2"/>
                </a:solidFill>
                <a:latin typeface="Aptos"/>
                <a:cs typeface="Aptos"/>
              </a:rPr>
              <a:t>Pathway 2 can accelerate scale</a:t>
            </a:r>
          </a:p>
        </p:txBody>
      </p:sp>
      <p:sp>
        <p:nvSpPr>
          <p:cNvPr id="8" name="TextBox 7"/>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D5DDE6"/>
                </a:solidFill>
                <a:latin typeface="Aptos"/>
                <a:cs typeface="Aptos"/>
              </a:rPr>
              <a:t>Private and Confidential</a:t>
            </a:r>
          </a:p>
        </p:txBody>
      </p:sp>
      <p:sp>
        <p:nvSpPr>
          <p:cNvPr id="9" name="TextBox 8"/>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D5DDE6"/>
                </a:solidFill>
                <a:latin typeface="Aptos"/>
                <a:cs typeface="Aptos"/>
              </a:rPr>
              <a:t>21</a:t>
            </a:r>
          </a:p>
        </p:txBody>
      </p:sp>
      <p:pic>
        <p:nvPicPr>
          <p:cNvPr id="10" name="Picture 9" descr="logo_white.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Important notice · Singapore</a:t>
            </a:r>
          </a:p>
        </p:txBody>
      </p:sp>
      <p:sp>
        <p:nvSpPr>
          <p:cNvPr id="4" name="Rectangle 3"/>
          <p:cNvSpPr/>
          <p:nvPr/>
        </p:nvSpPr>
        <p:spPr>
          <a:xfrm>
            <a:off x="640080" y="67665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 Copyright 2024, Aravest. The concepts and information contained in this paper are the property of Aravest. You acknowledge Aravest is the owner of the intellectual or industrial property owned or used in connection with any business of Aravest and which is set out in this paper. </a:t>
            </a:r>
          </a:p>
          <a:p>
            <a:pPr algn="l">
              <a:lnSpc>
                <a:spcPct val="112000"/>
              </a:lnSpc>
              <a:spcBef>
                <a:spcPts val="0"/>
              </a:spcBef>
              <a:spcAft>
                <a:spcPts val="500"/>
              </a:spcAft>
            </a:pPr>
            <a:r>
              <a:rPr sz="750" b="0" i="0">
                <a:solidFill>
                  <a:srgbClr val="35464F"/>
                </a:solidFill>
                <a:latin typeface="Aptos"/>
                <a:cs typeface="Aptos"/>
              </a:rPr>
              <a:t>This paper has been prepared by or on behalf of Aravest Fund Management Pte. Ltd. (“Aravest”) solely for preliminary general information purposes and without considering your individual objectives, financial situation or needs. Aravest is licensed by the Monetary Authority of Singapore to provide fund management services only to (i) accredited investors, (ii) institutional investors, (iii) collective investment schemes or closed-end funds, the units of which are the subject of an offer or invitation for subscription or purchase made only to accredited investors, or investors in an equivalent class under the laws of the country or territory in which the offer or invitation is made, or institutional investors, or both, and (iv) limited partnerships, where the limited partners comprise solely of accredited investors or investors in an equivalent class under the laws of the country or territory in which the partnership is formed, or institutional investors, or both. </a:t>
            </a:r>
          </a:p>
          <a:p>
            <a:pPr algn="l">
              <a:lnSpc>
                <a:spcPct val="112000"/>
              </a:lnSpc>
              <a:spcBef>
                <a:spcPts val="0"/>
              </a:spcBef>
              <a:spcAft>
                <a:spcPts val="500"/>
              </a:spcAft>
            </a:pPr>
            <a:r>
              <a:rPr sz="750" b="0" i="0">
                <a:solidFill>
                  <a:srgbClr val="35464F"/>
                </a:solidFill>
                <a:latin typeface="Aptos"/>
                <a:cs typeface="Aptos"/>
              </a:rPr>
              <a:t>This paper is strictly confidential and is solely for your own use and that of your necessary professional advisers. It must not be provided to any other party without the prior written consent of Aravest, which may be withheld in the absolute discretion of Aravest. No part of this paper may be copied, reproduced, transmitted or re-distributed without Aravest’ prior written consent. </a:t>
            </a:r>
          </a:p>
          <a:p>
            <a:pPr algn="l">
              <a:lnSpc>
                <a:spcPct val="112000"/>
              </a:lnSpc>
              <a:spcBef>
                <a:spcPts val="0"/>
              </a:spcBef>
              <a:spcAft>
                <a:spcPts val="500"/>
              </a:spcAft>
            </a:pPr>
            <a:r>
              <a:rPr sz="750" b="0" i="0">
                <a:solidFill>
                  <a:srgbClr val="35464F"/>
                </a:solidFill>
                <a:latin typeface="Aptos"/>
                <a:cs typeface="Aptos"/>
              </a:rPr>
              <a:t>The content in this paper does not constitute financial product advice (nor investment, tax or legal advice) by Aravest or its officers, employees, affiliates, holding companies, subsidiaries or controlling persons, directors, officers, partners, agents, representatives or advisers (collectively with Aravest, the “Aravest Representatives”). The information in this paper is general information only and has been prepared without considering your objectives, financial situation or needs. Before acting on any information in this paper, you should consider its appropriateness to your circumstances and obtain appropriate professional advice. Under no circumstances should shareholders, customers, suppliers or transaction counterparties of Aravest be contacted directly concerning this information or a possible transaction.</a:t>
            </a:r>
          </a:p>
          <a:p>
            <a:pPr algn="l">
              <a:lnSpc>
                <a:spcPct val="112000"/>
              </a:lnSpc>
              <a:spcBef>
                <a:spcPts val="0"/>
              </a:spcBef>
              <a:spcAft>
                <a:spcPts val="500"/>
              </a:spcAft>
            </a:pPr>
            <a:r>
              <a:rPr sz="750" b="0" i="0">
                <a:solidFill>
                  <a:srgbClr val="35464F"/>
                </a:solidFill>
                <a:latin typeface="Aptos"/>
                <a:cs typeface="Aptos"/>
              </a:rPr>
              <a:t>Statements in this paper are made only as of the date of this paper unless otherwise stated and solely for the purposes for which they are expressed to be prepared (or for general information purposes only if no purpose is specified). Nothing shall create an implication that the information contained herein is correct as of any other time subsequent to such date(s).</a:t>
            </a:r>
          </a:p>
        </p:txBody>
      </p:sp>
      <p:sp>
        <p:nvSpPr>
          <p:cNvPr id="6" name="TextBox 5"/>
          <p:cNvSpPr txBox="1"/>
          <p:nvPr/>
        </p:nvSpPr>
        <p:spPr>
          <a:xfrm>
            <a:off x="6277356"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No Aravest Representative is responsible for providing updated information to you. Any forecasts, targets, projections, estimates or other forward-looking statements contained in this paper may involve significant elements of subjective judgement and assumptions as to future events which may or may not be correct. There are usually differences between forecast, projected and actual results because events and actual circumstances frequently do not occur as forecast or projected and these differences may be material. Representative examples of these factors include but are not limited to general market and economic conditions, interest rate trends, competition from other investors, changes in operating expenses including employee wages and benefits, changes in government policies, and the continued availability of financing in the amounts and terms necessary to support future business. Any forecast or projected return rates shown in this paper are neither promised nor guaranteed – they are each based on a number of assumptions and subject to the impact of risk factors. </a:t>
            </a:r>
          </a:p>
          <a:p>
            <a:pPr algn="l">
              <a:lnSpc>
                <a:spcPct val="112000"/>
              </a:lnSpc>
              <a:spcBef>
                <a:spcPts val="0"/>
              </a:spcBef>
              <a:spcAft>
                <a:spcPts val="500"/>
              </a:spcAft>
            </a:pPr>
            <a:r>
              <a:rPr sz="750" b="0" i="0">
                <a:solidFill>
                  <a:srgbClr val="35464F"/>
                </a:solidFill>
                <a:latin typeface="Aptos"/>
                <a:cs typeface="Aptos"/>
              </a:rPr>
              <a:t>No Aravest Representative makes any representation or warranty as to, or takes responsibility for, the accuracy, reliability or completeness of the information contained in this paper. Nothing contained in this paper, nor any other related information made available you is, or shall be relied upon as, a promise, representation, warranty or guarantee, whether as to the past, present or the future. Information in this paper from external sources has not been independently verified by any Aravest Representative and the Aravest Representatives do not assume any responsibility for the accuracy of such information. </a:t>
            </a:r>
          </a:p>
          <a:p>
            <a:pPr algn="l">
              <a:lnSpc>
                <a:spcPct val="112000"/>
              </a:lnSpc>
              <a:spcBef>
                <a:spcPts val="0"/>
              </a:spcBef>
              <a:spcAft>
                <a:spcPts val="500"/>
              </a:spcAft>
            </a:pPr>
            <a:r>
              <a:rPr sz="750" b="0" i="0">
                <a:solidFill>
                  <a:srgbClr val="35464F"/>
                </a:solidFill>
                <a:latin typeface="Aptos"/>
                <a:cs typeface="Aptos"/>
              </a:rPr>
              <a:t>To the maximum extent permitted by law, each Aravest Representative disclaims all liability and you expressly release each Aravest Representative from, any liability, that may otherwise arise from reliance upon this paper or due to any information contained in this paper being inaccurate or due to information being omitted from this paper, whether by way of negligence or otherwise. Each recipient of this paper should conduct its own independent review, investigations, verification and analysis of the information contained or referred to in this paper. Each recipient of this paper represents and warrants that it is and at all times will be a wholesale client, an accredited investor or an institutional investor. </a:t>
            </a:r>
          </a:p>
          <a:p>
            <a:pPr algn="l">
              <a:lnSpc>
                <a:spcPct val="112000"/>
              </a:lnSpc>
              <a:spcBef>
                <a:spcPts val="0"/>
              </a:spcBef>
              <a:spcAft>
                <a:spcPts val="500"/>
              </a:spcAft>
            </a:pPr>
            <a:r>
              <a:rPr sz="750" b="0" i="0">
                <a:solidFill>
                  <a:srgbClr val="35464F"/>
                </a:solidFill>
                <a:latin typeface="Aptos"/>
                <a:cs typeface="Aptos"/>
              </a:rPr>
              <a:t>All rights are reserved by Aravest. </a:t>
            </a:r>
          </a:p>
        </p:txBody>
      </p:sp>
      <p:sp>
        <p:nvSpPr>
          <p:cNvPr id="7" name="TextBox 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8" name="TextBox 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22</a:t>
            </a:r>
          </a:p>
        </p:txBody>
      </p:sp>
      <p:pic>
        <p:nvPicPr>
          <p:cNvPr id="9" name="Picture 8"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5001768" y="2377440"/>
            <a:ext cx="1502449" cy="868680"/>
          </a:xfrm>
          <a:prstGeom prst="rect">
            <a:avLst/>
          </a:prstGeom>
        </p:spPr>
      </p:pic>
      <p:sp>
        <p:nvSpPr>
          <p:cNvPr id="4" name="TextBox 3"/>
          <p:cNvSpPr txBox="1"/>
          <p:nvPr/>
        </p:nvSpPr>
        <p:spPr>
          <a:xfrm>
            <a:off x="0" y="3703320"/>
            <a:ext cx="12191695" cy="1097280"/>
          </a:xfrm>
          <a:prstGeom prst="rect">
            <a:avLst/>
          </a:prstGeom>
          <a:noFill/>
        </p:spPr>
        <p:txBody>
          <a:bodyPr wrap="square" anchor="t" lIns="0" rIns="0" tIns="0" bIns="0">
            <a:spAutoFit/>
          </a:bodyPr>
          <a:lstStyle/>
          <a:p>
            <a:pPr algn="ctr">
              <a:spcBef>
                <a:spcPts val="0"/>
              </a:spcBef>
              <a:spcAft>
                <a:spcPts val="200"/>
              </a:spcAft>
            </a:pPr>
            <a:r>
              <a:rPr sz="1150" b="0" i="0">
                <a:solidFill>
                  <a:srgbClr val="D5DDE6"/>
                </a:solidFill>
                <a:latin typeface="Aptos"/>
                <a:cs typeface="Aptos"/>
              </a:rPr>
              <a:t>23 Church Street #09-05 </a:t>
            </a:r>
          </a:p>
          <a:p>
            <a:pPr algn="ctr">
              <a:spcBef>
                <a:spcPts val="0"/>
              </a:spcBef>
              <a:spcAft>
                <a:spcPts val="200"/>
              </a:spcAft>
            </a:pPr>
            <a:r>
              <a:rPr sz="1150" b="0" i="0">
                <a:solidFill>
                  <a:srgbClr val="D5DDE6"/>
                </a:solidFill>
                <a:latin typeface="Aptos"/>
                <a:cs typeface="Aptos"/>
              </a:rPr>
              <a:t>Capital Square </a:t>
            </a:r>
          </a:p>
          <a:p>
            <a:pPr algn="ctr">
              <a:spcBef>
                <a:spcPts val="0"/>
              </a:spcBef>
              <a:spcAft>
                <a:spcPts val="200"/>
              </a:spcAft>
            </a:pPr>
            <a:r>
              <a:rPr sz="1150" b="0" i="0">
                <a:solidFill>
                  <a:srgbClr val="D5DDE6"/>
                </a:solidFill>
                <a:latin typeface="Aptos"/>
                <a:cs typeface="Aptos"/>
              </a:rPr>
              <a:t>Singapore 049481</a:t>
            </a:r>
          </a:p>
          <a:p>
            <a:pPr algn="ctr">
              <a:spcBef>
                <a:spcPts val="0"/>
              </a:spcBef>
              <a:spcAft>
                <a:spcPts val="200"/>
              </a:spcAft>
            </a:pPr>
            <a:r>
              <a:rPr sz="1150" b="0" i="0">
                <a:solidFill>
                  <a:srgbClr val="D5DDE6"/>
                </a:solidFill>
                <a:latin typeface="Aptos"/>
                <a:cs typeface="Aptos"/>
              </a:rPr>
              <a:t>Aravest Pte Ltd</a:t>
            </a:r>
          </a:p>
        </p:txBody>
      </p:sp>
      <p:sp>
        <p:nvSpPr>
          <p:cNvPr id="5" name="TextBox 4"/>
          <p:cNvSpPr txBox="1"/>
          <p:nvPr/>
        </p:nvSpPr>
        <p:spPr>
          <a:xfrm>
            <a:off x="0" y="6355080"/>
            <a:ext cx="12191695" cy="320040"/>
          </a:xfrm>
          <a:prstGeom prst="rect">
            <a:avLst/>
          </a:prstGeom>
          <a:noFill/>
        </p:spPr>
        <p:txBody>
          <a:bodyPr wrap="square" anchor="t" lIns="0" rIns="0" tIns="0" bIns="0">
            <a:spAutoFit/>
          </a:bodyPr>
          <a:lstStyle/>
          <a:p>
            <a:pPr algn="ctr">
              <a:spcBef>
                <a:spcPts val="0"/>
              </a:spcBef>
              <a:spcAft>
                <a:spcPts val="0"/>
              </a:spcAft>
            </a:pPr>
            <a:r>
              <a:rPr sz="850" b="0" i="0">
                <a:solidFill>
                  <a:srgbClr val="D5DDE6"/>
                </a:solidFill>
                <a:latin typeface="Aptos"/>
                <a:cs typeface="Aptos"/>
              </a:rPr>
              <a:t>Private and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