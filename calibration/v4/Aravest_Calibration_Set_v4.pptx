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A_fu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147">
              <a:alpha val="6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685800"/>
            <a:ext cx="917285" cy="53035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14400" y="2724912"/>
            <a:ext cx="777240" cy="19050"/>
          </a:xfrm>
          <a:prstGeom prst="rect">
            <a:avLst/>
          </a:prstGeom>
          <a:solidFill>
            <a:srgbClr val="C8A9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88950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80" cap="all">
                <a:solidFill>
                  <a:srgbClr val="D5DDE6"/>
                </a:solidFill>
                <a:latin typeface="Aptos"/>
                <a:cs typeface="Aptos"/>
              </a:rPr>
              <a:t>Board Strategy Meeting  · 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3255264"/>
            <a:ext cx="104241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600" b="0" i="0">
                <a:solidFill>
                  <a:srgbClr val="FFFFFF"/>
                </a:solidFill>
                <a:latin typeface="Spectral Light"/>
                <a:cs typeface="Spectral Light"/>
              </a:rPr>
              <a:t>Aravest’s </a:t>
            </a:r>
            <a:r>
              <a:rPr sz="4600" b="0" i="1">
                <a:solidFill>
                  <a:srgbClr val="FFFFFF"/>
                </a:solidFill>
                <a:latin typeface="Spectral Light"/>
                <a:cs typeface="Spectral Light"/>
              </a:rPr>
              <a:t>Next Phase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70832"/>
            <a:ext cx="79552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D5DDE6"/>
                </a:solidFill>
                <a:latin typeface="Aptos"/>
                <a:cs typeface="Aptos"/>
              </a:rPr>
              <a:t>From integration to institution-building: establishing the post-SMFL track record, defining the near-term investment focus and developing the pathways for sustainable long-term growth.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355080"/>
            <a:ext cx="10332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D5DDE6"/>
                </a:solidFill>
                <a:latin typeface="Aptos"/>
                <a:cs typeface="Aptos"/>
              </a:rPr>
              <a:t>Aravest Fund Management Pte. Ltd.      Private and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-1920240" y="3794760"/>
            <a:ext cx="5852160" cy="4206240"/>
          </a:xfrm>
          <a:prstGeom prst="triangle">
            <a:avLst/>
          </a:prstGeom>
          <a:noFill/>
          <a:ln w="12700">
            <a:solidFill>
              <a:srgbClr val="1F3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verB_stri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8784" y="0"/>
            <a:ext cx="3632911" cy="6858000"/>
          </a:xfrm>
          <a:prstGeom prst="rect">
            <a:avLst/>
          </a:prstGeom>
        </p:spPr>
      </p:pic>
      <p:pic>
        <p:nvPicPr>
          <p:cNvPr id="5" name="Picture 4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685800"/>
            <a:ext cx="917285" cy="53035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14400" y="2615184"/>
            <a:ext cx="777240" cy="19050"/>
          </a:xfrm>
          <a:prstGeom prst="rect">
            <a:avLst/>
          </a:prstGeom>
          <a:solidFill>
            <a:srgbClr val="C8A9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7977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80" cap="all">
                <a:solidFill>
                  <a:srgbClr val="869397"/>
                </a:solidFill>
                <a:latin typeface="Aptos"/>
                <a:cs typeface="Aptos"/>
              </a:rPr>
              <a:t>Board Strategy Meeting  · 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145536"/>
            <a:ext cx="7498079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0" i="0">
                <a:solidFill>
                  <a:srgbClr val="FFFFFF"/>
                </a:solidFill>
                <a:latin typeface="Spectral Light"/>
                <a:cs typeface="Spectral Light"/>
              </a:rPr>
              <a:t>Aravest’s </a:t>
            </a:r>
            <a:r>
              <a:rPr sz="4200" b="0" i="1">
                <a:solidFill>
                  <a:srgbClr val="FFFFFF"/>
                </a:solidFill>
                <a:latin typeface="Spectral Light"/>
                <a:cs typeface="Spectral Light"/>
              </a:rPr>
              <a:t>Next Phase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87952"/>
            <a:ext cx="6858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D5DDE6"/>
                </a:solidFill>
                <a:latin typeface="Aptos"/>
                <a:cs typeface="Aptos"/>
              </a:rPr>
              <a:t>From integration to institution-building: establishing the post-SMFL track record, defining the near-term investment focus and developing the pathways for sustainable long-term growth.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355080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D5DDE6"/>
                </a:solidFill>
                <a:latin typeface="Aptos"/>
                <a:cs typeface="Aptos"/>
              </a:rPr>
              <a:t>Aravest Fund Management Pte. Ltd.      Private and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12064"/>
            <a:ext cx="10360152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000" b="0" i="0">
                <a:solidFill>
                  <a:srgbClr val="002B5C"/>
                </a:solidFill>
                <a:latin typeface="Aptos Display"/>
                <a:cs typeface="Aptos Display"/>
              </a:rPr>
              <a:t>Aravest is moving from integration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000" b="0" i="0">
                <a:solidFill>
                  <a:srgbClr val="002B5C"/>
                </a:solidFill>
                <a:latin typeface="Aptos Display"/>
                <a:cs typeface="Aptos Display"/>
              </a:rPr>
              <a:t>into </a:t>
            </a:r>
            <a:r>
              <a:rPr sz="3000" b="0" i="1">
                <a:solidFill>
                  <a:srgbClr val="002B5C"/>
                </a:solidFill>
                <a:latin typeface="Spectral Light"/>
                <a:cs typeface="Spectral Light"/>
              </a:rPr>
              <a:t>institution-building</a:t>
            </a:r>
            <a:r>
              <a:rPr sz="3000" b="0" i="0">
                <a:solidFill>
                  <a:srgbClr val="002B5C"/>
                </a:solidFill>
                <a:latin typeface="Aptos Display"/>
                <a:cs typeface="Aptos Display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55648"/>
            <a:ext cx="10149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5464F"/>
                </a:solidFill>
                <a:latin typeface="Aptos"/>
                <a:cs typeface="Aptos"/>
              </a:rPr>
              <a:t>The initial integration into SMFL has been substantially completed. The next phase is to develop the institutional foundations and investment record required for sustainable long-term growth.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615184"/>
            <a:ext cx="2487168" cy="2724912"/>
          </a:xfrm>
          <a:prstGeom prst="roundRect">
            <a:avLst>
              <a:gd name="adj" fmla="val 3308"/>
            </a:avLst>
          </a:prstGeom>
          <a:solidFill>
            <a:srgbClr val="F2F9F9"/>
          </a:solidFill>
          <a:ln w="9525">
            <a:solidFill>
              <a:srgbClr val="A6D3D3"/>
            </a:solidFill>
          </a:ln>
          <a:effectLst>
            <a:outerShdw blurRad="63500" dist="25400" dir="5400000" rotWithShape="0">
              <a:srgbClr val="002147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779776"/>
            <a:ext cx="2121408" cy="2395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 spc="120">
                <a:solidFill>
                  <a:srgbClr val="008080"/>
                </a:solidFill>
                <a:latin typeface="Aptos"/>
                <a:cs typeface="Aptos"/>
              </a:rPr>
              <a:t>01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002B5C"/>
                </a:solidFill>
                <a:latin typeface="Aptos Display"/>
                <a:cs typeface="Aptos Display"/>
              </a:rPr>
              <a:t>The Aravest Way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5464F"/>
                </a:solidFill>
                <a:latin typeface="Aptos"/>
                <a:cs typeface="Aptos"/>
              </a:rPr>
              <a:t>Values-led in how it invests; value-focused in where it deploys.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5464F"/>
                </a:solidFill>
                <a:latin typeface="Aptos"/>
                <a:cs typeface="Aptos"/>
              </a:rPr>
              <a:t>Investment management is a responsibility before it is a business — sector-flexible, but not strategy-neutral.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38728" y="2615184"/>
            <a:ext cx="2487168" cy="2724912"/>
          </a:xfrm>
          <a:prstGeom prst="roundRect">
            <a:avLst>
              <a:gd name="adj" fmla="val 3308"/>
            </a:avLst>
          </a:prstGeom>
          <a:solidFill>
            <a:srgbClr val="FFFFFF"/>
          </a:solidFill>
          <a:ln w="9525">
            <a:solidFill>
              <a:srgbClr val="CCD1D3"/>
            </a:solidFill>
          </a:ln>
          <a:effectLst>
            <a:outerShdw blurRad="63500" dist="25400" dir="5400000" rotWithShape="0">
              <a:srgbClr val="002147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21608" y="2779776"/>
            <a:ext cx="2121408" cy="2395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 spc="120">
                <a:solidFill>
                  <a:srgbClr val="869397"/>
                </a:solidFill>
                <a:latin typeface="Aptos"/>
                <a:cs typeface="Aptos"/>
              </a:rPr>
              <a:t>02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002B5C"/>
                </a:solidFill>
                <a:latin typeface="Aptos Display"/>
                <a:cs typeface="Aptos Display"/>
              </a:rPr>
              <a:t>The post-SMFL record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5464F"/>
                </a:solidFill>
                <a:latin typeface="Aptos"/>
                <a:cs typeface="Aptos"/>
              </a:rPr>
              <a:t>Judgement, execution, stewardship, performance, realisation and repeatability.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5464F"/>
                </a:solidFill>
                <a:latin typeface="Aptos"/>
                <a:cs typeface="Aptos"/>
              </a:rPr>
              <a:t>Confidence moves from the individual opportunity, to the repeat relationship, to the Aravest strategy.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3056" y="2615184"/>
            <a:ext cx="2487168" cy="2724912"/>
          </a:xfrm>
          <a:prstGeom prst="roundRect">
            <a:avLst>
              <a:gd name="adj" fmla="val 3308"/>
            </a:avLst>
          </a:prstGeom>
          <a:solidFill>
            <a:srgbClr val="F6F9FB"/>
          </a:solidFill>
          <a:ln w="9525">
            <a:solidFill>
              <a:srgbClr val="BED3E5"/>
            </a:solidFill>
          </a:ln>
          <a:effectLst>
            <a:outerShdw blurRad="63500" dist="25400" dir="5400000" rotWithShape="0">
              <a:srgbClr val="002147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5936" y="2779776"/>
            <a:ext cx="2121408" cy="2395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 spc="120">
                <a:solidFill>
                  <a:srgbClr val="4682B4"/>
                </a:solidFill>
                <a:latin typeface="Aptos"/>
                <a:cs typeface="Aptos"/>
              </a:rPr>
              <a:t>03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002B5C"/>
                </a:solidFill>
                <a:latin typeface="Aptos Display"/>
                <a:cs typeface="Aptos Display"/>
              </a:rPr>
              <a:t>Two parallel pathways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5464F"/>
                </a:solidFill>
                <a:latin typeface="Aptos"/>
                <a:cs typeface="Aptos"/>
              </a:rPr>
              <a:t>Diversified track-record building on the existing US$300 million.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5464F"/>
                </a:solidFill>
                <a:latin typeface="Aptos"/>
                <a:cs typeface="Aptos"/>
              </a:rPr>
              <a:t>Institutional-scale opportunities, case-by-case, can accelerate AUM, relevance and visibility.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87384" y="2615184"/>
            <a:ext cx="2487168" cy="2724912"/>
          </a:xfrm>
          <a:prstGeom prst="roundRect">
            <a:avLst>
              <a:gd name="adj" fmla="val 3308"/>
            </a:avLst>
          </a:prstGeom>
          <a:solidFill>
            <a:srgbClr val="FFFFFF"/>
          </a:solidFill>
          <a:ln w="9525">
            <a:solidFill>
              <a:srgbClr val="CCD1D3"/>
            </a:solidFill>
          </a:ln>
          <a:effectLst>
            <a:outerShdw blurRad="63500" dist="25400" dir="5400000" rotWithShape="0">
              <a:srgbClr val="002147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70264" y="2779776"/>
            <a:ext cx="2121408" cy="2395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 spc="120">
                <a:solidFill>
                  <a:srgbClr val="869397"/>
                </a:solidFill>
                <a:latin typeface="Aptos"/>
                <a:cs typeface="Aptos"/>
              </a:rPr>
              <a:t>04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002B5C"/>
                </a:solidFill>
                <a:latin typeface="Aptos Display"/>
                <a:cs typeface="Aptos Display"/>
              </a:rPr>
              <a:t>Institutional standards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5464F"/>
                </a:solidFill>
                <a:latin typeface="Aptos"/>
                <a:cs typeface="Aptos"/>
              </a:rPr>
              <a:t>Committed equity bears performance; wider liabilities are ring-fenced.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5464F"/>
                </a:solidFill>
                <a:latin typeface="Aptos"/>
                <a:cs typeface="Aptos"/>
              </a:rPr>
              <a:t>No automatic recourse to Aravest or SMFL; every fund structured to institutional standards.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5577840"/>
            <a:ext cx="10360152" cy="548640"/>
          </a:xfrm>
          <a:prstGeom prst="roundRect">
            <a:avLst>
              <a:gd name="adj" fmla="val 15000"/>
            </a:avLst>
          </a:prstGeom>
          <a:solidFill>
            <a:srgbClr val="002147"/>
          </a:solidFill>
          <a:ln>
            <a:noFill/>
          </a:ln>
          <a:effectLst>
            <a:outerShdw blurRad="63500" dist="25400" dir="5400000" rotWithShape="0">
              <a:srgbClr val="002147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5577840"/>
            <a:ext cx="984808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ptos Display"/>
                <a:cs typeface="Aptos Display"/>
              </a:rPr>
              <a:t>One strategy.  </a:t>
            </a:r>
            <a:r>
              <a:rPr sz="1300" b="0" i="0">
                <a:solidFill>
                  <a:srgbClr val="D5DDE6"/>
                </a:solidFill>
                <a:latin typeface="Aptos"/>
                <a:cs typeface="Aptos"/>
              </a:rPr>
              <a:t>The standards stay constant while the record, the pathways and the structure compound into an institution.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55664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69397"/>
                </a:solidFill>
                <a:latin typeface="Aptos"/>
                <a:cs typeface="Aptos"/>
              </a:rPr>
              <a:t>Private and Confidential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55664"/>
            <a:ext cx="94183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69397"/>
                </a:solidFill>
                <a:latin typeface="Aptos"/>
                <a:cs typeface="Aptos"/>
              </a:rPr>
              <a:t>2</a:t>
            </a:r>
          </a:p>
        </p:txBody>
      </p:sp>
      <p:pic>
        <p:nvPicPr>
          <p:cNvPr id="17" name="Picture 16" descr="logo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329184"/>
            <a:ext cx="60098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160" cap="all">
                <a:solidFill>
                  <a:srgbClr val="35464F"/>
                </a:solidFill>
                <a:latin typeface="Aptos"/>
                <a:cs typeface="Aptos"/>
              </a:rPr>
              <a:t>Strategy · Two parallel pathways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002B5C"/>
                </a:solidFill>
                <a:latin typeface="Aptos Display"/>
                <a:cs typeface="Aptos Display"/>
              </a:rPr>
              <a:t>Aravest will build the platform through two complementary pathways.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5303520" cy="4041648"/>
          </a:xfrm>
          <a:prstGeom prst="roundRect">
            <a:avLst>
              <a:gd name="adj" fmla="val 2036"/>
            </a:avLst>
          </a:prstGeom>
          <a:solidFill>
            <a:srgbClr val="F2F9F9"/>
          </a:solidFill>
          <a:ln w="9525">
            <a:solidFill>
              <a:srgbClr val="A6D3D3"/>
            </a:solidFill>
          </a:ln>
          <a:effectLst>
            <a:outerShdw blurRad="63500" dist="25400" dir="5400000" rotWithShape="0">
              <a:srgbClr val="002147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1248" y="1408176"/>
            <a:ext cx="4901184" cy="3175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554480"/>
            <a:ext cx="482803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002B5C"/>
                </a:solidFill>
                <a:latin typeface="Aptos Display"/>
                <a:cs typeface="Aptos Display"/>
              </a:rPr>
              <a:t>Pathway 1 — Diversified Track Record Building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008080"/>
                </a:solidFill>
                <a:latin typeface="Aptos"/>
                <a:cs typeface="Aptos"/>
              </a:rPr>
              <a:t>BUILDS THE RECORD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377440"/>
            <a:ext cx="48280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 spc="80">
                <a:solidFill>
                  <a:srgbClr val="35464F"/>
                </a:solidFill>
                <a:latin typeface="Aptos"/>
                <a:cs typeface="Aptos"/>
              </a:rPr>
              <a:t>PRIMARY PURPOSE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5464F"/>
                </a:solidFill>
                <a:latin typeface="Aptos"/>
                <a:cs typeface="Aptos"/>
              </a:rPr>
              <a:t>Build multiple proof points and a repeatable post-SMFL investment record.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035808"/>
            <a:ext cx="48280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 spc="80">
                <a:solidFill>
                  <a:srgbClr val="35464F"/>
                </a:solidFill>
                <a:latin typeface="Aptos"/>
                <a:cs typeface="Aptos"/>
              </a:rPr>
              <a:t>TYPICAL OPPORTUNITY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5464F"/>
                </a:solidFill>
                <a:latin typeface="Aptos"/>
                <a:cs typeface="Aptos"/>
              </a:rPr>
              <a:t>Selected small and medium transactions across repeatable themes.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694176"/>
            <a:ext cx="48280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 spc="80">
                <a:solidFill>
                  <a:srgbClr val="35464F"/>
                </a:solidFill>
                <a:latin typeface="Aptos"/>
                <a:cs typeface="Aptos"/>
              </a:rPr>
              <a:t>CAPITAL PROFILE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5464F"/>
                </a:solidFill>
                <a:latin typeface="Aptos"/>
                <a:cs typeface="Aptos"/>
              </a:rPr>
              <a:t>The existing US$300 million support, diversified across several investments.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4352544"/>
            <a:ext cx="48280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 spc="80">
                <a:solidFill>
                  <a:srgbClr val="35464F"/>
                </a:solidFill>
                <a:latin typeface="Aptos"/>
                <a:cs typeface="Aptos"/>
              </a:rPr>
              <a:t>RISK PROFILE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5464F"/>
                </a:solidFill>
                <a:latin typeface="Aptos"/>
                <a:cs typeface="Aptos"/>
              </a:rPr>
              <a:t>More diversified, with lower single-asset concentration.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4974336"/>
            <a:ext cx="48280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 spc="80">
                <a:solidFill>
                  <a:srgbClr val="35464F"/>
                </a:solidFill>
                <a:latin typeface="Aptos"/>
                <a:cs typeface="Aptos"/>
              </a:rPr>
              <a:t>EXPECTED AUM EFFECT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5464F"/>
                </a:solidFill>
                <a:latin typeface="Aptos"/>
                <a:cs typeface="Aptos"/>
              </a:rPr>
              <a:t>Gradual and potentially uneven growth.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1408176"/>
            <a:ext cx="5303520" cy="4041648"/>
          </a:xfrm>
          <a:prstGeom prst="roundRect">
            <a:avLst>
              <a:gd name="adj" fmla="val 2036"/>
            </a:avLst>
          </a:prstGeom>
          <a:solidFill>
            <a:srgbClr val="F6F9FB"/>
          </a:solidFill>
          <a:ln w="9525">
            <a:solidFill>
              <a:srgbClr val="BED3E5"/>
            </a:solidFill>
          </a:ln>
          <a:effectLst>
            <a:outerShdw blurRad="63500" dist="25400" dir="5400000" rotWithShape="0">
              <a:srgbClr val="002147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46520" y="1408176"/>
            <a:ext cx="4901184" cy="31750"/>
          </a:xfrm>
          <a:prstGeom prst="rect">
            <a:avLst/>
          </a:prstGeom>
          <a:solidFill>
            <a:srgbClr val="468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3096" y="1554480"/>
            <a:ext cx="482803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002B5C"/>
                </a:solidFill>
                <a:latin typeface="Aptos Display"/>
                <a:cs typeface="Aptos Display"/>
              </a:rPr>
              <a:t>Pathway 2 — Institutional-Scale Opportunities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4682B4"/>
                </a:solidFill>
                <a:latin typeface="Aptos"/>
                <a:cs typeface="Aptos"/>
              </a:rPr>
              <a:t>CAN ACCELERATE SCALE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2377440"/>
            <a:ext cx="48280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 spc="80">
                <a:solidFill>
                  <a:srgbClr val="35464F"/>
                </a:solidFill>
                <a:latin typeface="Aptos"/>
                <a:cs typeface="Aptos"/>
              </a:rPr>
              <a:t>PRIMARY PURPOSE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5464F"/>
                </a:solidFill>
                <a:latin typeface="Aptos"/>
                <a:cs typeface="Aptos"/>
              </a:rPr>
              <a:t>Accelerate AUM, institutional relevance and market visibility.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3096" y="3035808"/>
            <a:ext cx="48280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 spc="80">
                <a:solidFill>
                  <a:srgbClr val="35464F"/>
                </a:solidFill>
                <a:latin typeface="Aptos"/>
                <a:cs typeface="Aptos"/>
              </a:rPr>
              <a:t>TYPICAL OPPORTUNITY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5464F"/>
                </a:solidFill>
                <a:latin typeface="Aptos"/>
                <a:cs typeface="Aptos"/>
              </a:rPr>
              <a:t>Selected large transactions capable of creating meaningful scale.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3096" y="3694176"/>
            <a:ext cx="48280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 spc="80">
                <a:solidFill>
                  <a:srgbClr val="35464F"/>
                </a:solidFill>
                <a:latin typeface="Aptos"/>
                <a:cs typeface="Aptos"/>
              </a:rPr>
              <a:t>CAPITAL PROFILE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5464F"/>
                </a:solidFill>
                <a:latin typeface="Aptos"/>
                <a:cs typeface="Aptos"/>
              </a:rPr>
              <a:t>May require materially greater transaction-specific capital.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4352544"/>
            <a:ext cx="48280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 spc="80">
                <a:solidFill>
                  <a:srgbClr val="35464F"/>
                </a:solidFill>
                <a:latin typeface="Aptos"/>
                <a:cs typeface="Aptos"/>
              </a:rPr>
              <a:t>RISK PROFILE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5464F"/>
                </a:solidFill>
                <a:latin typeface="Aptos"/>
                <a:cs typeface="Aptos"/>
              </a:rPr>
              <a:t>Higher single-asset concentration and greater liquidity exposure.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3096" y="4974336"/>
            <a:ext cx="48280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 spc="80">
                <a:solidFill>
                  <a:srgbClr val="35464F"/>
                </a:solidFill>
                <a:latin typeface="Aptos"/>
                <a:cs typeface="Aptos"/>
              </a:rPr>
              <a:t>EXPECTED AUM EFFECT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5464F"/>
                </a:solidFill>
                <a:latin typeface="Aptos"/>
                <a:cs typeface="Aptos"/>
              </a:rPr>
              <a:t>Potential step-change growth.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614416"/>
            <a:ext cx="10908792" cy="530352"/>
          </a:xfrm>
          <a:prstGeom prst="roundRect">
            <a:avLst>
              <a:gd name="adj" fmla="val 15517"/>
            </a:avLst>
          </a:prstGeom>
          <a:solidFill>
            <a:srgbClr val="002147"/>
          </a:solidFill>
          <a:ln>
            <a:noFill/>
          </a:ln>
          <a:effectLst>
            <a:outerShdw blurRad="63500" dist="25400" dir="5400000" rotWithShape="0">
              <a:srgbClr val="002147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14416"/>
            <a:ext cx="103967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 spc="140">
                <a:solidFill>
                  <a:srgbClr val="D5DDE6"/>
                </a:solidFill>
                <a:latin typeface="Aptos"/>
                <a:cs typeface="Aptos"/>
              </a:rPr>
              <a:t>RUN IN PARALLEL   </a:t>
            </a:r>
            <a:r>
              <a:rPr sz="1300" b="1" i="0">
                <a:solidFill>
                  <a:srgbClr val="8FC6C6"/>
                </a:solidFill>
                <a:latin typeface="Aptos"/>
                <a:cs typeface="Aptos"/>
              </a:rPr>
              <a:t>Pathway 1 builds the record</a:t>
            </a:r>
            <a:r>
              <a:rPr sz="1300" b="0" i="0">
                <a:solidFill>
                  <a:srgbClr val="D5DDE6"/>
                </a:solidFill>
                <a:latin typeface="Aptos"/>
                <a:cs typeface="Aptos"/>
              </a:rPr>
              <a:t>;  </a:t>
            </a:r>
            <a:r>
              <a:rPr sz="1300" b="1" i="0">
                <a:solidFill>
                  <a:srgbClr val="A9C6E2"/>
                </a:solidFill>
                <a:latin typeface="Aptos"/>
                <a:cs typeface="Aptos"/>
              </a:rPr>
              <a:t>Pathway 2 can accelerate scale</a:t>
            </a:r>
            <a:r>
              <a:rPr sz="1300" b="0" i="0">
                <a:solidFill>
                  <a:srgbClr val="D5DDE6"/>
                </a:solidFill>
                <a:latin typeface="Aptos"/>
                <a:cs typeface="Aptos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55664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69397"/>
                </a:solidFill>
                <a:latin typeface="Aptos"/>
                <a:cs typeface="Aptos"/>
              </a:rPr>
              <a:t>Private and Confidential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55664"/>
            <a:ext cx="94183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69397"/>
                </a:solidFill>
                <a:latin typeface="Aptos"/>
                <a:cs typeface="Aptos"/>
              </a:rPr>
              <a:t>3</a:t>
            </a:r>
          </a:p>
        </p:txBody>
      </p:sp>
      <p:pic>
        <p:nvPicPr>
          <p:cNvPr id="25" name="Picture 24" descr="logo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329184"/>
            <a:ext cx="60098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160" cap="all">
                <a:solidFill>
                  <a:srgbClr val="35464F"/>
                </a:solidFill>
                <a:latin typeface="Aptos"/>
                <a:cs typeface="Aptos"/>
              </a:rPr>
              <a:t>Capital &amp; AUM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002B5C"/>
                </a:solidFill>
                <a:latin typeface="Aptos Display"/>
                <a:cs typeface="Aptos Display"/>
              </a:rPr>
              <a:t>The two pathways are expected to produce different AUM profiles.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26464"/>
            <a:ext cx="10908792" cy="9525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36192"/>
            <a:ext cx="1090879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002B5C"/>
                </a:solidFill>
                <a:latin typeface="Aptos Display"/>
                <a:cs typeface="Aptos Display"/>
              </a:rPr>
              <a:t>Closing AUM  =  Opening AUM  +  New investments  −  Realisations  ±  Valuation and FX movements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10908792" cy="9525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231136"/>
            <a:ext cx="2788920" cy="3127248"/>
          </a:xfrm>
          <a:prstGeom prst="roundRect">
            <a:avLst>
              <a:gd name="adj" fmla="val 2950"/>
            </a:avLst>
          </a:prstGeom>
          <a:solidFill>
            <a:srgbClr val="002147"/>
          </a:solidFill>
          <a:ln>
            <a:noFill/>
          </a:ln>
          <a:effectLst>
            <a:outerShdw blurRad="63500" dist="25400" dir="5400000" rotWithShape="0">
              <a:srgbClr val="002147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432304"/>
            <a:ext cx="2331720" cy="2724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900" b="1" i="0" spc="100">
                <a:solidFill>
                  <a:srgbClr val="D5DDE6"/>
                </a:solidFill>
                <a:latin typeface="Aptos"/>
                <a:cs typeface="Aptos"/>
              </a:rPr>
              <a:t>SPONSOR CAPITAL SUPPORT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3400" b="0" i="0">
                <a:solidFill>
                  <a:srgbClr val="FFFFFF"/>
                </a:solidFill>
                <a:latin typeface="Aptos Display"/>
                <a:cs typeface="Aptos Display"/>
              </a:rPr>
              <a:t>US$300m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D5DDE6"/>
                </a:solidFill>
                <a:latin typeface="Aptos"/>
                <a:cs typeface="Aptos"/>
              </a:rPr>
              <a:t>Existing support, diversified across several Pathway 1 investments.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D5DDE6"/>
                </a:solidFill>
                <a:latin typeface="Aptos"/>
                <a:cs typeface="Aptos"/>
              </a:rPr>
              <a:t>Warehousing bridges transaction execution and third-party capital formation.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2231136"/>
            <a:ext cx="3913632" cy="3127248"/>
          </a:xfrm>
          <a:prstGeom prst="roundRect">
            <a:avLst>
              <a:gd name="adj" fmla="val 2631"/>
            </a:avLst>
          </a:prstGeom>
          <a:solidFill>
            <a:srgbClr val="FFFFFF"/>
          </a:solidFill>
          <a:ln w="9525">
            <a:solidFill>
              <a:srgbClr val="CCD1D3"/>
            </a:solidFill>
          </a:ln>
          <a:effectLst>
            <a:outerShdw blurRad="63500" dist="25400" dir="5400000" rotWithShape="0">
              <a:srgbClr val="002147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31336" y="2395728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08080"/>
                </a:solidFill>
                <a:latin typeface="Aptos Display"/>
                <a:cs typeface="Aptos Display"/>
              </a:rPr>
              <a:t>Pathway 1 — gradual and uneven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31336" y="3625048"/>
            <a:ext cx="347472" cy="453176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2544" y="3484779"/>
            <a:ext cx="347472" cy="593445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73752" y="3571098"/>
            <a:ext cx="347472" cy="507126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394960" y="3409249"/>
            <a:ext cx="347472" cy="668975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16168" y="3517149"/>
            <a:ext cx="347472" cy="561075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37376" y="3322930"/>
            <a:ext cx="347472" cy="755294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58584" y="3398460"/>
            <a:ext cx="347472" cy="679764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31336" y="4078224"/>
            <a:ext cx="3474720" cy="12700"/>
          </a:xfrm>
          <a:prstGeom prst="rect">
            <a:avLst/>
          </a:prstGeom>
          <a:solidFill>
            <a:srgbClr val="CCD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31336" y="4169664"/>
            <a:ext cx="3474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35464F"/>
                </a:solidFill>
                <a:latin typeface="Aptos"/>
                <a:cs typeface="Aptos"/>
              </a:rPr>
              <a:t>AUM may grow gradually, remain flat where new investments replace realisations, or decline temporarily after disposals or sell-downs.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869397"/>
                </a:solidFill>
                <a:latin typeface="Aptos"/>
                <a:cs typeface="Aptos"/>
              </a:rPr>
              <a:t>Illustrative profile only — not a forecast.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08392" y="2231136"/>
            <a:ext cx="3840480" cy="3127248"/>
          </a:xfrm>
          <a:prstGeom prst="roundRect">
            <a:avLst>
              <a:gd name="adj" fmla="val 2631"/>
            </a:avLst>
          </a:prstGeom>
          <a:solidFill>
            <a:srgbClr val="FFFFFF"/>
          </a:solidFill>
          <a:ln w="9525">
            <a:solidFill>
              <a:srgbClr val="CCD1D3"/>
            </a:solidFill>
          </a:ln>
          <a:effectLst>
            <a:outerShdw blurRad="63500" dist="25400" dir="5400000" rotWithShape="0">
              <a:srgbClr val="002147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27848" y="2395728"/>
            <a:ext cx="34015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682B4"/>
                </a:solidFill>
                <a:latin typeface="Aptos Display"/>
                <a:cs typeface="Aptos Display"/>
              </a:rPr>
              <a:t>Pathway 2 — potential step-change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27848" y="3689787"/>
            <a:ext cx="347472" cy="388437"/>
          </a:xfrm>
          <a:prstGeom prst="rect">
            <a:avLst/>
          </a:prstGeom>
          <a:solidFill>
            <a:srgbClr val="B9D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436864" y="3668208"/>
            <a:ext cx="347472" cy="410016"/>
          </a:xfrm>
          <a:prstGeom prst="rect">
            <a:avLst/>
          </a:prstGeom>
          <a:solidFill>
            <a:srgbClr val="B9D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45880" y="3646628"/>
            <a:ext cx="347472" cy="431596"/>
          </a:xfrm>
          <a:prstGeom prst="rect">
            <a:avLst/>
          </a:prstGeom>
          <a:solidFill>
            <a:srgbClr val="B9D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454896" y="3074762"/>
            <a:ext cx="347472" cy="1003462"/>
          </a:xfrm>
          <a:prstGeom prst="rect">
            <a:avLst/>
          </a:prstGeom>
          <a:solidFill>
            <a:srgbClr val="468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963912" y="3053182"/>
            <a:ext cx="347472" cy="1025042"/>
          </a:xfrm>
          <a:prstGeom prst="rect">
            <a:avLst/>
          </a:prstGeom>
          <a:solidFill>
            <a:srgbClr val="468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472928" y="2999232"/>
            <a:ext cx="347472" cy="1078992"/>
          </a:xfrm>
          <a:prstGeom prst="rect">
            <a:avLst/>
          </a:prstGeom>
          <a:solidFill>
            <a:srgbClr val="468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981944" y="2999232"/>
            <a:ext cx="347472" cy="1078992"/>
          </a:xfrm>
          <a:prstGeom prst="rect">
            <a:avLst/>
          </a:prstGeom>
          <a:solidFill>
            <a:srgbClr val="468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27848" y="4078224"/>
            <a:ext cx="3401568" cy="12700"/>
          </a:xfrm>
          <a:prstGeom prst="rect">
            <a:avLst/>
          </a:prstGeom>
          <a:solidFill>
            <a:srgbClr val="CCD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27848" y="4169664"/>
            <a:ext cx="340156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35464F"/>
                </a:solidFill>
                <a:latin typeface="Aptos"/>
                <a:cs typeface="Aptos"/>
              </a:rPr>
              <a:t>A single institutional-scale transaction can create a material or step-change increase in AUM and more meaningful ticket sizes.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869397"/>
                </a:solidFill>
                <a:latin typeface="Aptos"/>
                <a:cs typeface="Aptos"/>
              </a:rPr>
              <a:t>Illustrative profile only — not a forecast.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5541264"/>
            <a:ext cx="10908792" cy="512064"/>
          </a:xfrm>
          <a:prstGeom prst="roundRect">
            <a:avLst>
              <a:gd name="adj" fmla="val 16071"/>
            </a:avLst>
          </a:prstGeom>
          <a:solidFill>
            <a:srgbClr val="F6F7F7"/>
          </a:solidFill>
          <a:ln w="9525">
            <a:solidFill>
              <a:srgbClr val="CCD1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" y="5541264"/>
            <a:ext cx="1043330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950" b="1" i="0" spc="100">
                <a:solidFill>
                  <a:srgbClr val="002B5C"/>
                </a:solidFill>
                <a:latin typeface="Aptos"/>
                <a:cs typeface="Aptos"/>
              </a:rPr>
              <a:t>PROOF POINT — CONRAD SEOUL   </a:t>
            </a:r>
            <a:r>
              <a:rPr sz="1200" b="0" i="0">
                <a:solidFill>
                  <a:srgbClr val="35464F"/>
                </a:solidFill>
                <a:latin typeface="Aptos"/>
                <a:cs typeface="Aptos"/>
              </a:rPr>
              <a:t>Sponsor-supported acquisition; institutional capital subsequently introduced (GIC, M&amp;G), recycling capital while retaining the management relationship.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144768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869397"/>
                </a:solidFill>
                <a:latin typeface="Aptos"/>
                <a:cs typeface="Aptos"/>
              </a:rPr>
              <a:t>Source: Locked Board Strategy Narrative v8. Financial figures to be populated by Finance before Board circulation.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455664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69397"/>
                </a:solidFill>
                <a:latin typeface="Aptos"/>
                <a:cs typeface="Aptos"/>
              </a:rPr>
              <a:t>Private and Confidential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6455664"/>
            <a:ext cx="94183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69397"/>
                </a:solidFill>
                <a:latin typeface="Aptos"/>
                <a:cs typeface="Aptos"/>
              </a:rPr>
              <a:t>4</a:t>
            </a:r>
          </a:p>
        </p:txBody>
      </p:sp>
      <p:pic>
        <p:nvPicPr>
          <p:cNvPr id="37" name="Picture 36" descr="logo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329184"/>
            <a:ext cx="60098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84632"/>
            <a:ext cx="100584" cy="100584"/>
          </a:xfrm>
          <a:prstGeom prst="rect">
            <a:avLst/>
          </a:prstGeom>
          <a:solidFill>
            <a:srgbClr val="C8A9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43891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160" cap="all">
                <a:solidFill>
                  <a:srgbClr val="002B5C"/>
                </a:solidFill>
                <a:latin typeface="Aptos"/>
                <a:cs typeface="Aptos"/>
              </a:rPr>
              <a:t>For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002B5C"/>
                </a:solidFill>
                <a:latin typeface="Aptos Display"/>
                <a:cs typeface="Aptos Display"/>
              </a:rPr>
              <a:t>The Board is asked to endorse the two-pathway strategy and the basis on which capital is committed.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47088"/>
            <a:ext cx="5358384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9525">
            <a:solidFill>
              <a:srgbClr val="CCD1D3"/>
            </a:solidFill>
          </a:ln>
          <a:effectLst>
            <a:outerShdw blurRad="63500" dist="25400" dir="5400000" rotWithShape="0">
              <a:srgbClr val="002147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984248"/>
            <a:ext cx="4919472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 i="0" spc="100">
                <a:solidFill>
                  <a:srgbClr val="869397"/>
                </a:solidFill>
                <a:latin typeface="Aptos"/>
                <a:cs typeface="Aptos"/>
              </a:rPr>
              <a:t>01   </a:t>
            </a:r>
            <a:r>
              <a:rPr sz="1500" b="0" i="0" spc="100">
                <a:solidFill>
                  <a:srgbClr val="002147"/>
                </a:solidFill>
                <a:latin typeface="Aptos Display"/>
                <a:cs typeface="Aptos Display"/>
              </a:rPr>
              <a:t>ENDORSE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5464F"/>
                </a:solidFill>
                <a:latin typeface="Aptos"/>
                <a:cs typeface="Aptos"/>
              </a:rPr>
              <a:t>the two parallel pathways as the basis for building the Aravest platform — diversified track-record building alongside selective institutional-scale opportunities.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0488" y="1847088"/>
            <a:ext cx="5358384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9525">
            <a:solidFill>
              <a:srgbClr val="CCD1D3"/>
            </a:solidFill>
          </a:ln>
          <a:effectLst>
            <a:outerShdw blurRad="63500" dist="25400" dir="5400000" rotWithShape="0">
              <a:srgbClr val="002147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9944" y="1984248"/>
            <a:ext cx="4919472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 i="0" spc="100">
                <a:solidFill>
                  <a:srgbClr val="869397"/>
                </a:solidFill>
                <a:latin typeface="Aptos"/>
                <a:cs typeface="Aptos"/>
              </a:rPr>
              <a:t>02   </a:t>
            </a:r>
            <a:r>
              <a:rPr sz="1500" b="0" i="0" spc="100">
                <a:solidFill>
                  <a:srgbClr val="002147"/>
                </a:solidFill>
                <a:latin typeface="Aptos Display"/>
                <a:cs typeface="Aptos Display"/>
              </a:rPr>
              <a:t>SUPPORT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5464F"/>
                </a:solidFill>
                <a:latin typeface="Aptos"/>
                <a:cs typeface="Aptos"/>
              </a:rPr>
              <a:t>deployment of the existing US$300 million across Pathway 1 to build multiple proof points and diversify risk.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218688"/>
            <a:ext cx="5358384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9525">
            <a:solidFill>
              <a:srgbClr val="CCD1D3"/>
            </a:solidFill>
          </a:ln>
          <a:effectLst>
            <a:outerShdw blurRad="63500" dist="25400" dir="5400000" rotWithShape="0">
              <a:srgbClr val="002147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3355848"/>
            <a:ext cx="4919472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 i="0" spc="100">
                <a:solidFill>
                  <a:srgbClr val="869397"/>
                </a:solidFill>
                <a:latin typeface="Aptos"/>
                <a:cs typeface="Aptos"/>
              </a:rPr>
              <a:t>03   </a:t>
            </a:r>
            <a:r>
              <a:rPr sz="1500" b="0" i="0" spc="100">
                <a:solidFill>
                  <a:srgbClr val="002147"/>
                </a:solidFill>
                <a:latin typeface="Aptos Display"/>
                <a:cs typeface="Aptos Display"/>
              </a:rPr>
              <a:t>ENDORSE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5464F"/>
                </a:solidFill>
                <a:latin typeface="Aptos"/>
                <a:cs typeface="Aptos"/>
              </a:rPr>
              <a:t>warehousing as an execution enabler, bridging the timing gap between securing a transaction and forming third-party capital.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3218688"/>
            <a:ext cx="5358384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9525">
            <a:solidFill>
              <a:srgbClr val="CCD1D3"/>
            </a:solidFill>
          </a:ln>
          <a:effectLst>
            <a:outerShdw blurRad="63500" dist="25400" dir="5400000" rotWithShape="0">
              <a:srgbClr val="002147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9944" y="3355848"/>
            <a:ext cx="4919472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 i="0" spc="100">
                <a:solidFill>
                  <a:srgbClr val="869397"/>
                </a:solidFill>
                <a:latin typeface="Aptos"/>
                <a:cs typeface="Aptos"/>
              </a:rPr>
              <a:t>04   </a:t>
            </a:r>
            <a:r>
              <a:rPr sz="1500" b="0" i="0" spc="100">
                <a:solidFill>
                  <a:srgbClr val="002147"/>
                </a:solidFill>
                <a:latin typeface="Aptos Display"/>
                <a:cs typeface="Aptos Display"/>
              </a:rPr>
              <a:t>AGREE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5464F"/>
                </a:solidFill>
                <a:latin typeface="Aptos"/>
                <a:cs typeface="Aptos"/>
              </a:rPr>
              <a:t>that each Institutional-Scale Opportunity is brought to the Board separately — with its investment merits, capital requirement and risk profile — for decision case-by-case.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663440"/>
            <a:ext cx="10908792" cy="969264"/>
          </a:xfrm>
          <a:prstGeom prst="roundRect">
            <a:avLst>
              <a:gd name="adj" fmla="val 8490"/>
            </a:avLst>
          </a:prstGeom>
          <a:solidFill>
            <a:srgbClr val="002147"/>
          </a:solidFill>
          <a:ln>
            <a:noFill/>
          </a:ln>
          <a:effectLst>
            <a:outerShdw blurRad="63500" dist="25400" dir="5400000" rotWithShape="0">
              <a:srgbClr val="002147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782312"/>
            <a:ext cx="1039672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1" i="0" spc="120">
                <a:solidFill>
                  <a:srgbClr val="D5DDE6"/>
                </a:solidFill>
                <a:latin typeface="Aptos"/>
                <a:cs typeface="Aptos"/>
              </a:rPr>
              <a:t>GOVERNING PRINCIPLE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ptos"/>
                <a:cs typeface="Aptos"/>
              </a:rPr>
              <a:t>Committed equity is exposed to investment performance; wider fund and asset liabilities are generally ring-fenced, with no automatic recourse to Aravest as manager or SMFL as shareholder. Any exception must be explicit and separately approved.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52160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869397"/>
                </a:solidFill>
                <a:latin typeface="Aptos"/>
                <a:cs typeface="Aptos"/>
              </a:rPr>
              <a:t>Formal resolutions to be confirmed by management and the company secretary; this slide reflects the locked Board Strategy Narrative v8 and does not itself constitute a resolution.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55664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69397"/>
                </a:solidFill>
                <a:latin typeface="Aptos"/>
                <a:cs typeface="Aptos"/>
              </a:rPr>
              <a:t>Private and 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55664"/>
            <a:ext cx="94183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69397"/>
                </a:solidFill>
                <a:latin typeface="Aptos"/>
                <a:cs typeface="Aptos"/>
              </a:rPr>
              <a:t>5</a:t>
            </a:r>
          </a:p>
        </p:txBody>
      </p:sp>
      <p:pic>
        <p:nvPicPr>
          <p:cNvPr id="19" name="Picture 18" descr="logo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329184"/>
            <a:ext cx="60098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84632"/>
            <a:ext cx="100584" cy="100584"/>
          </a:xfrm>
          <a:prstGeom prst="rect">
            <a:avLst/>
          </a:prstGeom>
          <a:solidFill>
            <a:srgbClr val="C8A9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43891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160" cap="all">
                <a:solidFill>
                  <a:srgbClr val="FFFFFF"/>
                </a:solidFill>
                <a:latin typeface="Aptos"/>
                <a:cs typeface="Aptos"/>
              </a:rPr>
              <a:t>For decision — alternative treatment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FFFFFF"/>
                </a:solidFill>
                <a:latin typeface="Aptos Display"/>
                <a:cs typeface="Aptos Display"/>
              </a:rPr>
              <a:t>The Board is asked to endorse the two-pathway strategy and the basis on which capital is committed.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47088"/>
            <a:ext cx="5358384" cy="1225296"/>
          </a:xfrm>
          <a:prstGeom prst="roundRect">
            <a:avLst>
              <a:gd name="adj" fmla="val 6716"/>
            </a:avLst>
          </a:prstGeom>
          <a:solidFill>
            <a:srgbClr val="123154"/>
          </a:solidFill>
          <a:ln w="9525">
            <a:solidFill>
              <a:srgbClr val="3852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984248"/>
            <a:ext cx="4919472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 i="0" spc="100">
                <a:solidFill>
                  <a:srgbClr val="A9C6E2"/>
                </a:solidFill>
                <a:latin typeface="Aptos"/>
                <a:cs typeface="Aptos"/>
              </a:rPr>
              <a:t>01   </a:t>
            </a:r>
            <a:r>
              <a:rPr sz="1500" b="0" i="0" spc="100">
                <a:solidFill>
                  <a:srgbClr val="FFFFFF"/>
                </a:solidFill>
                <a:latin typeface="Aptos Display"/>
                <a:cs typeface="Aptos Display"/>
              </a:rPr>
              <a:t>ENDORSE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5DDE6"/>
                </a:solidFill>
                <a:latin typeface="Aptos"/>
                <a:cs typeface="Aptos"/>
              </a:rPr>
              <a:t>the two parallel pathways as the basis for building the Aravest platform — diversified track-record building alongside selective institutional-scale opportunities.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0488" y="1847088"/>
            <a:ext cx="5358384" cy="1225296"/>
          </a:xfrm>
          <a:prstGeom prst="roundRect">
            <a:avLst>
              <a:gd name="adj" fmla="val 6716"/>
            </a:avLst>
          </a:prstGeom>
          <a:solidFill>
            <a:srgbClr val="123154"/>
          </a:solidFill>
          <a:ln w="9525">
            <a:solidFill>
              <a:srgbClr val="3852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9944" y="1984248"/>
            <a:ext cx="4919472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 i="0" spc="100">
                <a:solidFill>
                  <a:srgbClr val="A9C6E2"/>
                </a:solidFill>
                <a:latin typeface="Aptos"/>
                <a:cs typeface="Aptos"/>
              </a:rPr>
              <a:t>02   </a:t>
            </a:r>
            <a:r>
              <a:rPr sz="1500" b="0" i="0" spc="100">
                <a:solidFill>
                  <a:srgbClr val="FFFFFF"/>
                </a:solidFill>
                <a:latin typeface="Aptos Display"/>
                <a:cs typeface="Aptos Display"/>
              </a:rPr>
              <a:t>SUPPORT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5DDE6"/>
                </a:solidFill>
                <a:latin typeface="Aptos"/>
                <a:cs typeface="Aptos"/>
              </a:rPr>
              <a:t>deployment of the existing US$300 million across Pathway 1 to build multiple proof points and diversify risk.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218688"/>
            <a:ext cx="5358384" cy="1225296"/>
          </a:xfrm>
          <a:prstGeom prst="roundRect">
            <a:avLst>
              <a:gd name="adj" fmla="val 6716"/>
            </a:avLst>
          </a:prstGeom>
          <a:solidFill>
            <a:srgbClr val="123154"/>
          </a:solidFill>
          <a:ln w="9525">
            <a:solidFill>
              <a:srgbClr val="3852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3355848"/>
            <a:ext cx="4919472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 i="0" spc="100">
                <a:solidFill>
                  <a:srgbClr val="A9C6E2"/>
                </a:solidFill>
                <a:latin typeface="Aptos"/>
                <a:cs typeface="Aptos"/>
              </a:rPr>
              <a:t>03   </a:t>
            </a:r>
            <a:r>
              <a:rPr sz="1500" b="0" i="0" spc="100">
                <a:solidFill>
                  <a:srgbClr val="FFFFFF"/>
                </a:solidFill>
                <a:latin typeface="Aptos Display"/>
                <a:cs typeface="Aptos Display"/>
              </a:rPr>
              <a:t>ENDORSE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5DDE6"/>
                </a:solidFill>
                <a:latin typeface="Aptos"/>
                <a:cs typeface="Aptos"/>
              </a:rPr>
              <a:t>warehousing as an execution enabler, bridging the timing gap between securing a transaction and forming third-party capital.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3218688"/>
            <a:ext cx="5358384" cy="1225296"/>
          </a:xfrm>
          <a:prstGeom prst="roundRect">
            <a:avLst>
              <a:gd name="adj" fmla="val 6716"/>
            </a:avLst>
          </a:prstGeom>
          <a:solidFill>
            <a:srgbClr val="123154"/>
          </a:solidFill>
          <a:ln w="9525">
            <a:solidFill>
              <a:srgbClr val="3852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9944" y="3355848"/>
            <a:ext cx="4919472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 i="0" spc="100">
                <a:solidFill>
                  <a:srgbClr val="A9C6E2"/>
                </a:solidFill>
                <a:latin typeface="Aptos"/>
                <a:cs typeface="Aptos"/>
              </a:rPr>
              <a:t>04   </a:t>
            </a:r>
            <a:r>
              <a:rPr sz="1500" b="0" i="0" spc="100">
                <a:solidFill>
                  <a:srgbClr val="FFFFFF"/>
                </a:solidFill>
                <a:latin typeface="Aptos Display"/>
                <a:cs typeface="Aptos Display"/>
              </a:rPr>
              <a:t>AGREE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5DDE6"/>
                </a:solidFill>
                <a:latin typeface="Aptos"/>
                <a:cs typeface="Aptos"/>
              </a:rPr>
              <a:t>that each Institutional-Scale Opportunity is brought to the Board separately — with its investment merits, capital requirement and risk profile — for decision case-by-case.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718304"/>
            <a:ext cx="10908792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846320"/>
            <a:ext cx="1090879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1" i="0" spc="120">
                <a:solidFill>
                  <a:srgbClr val="D5DDE6"/>
                </a:solidFill>
                <a:latin typeface="Aptos"/>
                <a:cs typeface="Aptos"/>
              </a:rPr>
              <a:t>GOVERNING PRINCIPLE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ptos"/>
                <a:cs typeface="Aptos"/>
              </a:rPr>
              <a:t>Committed equity is exposed to investment performance; wider fund and asset liabilities are generally ring-fenced, with no automatic recourse to Aravest as manager or SMFL as shareholder. Any exception must be explicit and separately approved.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88736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D5DDE6"/>
                </a:solidFill>
                <a:latin typeface="Aptos"/>
                <a:cs typeface="Aptos"/>
              </a:rPr>
              <a:t>Formal resolutions to be confirmed by management and the company secretary; this slide reflects the locked Board Strategy Narrative v8 and does not itself constitute a resolution.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55664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D5DDE6"/>
                </a:solidFill>
                <a:latin typeface="Aptos"/>
                <a:cs typeface="Aptos"/>
              </a:rPr>
              <a:t>Private and 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55664"/>
            <a:ext cx="94183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D5DDE6"/>
                </a:solidFill>
                <a:latin typeface="Aptos"/>
                <a:cs typeface="Aptos"/>
              </a:rPr>
              <a:t>5A</a:t>
            </a:r>
          </a:p>
        </p:txBody>
      </p:sp>
      <p:pic>
        <p:nvPicPr>
          <p:cNvPr id="19" name="Picture 18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329184"/>
            <a:ext cx="60098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160" cap="all">
                <a:solidFill>
                  <a:srgbClr val="35464F"/>
                </a:solidFill>
                <a:latin typeface="Aptos"/>
                <a:cs typeface="Aptos"/>
              </a:rPr>
              <a:t>Investment case · Current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002B5C"/>
                </a:solidFill>
                <a:latin typeface="Aptos Display"/>
                <a:cs typeface="Aptos Display"/>
              </a:rPr>
              <a:t>Current opportunities illustrate how the two pathways may develop in practice.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554480"/>
            <a:ext cx="2788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35464F"/>
                </a:solidFill>
                <a:latin typeface="Aptos"/>
                <a:cs typeface="Aptos"/>
              </a:rPr>
              <a:t>STRATEGIC ROLE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50208" y="1554480"/>
            <a:ext cx="3977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35464F"/>
                </a:solidFill>
                <a:latin typeface="Aptos"/>
                <a:cs typeface="Aptos"/>
              </a:rPr>
              <a:t>ILLUSTRATIVE OPPORTUNITIES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02168" y="1554480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35464F"/>
                </a:solidFill>
                <a:latin typeface="Aptos"/>
                <a:cs typeface="Aptos"/>
              </a:rPr>
              <a:t>CONNECTION TO THE PATHWAY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10908792" cy="1225296"/>
          </a:xfrm>
          <a:prstGeom prst="roundRect">
            <a:avLst>
              <a:gd name="adj" fmla="val 6716"/>
            </a:avLst>
          </a:prstGeom>
          <a:solidFill>
            <a:srgbClr val="F6F9FB"/>
          </a:solidFill>
          <a:ln w="9525">
            <a:solidFill>
              <a:srgbClr val="BED3E5"/>
            </a:solidFill>
          </a:ln>
          <a:effectLst>
            <a:outerShdw blurRad="63500" dist="25400" dir="5400000" rotWithShape="0">
              <a:srgbClr val="002147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084832"/>
            <a:ext cx="38100" cy="896112"/>
          </a:xfrm>
          <a:prstGeom prst="rect">
            <a:avLst/>
          </a:prstGeom>
          <a:solidFill>
            <a:srgbClr val="468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103120"/>
            <a:ext cx="2788920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002B5C"/>
                </a:solidFill>
                <a:latin typeface="Aptos Display"/>
                <a:cs typeface="Aptos Display"/>
              </a:rPr>
              <a:t>Institutional-scale opportunity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4682B4"/>
                </a:solidFill>
                <a:latin typeface="Aptos"/>
                <a:cs typeface="Aptos"/>
              </a:rPr>
              <a:t>PATHWAY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50208" y="2121408"/>
            <a:ext cx="3977639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5464F"/>
                </a:solidFill>
                <a:latin typeface="Aptos"/>
                <a:cs typeface="Aptos"/>
              </a:rPr>
              <a:t>Marina One and other selected large opportunities.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02168" y="2121408"/>
            <a:ext cx="3154680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5464F"/>
                </a:solidFill>
                <a:latin typeface="Aptos"/>
                <a:cs typeface="Aptos"/>
              </a:rPr>
              <a:t>Potential to create a material increase in AUM, institutional relevance and market visibility.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291840"/>
            <a:ext cx="10908792" cy="1225296"/>
          </a:xfrm>
          <a:prstGeom prst="roundRect">
            <a:avLst>
              <a:gd name="adj" fmla="val 6716"/>
            </a:avLst>
          </a:prstGeom>
          <a:solidFill>
            <a:srgbClr val="F2F9F9"/>
          </a:solidFill>
          <a:ln w="9525">
            <a:solidFill>
              <a:srgbClr val="A6D3D3"/>
            </a:solidFill>
          </a:ln>
          <a:effectLst>
            <a:outerShdw blurRad="63500" dist="25400" dir="5400000" rotWithShape="0">
              <a:srgbClr val="002147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456432"/>
            <a:ext cx="38100" cy="896112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474720"/>
            <a:ext cx="2788920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002B5C"/>
                </a:solidFill>
                <a:latin typeface="Aptos Display"/>
                <a:cs typeface="Aptos Display"/>
              </a:rPr>
              <a:t>Portfolio building block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008080"/>
                </a:solidFill>
                <a:latin typeface="Aptos"/>
                <a:cs typeface="Aptos"/>
              </a:rPr>
              <a:t>PATHWAY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50208" y="3493008"/>
            <a:ext cx="3977639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5464F"/>
                </a:solidFill>
                <a:latin typeface="Aptos"/>
                <a:cs typeface="Aptos"/>
              </a:rPr>
              <a:t>Project Guardian / PBSA and subsequent PBSA opportunities.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3493008"/>
            <a:ext cx="3154680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5464F"/>
                </a:solidFill>
                <a:latin typeface="Aptos"/>
                <a:cs typeface="Aptos"/>
              </a:rPr>
              <a:t>Build a repeatable strategy through aggregation into a portfolio of institutional scale.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663440"/>
            <a:ext cx="10908792" cy="1225296"/>
          </a:xfrm>
          <a:prstGeom prst="roundRect">
            <a:avLst>
              <a:gd name="adj" fmla="val 6716"/>
            </a:avLst>
          </a:prstGeom>
          <a:solidFill>
            <a:srgbClr val="F2F9F9"/>
          </a:solidFill>
          <a:ln w="9525">
            <a:solidFill>
              <a:srgbClr val="A6D3D3"/>
            </a:solidFill>
          </a:ln>
          <a:effectLst>
            <a:outerShdw blurRad="63500" dist="25400" dir="5400000" rotWithShape="0">
              <a:srgbClr val="002147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828032"/>
            <a:ext cx="38100" cy="896112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4846320"/>
            <a:ext cx="2788920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002B5C"/>
                </a:solidFill>
                <a:latin typeface="Aptos Display"/>
                <a:cs typeface="Aptos Display"/>
              </a:rPr>
              <a:t>Track-record proof point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008080"/>
                </a:solidFill>
                <a:latin typeface="Aptos"/>
                <a:cs typeface="Aptos"/>
              </a:rPr>
              <a:t>PATHWAY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50208" y="4864608"/>
            <a:ext cx="3977639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5464F"/>
                </a:solidFill>
                <a:latin typeface="Aptos"/>
                <a:cs typeface="Aptos"/>
              </a:rPr>
              <a:t>Courtyard by Marriott Suwon, ARA-NH Fund 2, Aberdeen / Shinyoung recapitalisation and other relevant transactions.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2168" y="4864608"/>
            <a:ext cx="3154680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5464F"/>
                </a:solidFill>
                <a:latin typeface="Aptos"/>
                <a:cs typeface="Aptos"/>
              </a:rPr>
              <a:t>Deepen post-SMFL execution evidence and create additional realisation or recycling pathways.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089904"/>
            <a:ext cx="1090879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869397"/>
                </a:solidFill>
                <a:latin typeface="Aptos"/>
                <a:cs typeface="Aptos"/>
              </a:rPr>
              <a:t>Private credit is excluded as a core Aravest growth strategy (an agreed SMDAM strategy, with Aravest providing support where relevant). Transaction names, figures and status to be refreshed by the relevant transaction teams before Board circulation.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55664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69397"/>
                </a:solidFill>
                <a:latin typeface="Aptos"/>
                <a:cs typeface="Aptos"/>
              </a:rPr>
              <a:t>Private and 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55664"/>
            <a:ext cx="94183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69397"/>
                </a:solidFill>
                <a:latin typeface="Aptos"/>
                <a:cs typeface="Aptos"/>
              </a:rPr>
              <a:t>6</a:t>
            </a:r>
          </a:p>
        </p:txBody>
      </p:sp>
      <p:pic>
        <p:nvPicPr>
          <p:cNvPr id="26" name="Picture 25" descr="logo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329184"/>
            <a:ext cx="600980" cy="3474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