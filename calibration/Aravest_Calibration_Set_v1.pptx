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_singapore_ba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43997"/>
            <a:ext cx="12191695" cy="251400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343997"/>
            <a:ext cx="12191695" cy="2540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948915" cy="548640"/>
          </a:xfrm>
          <a:prstGeom prst="rect">
            <a:avLst/>
          </a:prstGeom>
        </p:spPr>
      </p:pic>
      <p:sp>
        <p:nvSpPr>
          <p:cNvPr id="6" name="Isosceles Triangle 5"/>
          <p:cNvSpPr/>
          <p:nvPr/>
        </p:nvSpPr>
        <p:spPr>
          <a:xfrm>
            <a:off x="10844784" y="603504"/>
            <a:ext cx="310896" cy="402336"/>
          </a:xfrm>
          <a:prstGeom prst="triangle">
            <a:avLst/>
          </a:prstGeom>
          <a:noFill/>
          <a:ln w="12700">
            <a:solidFill>
              <a:srgbClr val="4682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11210544" y="603504"/>
            <a:ext cx="310896" cy="402336"/>
          </a:xfrm>
          <a:prstGeom prst="triangle">
            <a:avLst/>
          </a:prstGeom>
          <a:noFill/>
          <a:ln w="12700">
            <a:solidFill>
              <a:srgbClr val="8693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>
            <a:off x="11576304" y="603504"/>
            <a:ext cx="310896" cy="402336"/>
          </a:xfrm>
          <a:prstGeom prst="triangle">
            <a:avLst/>
          </a:prstGeom>
          <a:noFill/>
          <a:ln w="12700">
            <a:solidFill>
              <a:srgbClr val="C8A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 cap="all">
                <a:solidFill>
                  <a:srgbClr val="DED0AD"/>
                </a:solidFill>
                <a:latin typeface="Aptos"/>
                <a:cs typeface="Aptos"/>
              </a:rPr>
              <a:t>Private &amp; Confidential  ·  Board Strategy Meeting  · 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Aptos Display"/>
                <a:cs typeface="Aptos Display"/>
              </a:rPr>
              <a:t>Aravest’s Next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01568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D5DDE6"/>
                </a:solidFill>
                <a:latin typeface="Aptos"/>
                <a:cs typeface="Aptos"/>
              </a:rPr>
              <a:t>From integration to institution-building: establishing the post-SMFL track record, defining the near-term investment focus and developing the pathways for sustainable long-term growth.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10515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ptos"/>
                <a:cs typeface="Aptos"/>
              </a:rPr>
              <a:t>Aravest Fund Management Pte. Ltd.        Private and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 cap="all">
                <a:solidFill>
                  <a:srgbClr val="869397"/>
                </a:solidFill>
                <a:latin typeface="Aptos"/>
                <a:cs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9692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002B5C"/>
                </a:solidFill>
                <a:latin typeface="Aptos Display"/>
                <a:cs typeface="Aptos Display"/>
              </a:rPr>
              <a:t>Aravest is moving from integration into institution-building.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822960" cy="3175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5464F"/>
                </a:solidFill>
                <a:latin typeface="Aptos"/>
                <a:cs typeface="Aptos"/>
              </a:rPr>
              <a:t>The initial integration into SMFL has been substantially completed. The next phase is to develop the institutional foundations and investment record required for sustainable long-term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8A951"/>
                </a:solidFill>
                <a:latin typeface="Aptos Display"/>
                <a:cs typeface="Aptos Display"/>
              </a:rPr>
              <a:t>01   </a:t>
            </a:r>
            <a:r>
              <a:rPr sz="1500" b="0" i="0">
                <a:solidFill>
                  <a:srgbClr val="002B5C"/>
                </a:solidFill>
                <a:latin typeface="Aptos Display"/>
                <a:cs typeface="Aptos Display"/>
              </a:rPr>
              <a:t>Values-led. Value-focused.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Aravest is values-led in how it invests and value-focused in where it deploys — sector-flexible, but not strategy-neutral.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306324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8A951"/>
                </a:solidFill>
                <a:latin typeface="Aptos Display"/>
                <a:cs typeface="Aptos Display"/>
              </a:rPr>
              <a:t>02   </a:t>
            </a:r>
            <a:r>
              <a:rPr sz="1500" b="0" i="0">
                <a:solidFill>
                  <a:srgbClr val="002B5C"/>
                </a:solidFill>
                <a:latin typeface="Aptos Display"/>
                <a:cs typeface="Aptos Display"/>
              </a:rPr>
              <a:t>A track record through the full lifecycle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Built not through acquisitions alone, but through judgement, execution, stewardship, performance, realisation and repeatability.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8A951"/>
                </a:solidFill>
                <a:latin typeface="Aptos Display"/>
                <a:cs typeface="Aptos Display"/>
              </a:rPr>
              <a:t>03   </a:t>
            </a:r>
            <a:r>
              <a:rPr sz="1500" b="0" i="0">
                <a:solidFill>
                  <a:srgbClr val="002B5C"/>
                </a:solidFill>
                <a:latin typeface="Aptos Display"/>
                <a:cs typeface="Aptos Display"/>
              </a:rPr>
              <a:t>Two parallel pathways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Diversified Track Record Building, supported by the existing US$300 million; and Institutional-Scale Opportunities, brought to the Board case-by-case.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70916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8A951"/>
                </a:solidFill>
                <a:latin typeface="Aptos Display"/>
                <a:cs typeface="Aptos Display"/>
              </a:rPr>
              <a:t>04   </a:t>
            </a:r>
            <a:r>
              <a:rPr sz="1500" b="0" i="0">
                <a:solidFill>
                  <a:srgbClr val="002B5C"/>
                </a:solidFill>
                <a:latin typeface="Aptos Display"/>
                <a:cs typeface="Aptos Display"/>
              </a:rPr>
              <a:t>Structured to institutional standards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Committed equity is exposed to performance; wider liabilities are ring-fenced, with no automatic recourse to Aravest or SMFL.</a:t>
            </a:r>
          </a:p>
        </p:txBody>
      </p:sp>
      <p:pic>
        <p:nvPicPr>
          <p:cNvPr id="11" name="Picture 10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784" y="310896"/>
            <a:ext cx="632610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Private and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1704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 cap="all">
                <a:solidFill>
                  <a:srgbClr val="869397"/>
                </a:solidFill>
                <a:latin typeface="Aptos"/>
                <a:cs typeface="Aptos"/>
              </a:rPr>
              <a:t>Strategy · Two parallel pathways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02B5C"/>
                </a:solidFill>
                <a:latin typeface="Aptos Display"/>
                <a:cs typeface="Aptos Display"/>
              </a:rPr>
              <a:t>Aravest will build the platform through two complementary pathways.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5413248" cy="4160520"/>
          </a:xfrm>
          <a:prstGeom prst="rect">
            <a:avLst/>
          </a:prstGeom>
          <a:solidFill>
            <a:srgbClr val="F4F5F6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5413248" cy="381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73936"/>
            <a:ext cx="49011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 spc="150">
                <a:solidFill>
                  <a:srgbClr val="869397"/>
                </a:solidFill>
                <a:latin typeface="Aptos"/>
                <a:cs typeface="Aptos"/>
              </a:rPr>
              <a:t>PATHWAY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2B5C"/>
                </a:solidFill>
                <a:latin typeface="Aptos Display"/>
                <a:cs typeface="Aptos Display"/>
              </a:rPr>
              <a:t>Diversified Track Record Building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743200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 spc="100">
                <a:solidFill>
                  <a:srgbClr val="869397"/>
                </a:solidFill>
                <a:latin typeface="Aptos"/>
                <a:cs typeface="Aptos"/>
              </a:rPr>
              <a:t>PRIMARY PURPOSE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5464F"/>
                </a:solidFill>
                <a:latin typeface="Aptos"/>
                <a:cs typeface="Aptos"/>
              </a:rPr>
              <a:t>Build multiple proof points and a repeatable post-SMFL investment record.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328416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 spc="100">
                <a:solidFill>
                  <a:srgbClr val="869397"/>
                </a:solidFill>
                <a:latin typeface="Aptos"/>
                <a:cs typeface="Aptos"/>
              </a:rPr>
              <a:t>TYPICAL OPPORTUNITY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5464F"/>
                </a:solidFill>
                <a:latin typeface="Aptos"/>
                <a:cs typeface="Aptos"/>
              </a:rPr>
              <a:t>Selected small and medium transactions across repeatable themes.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913632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 spc="100">
                <a:solidFill>
                  <a:srgbClr val="869397"/>
                </a:solidFill>
                <a:latin typeface="Aptos"/>
                <a:cs typeface="Aptos"/>
              </a:rPr>
              <a:t>CAPITAL PROFILE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5464F"/>
                </a:solidFill>
                <a:latin typeface="Aptos"/>
                <a:cs typeface="Aptos"/>
              </a:rPr>
              <a:t>Existing US$300 million support, diversified across several investments.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498848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 spc="100">
                <a:solidFill>
                  <a:srgbClr val="869397"/>
                </a:solidFill>
                <a:latin typeface="Aptos"/>
                <a:cs typeface="Aptos"/>
              </a:rPr>
              <a:t>RISK PROFILE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5464F"/>
                </a:solidFill>
                <a:latin typeface="Aptos"/>
                <a:cs typeface="Aptos"/>
              </a:rPr>
              <a:t>More diversified, with lower single-asset concentration.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5084064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 spc="100">
                <a:solidFill>
                  <a:srgbClr val="869397"/>
                </a:solidFill>
                <a:latin typeface="Aptos"/>
                <a:cs typeface="Aptos"/>
              </a:rPr>
              <a:t>EXPECTED AUM EFFECT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5464F"/>
                </a:solidFill>
                <a:latin typeface="Aptos"/>
                <a:cs typeface="Aptos"/>
              </a:rPr>
              <a:t>Gradual and potentially uneven.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2784" y="1572768"/>
            <a:ext cx="5413248" cy="4160520"/>
          </a:xfrm>
          <a:prstGeom prst="rect">
            <a:avLst/>
          </a:prstGeom>
          <a:solidFill>
            <a:srgbClr val="F4F5F6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2784" y="1572768"/>
            <a:ext cx="5413248" cy="3810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1773936"/>
            <a:ext cx="49011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 spc="150">
                <a:solidFill>
                  <a:srgbClr val="C8A951"/>
                </a:solidFill>
                <a:latin typeface="Aptos"/>
                <a:cs typeface="Aptos"/>
              </a:rPr>
              <a:t>PATHWAY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2B5C"/>
                </a:solidFill>
                <a:latin typeface="Aptos Display"/>
                <a:cs typeface="Aptos Display"/>
              </a:rPr>
              <a:t>Institutional-Scale Opportunities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2743200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 spc="100">
                <a:solidFill>
                  <a:srgbClr val="869397"/>
                </a:solidFill>
                <a:latin typeface="Aptos"/>
                <a:cs typeface="Aptos"/>
              </a:rPr>
              <a:t>PRIMARY PURPOSE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5464F"/>
                </a:solidFill>
                <a:latin typeface="Aptos"/>
                <a:cs typeface="Aptos"/>
              </a:rPr>
              <a:t>Accelerate AUM, institutional relevance and market visibility.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3328416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 spc="100">
                <a:solidFill>
                  <a:srgbClr val="869397"/>
                </a:solidFill>
                <a:latin typeface="Aptos"/>
                <a:cs typeface="Aptos"/>
              </a:rPr>
              <a:t>TYPICAL OPPORTUNITY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5464F"/>
                </a:solidFill>
                <a:latin typeface="Aptos"/>
                <a:cs typeface="Aptos"/>
              </a:rPr>
              <a:t>Selected large transactions capable of creating meaningful scale.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913632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 spc="100">
                <a:solidFill>
                  <a:srgbClr val="869397"/>
                </a:solidFill>
                <a:latin typeface="Aptos"/>
                <a:cs typeface="Aptos"/>
              </a:rPr>
              <a:t>CAPITAL PROFILE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5464F"/>
                </a:solidFill>
                <a:latin typeface="Aptos"/>
                <a:cs typeface="Aptos"/>
              </a:rPr>
              <a:t>May require materially greater transaction-specific capital.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4498848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 spc="100">
                <a:solidFill>
                  <a:srgbClr val="869397"/>
                </a:solidFill>
                <a:latin typeface="Aptos"/>
                <a:cs typeface="Aptos"/>
              </a:rPr>
              <a:t>RISK PROFILE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5464F"/>
                </a:solidFill>
                <a:latin typeface="Aptos"/>
                <a:cs typeface="Aptos"/>
              </a:rPr>
              <a:t>Higher single-asset concentration and liquidity exposure.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5084064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 spc="100">
                <a:solidFill>
                  <a:srgbClr val="869397"/>
                </a:solidFill>
                <a:latin typeface="Aptos"/>
                <a:cs typeface="Aptos"/>
              </a:rPr>
              <a:t>EXPECTED AUM EFFECT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5464F"/>
                </a:solidFill>
                <a:latin typeface="Aptos"/>
                <a:cs typeface="Aptos"/>
              </a:rPr>
              <a:t>Potential step-change growth.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70448"/>
            <a:ext cx="11155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35464F"/>
                </a:solidFill>
                <a:latin typeface="Aptos"/>
                <a:cs typeface="Aptos"/>
              </a:rPr>
              <a:t>The two pathways run in parallel — </a:t>
            </a:r>
            <a:r>
              <a:rPr sz="1250" b="1" i="1">
                <a:solidFill>
                  <a:srgbClr val="002B5C"/>
                </a:solidFill>
                <a:latin typeface="Aptos"/>
                <a:cs typeface="Aptos"/>
              </a:rPr>
              <a:t>the first builds the record; the second can accelerate scale.</a:t>
            </a:r>
          </a:p>
        </p:txBody>
      </p:sp>
      <p:pic>
        <p:nvPicPr>
          <p:cNvPr id="22" name="Picture 21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784" y="310896"/>
            <a:ext cx="632610" cy="3657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Private and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704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 cap="all">
                <a:solidFill>
                  <a:srgbClr val="869397"/>
                </a:solidFill>
                <a:latin typeface="Aptos"/>
                <a:cs typeface="Aptos"/>
              </a:rPr>
              <a:t>Capital &amp; AUM ·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02B5C"/>
                </a:solidFill>
                <a:latin typeface="Aptos Display"/>
                <a:cs typeface="Aptos Display"/>
              </a:rPr>
              <a:t>The two pathways are expected to produce different AUM profiles.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27632"/>
            <a:ext cx="2724912" cy="1417320"/>
          </a:xfrm>
          <a:prstGeom prst="rect">
            <a:avLst/>
          </a:prstGeom>
          <a:solidFill>
            <a:srgbClr val="F4F5F6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8100" cy="141732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240487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1" i="0" spc="80">
                <a:solidFill>
                  <a:srgbClr val="869397"/>
                </a:solidFill>
                <a:latin typeface="Aptos"/>
                <a:cs typeface="Aptos"/>
              </a:rPr>
              <a:t>SPONSOR CAPITAL SUPPORT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 i="0">
                <a:solidFill>
                  <a:srgbClr val="002B5C"/>
                </a:solidFill>
                <a:latin typeface="Aptos Display"/>
                <a:cs typeface="Aptos Display"/>
              </a:rPr>
              <a:t>US$300m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5464F"/>
                </a:solidFill>
                <a:latin typeface="Aptos"/>
                <a:cs typeface="Aptos"/>
              </a:rPr>
              <a:t>Existing support available to diversify across Pathway 1</a:t>
            </a:r>
          </a:p>
        </p:txBody>
      </p:sp>
      <p:sp>
        <p:nvSpPr>
          <p:cNvPr id="8" name="Rectangle 7"/>
          <p:cNvSpPr/>
          <p:nvPr/>
        </p:nvSpPr>
        <p:spPr>
          <a:xfrm>
            <a:off x="3328416" y="1627632"/>
            <a:ext cx="2724912" cy="1417320"/>
          </a:xfrm>
          <a:prstGeom prst="rect">
            <a:avLst/>
          </a:prstGeom>
          <a:solidFill>
            <a:srgbClr val="F4F5F6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28416" y="1627632"/>
            <a:ext cx="38100" cy="141732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1296" y="1773936"/>
            <a:ext cx="240487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1" i="0" spc="80">
                <a:solidFill>
                  <a:srgbClr val="869397"/>
                </a:solidFill>
                <a:latin typeface="Aptos"/>
                <a:cs typeface="Aptos"/>
              </a:rPr>
              <a:t>OPENING AUM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 i="0">
                <a:solidFill>
                  <a:srgbClr val="869397"/>
                </a:solidFill>
                <a:latin typeface="Aptos Display"/>
                <a:cs typeface="Aptos Display"/>
              </a:rPr>
              <a:t>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869397"/>
                </a:solidFill>
                <a:latin typeface="Aptos"/>
                <a:cs typeface="Aptos"/>
              </a:rPr>
              <a:t>To be populated by Finance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53912" y="1627632"/>
            <a:ext cx="2724912" cy="1417320"/>
          </a:xfrm>
          <a:prstGeom prst="rect">
            <a:avLst/>
          </a:prstGeom>
          <a:solidFill>
            <a:srgbClr val="F4F5F6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627632"/>
            <a:ext cx="38100" cy="141732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773936"/>
            <a:ext cx="240487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1" i="0" spc="80">
                <a:solidFill>
                  <a:srgbClr val="869397"/>
                </a:solidFill>
                <a:latin typeface="Aptos"/>
                <a:cs typeface="Aptos"/>
              </a:rPr>
              <a:t>NET INVESTMENT / (REALISATIONS)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 i="0">
                <a:solidFill>
                  <a:srgbClr val="869397"/>
                </a:solidFill>
                <a:latin typeface="Aptos Display"/>
                <a:cs typeface="Aptos Display"/>
              </a:rPr>
              <a:t>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869397"/>
                </a:solidFill>
                <a:latin typeface="Aptos"/>
                <a:cs typeface="Aptos"/>
              </a:rPr>
              <a:t>To be populated by Finance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79408" y="1627632"/>
            <a:ext cx="2724912" cy="1417320"/>
          </a:xfrm>
          <a:prstGeom prst="rect">
            <a:avLst/>
          </a:prstGeom>
          <a:solidFill>
            <a:srgbClr val="F4F5F6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79408" y="1627632"/>
            <a:ext cx="38100" cy="141732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2288" y="1773936"/>
            <a:ext cx="240487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1" i="0" spc="80">
                <a:solidFill>
                  <a:srgbClr val="869397"/>
                </a:solidFill>
                <a:latin typeface="Aptos"/>
                <a:cs typeface="Aptos"/>
              </a:rPr>
              <a:t>CLOSING AUM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 i="0">
                <a:solidFill>
                  <a:srgbClr val="869397"/>
                </a:solidFill>
                <a:latin typeface="Aptos Display"/>
                <a:cs typeface="Aptos Display"/>
              </a:rPr>
              <a:t>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869397"/>
                </a:solidFill>
                <a:latin typeface="Aptos"/>
                <a:cs typeface="Aptos"/>
              </a:rPr>
              <a:t>To be populated by Finance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46120"/>
            <a:ext cx="11183112" cy="566928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246120"/>
            <a:ext cx="1118311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ptos Display"/>
                <a:cs typeface="Aptos Display"/>
              </a:rPr>
              <a:t>Closing AUM  =  Opening AUM  +  New investments  −  Realisations  ±  Valuation and FX movements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41648"/>
            <a:ext cx="3621024" cy="1572768"/>
          </a:xfrm>
          <a:prstGeom prst="rect">
            <a:avLst/>
          </a:prstGeom>
          <a:solidFill>
            <a:srgbClr val="F4F5F6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041648"/>
            <a:ext cx="3621024" cy="3175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206240"/>
            <a:ext cx="32461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02B5C"/>
                </a:solidFill>
                <a:latin typeface="Aptos Display"/>
                <a:cs typeface="Aptos Display"/>
              </a:rPr>
              <a:t>Diversified Track Record Building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5464F"/>
                </a:solidFill>
                <a:latin typeface="Aptos"/>
                <a:cs typeface="Aptos"/>
              </a:rPr>
              <a:t>AUM growth is likely to be gradual and uneven — it may remain flat where new investments replace realisations, or decline temporarily following successful disposals or sell-downs.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1104" y="4041648"/>
            <a:ext cx="3621024" cy="1572768"/>
          </a:xfrm>
          <a:prstGeom prst="rect">
            <a:avLst/>
          </a:prstGeom>
          <a:solidFill>
            <a:srgbClr val="F4F5F6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1104" y="4041648"/>
            <a:ext cx="3621024" cy="31750"/>
          </a:xfrm>
          <a:prstGeom prst="rect">
            <a:avLst/>
          </a:prstGeom>
          <a:solidFill>
            <a:srgbClr val="46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4206240"/>
            <a:ext cx="32461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02B5C"/>
                </a:solidFill>
                <a:latin typeface="Aptos Display"/>
                <a:cs typeface="Aptos Display"/>
              </a:rPr>
              <a:t>Institutional-Scale Opportunities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5464F"/>
                </a:solidFill>
                <a:latin typeface="Aptos"/>
                <a:cs typeface="Aptos"/>
              </a:rPr>
              <a:t>Provide the potential for a material or step-change increase in AUM and more meaningful institutional ticket sizes, strengthening visibility and fundraising credibility.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9288" y="4041648"/>
            <a:ext cx="3666744" cy="1572768"/>
          </a:xfrm>
          <a:prstGeom prst="rect">
            <a:avLst/>
          </a:prstGeom>
          <a:solidFill>
            <a:srgbClr val="00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0456" y="4206240"/>
            <a:ext cx="32918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 spc="120">
                <a:solidFill>
                  <a:srgbClr val="C8A951"/>
                </a:solidFill>
                <a:latin typeface="Aptos"/>
                <a:cs typeface="Aptos"/>
              </a:rPr>
              <a:t>PROOF POINT — CONRAD SEOUL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DE2E8"/>
                </a:solidFill>
                <a:latin typeface="Aptos"/>
                <a:cs typeface="Aptos"/>
              </a:rPr>
              <a:t>Sponsor-supported acquisition; institutional capital subsequently introduced (GIC, M&amp;G), recycling capital while retaining the management relationship.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8704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869397"/>
                </a:solidFill>
                <a:latin typeface="Aptos"/>
                <a:cs typeface="Aptos"/>
              </a:rPr>
              <a:t>Source: Locked Board Strategy Narrative v8. Financial figures to be populated by Finance and refreshed by the relevant transaction teams before Board circulation.</a:t>
            </a:r>
          </a:p>
        </p:txBody>
      </p:sp>
      <p:pic>
        <p:nvPicPr>
          <p:cNvPr id="28" name="Picture 27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784" y="310896"/>
            <a:ext cx="632610" cy="3657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Private and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1704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 cap="all">
                <a:solidFill>
                  <a:srgbClr val="C8A951"/>
                </a:solidFill>
                <a:latin typeface="Aptos"/>
                <a:cs typeface="Aptos"/>
              </a:rPr>
              <a:t>Board decision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02B5C"/>
                </a:solidFill>
                <a:latin typeface="Aptos Display"/>
                <a:cs typeface="Aptos Display"/>
              </a:rPr>
              <a:t>The Board is asked to endorse the two-pathway strategy and the basis on which capital is committed.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402336" cy="402336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 Display"/>
                <a:cs typeface="Aptos Display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856231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2B5C"/>
                </a:solidFill>
                <a:latin typeface="Aptos Display"/>
                <a:cs typeface="Aptos Display"/>
              </a:rPr>
              <a:t>Endorse the two parallel pathways </a:t>
            </a: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as the basis for building the Aravest platform — diversified track-record building alongside selective institutional-scale opportunities.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24327"/>
            <a:ext cx="402336" cy="402336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24327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 Display"/>
                <a:cs typeface="Aptos Display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606039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2B5C"/>
                </a:solidFill>
                <a:latin typeface="Aptos Display"/>
                <a:cs typeface="Aptos Display"/>
              </a:rPr>
              <a:t>Support deployment of the existing US$300 million </a:t>
            </a: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across Pathway 1 to build multiple proof points and diversify risk.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74135"/>
            <a:ext cx="402336" cy="402336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374135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 Display"/>
                <a:cs typeface="Aptos Display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355847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2B5C"/>
                </a:solidFill>
                <a:latin typeface="Aptos Display"/>
                <a:cs typeface="Aptos Display"/>
              </a:rPr>
              <a:t>Endorse warehousing as an execution enabler </a:t>
            </a: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bridging the timing gap between securing a transaction and forming third-party capital.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23943"/>
            <a:ext cx="402336" cy="402336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123943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 Display"/>
                <a:cs typeface="Aptos Display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105655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2B5C"/>
                </a:solidFill>
                <a:latin typeface="Aptos Display"/>
                <a:cs typeface="Aptos Display"/>
              </a:rPr>
              <a:t>Agree each Institutional-Scale Opportunity is brought to the Board separately </a:t>
            </a: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with its investment merits, capital requirement and risk profile, for decision case-by-case.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956048"/>
            <a:ext cx="11183112" cy="896112"/>
          </a:xfrm>
          <a:prstGeom prst="rect">
            <a:avLst/>
          </a:prstGeom>
          <a:solidFill>
            <a:srgbClr val="F4F5F6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956048"/>
            <a:ext cx="38100" cy="896112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1069848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1" i="0" spc="120">
                <a:solidFill>
                  <a:srgbClr val="869397"/>
                </a:solidFill>
                <a:latin typeface="Aptos"/>
                <a:cs typeface="Aptos"/>
              </a:rPr>
              <a:t>BASIS OF CAPITAL COMMITMENT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5464F"/>
                </a:solidFill>
                <a:latin typeface="Aptos"/>
                <a:cs typeface="Aptos"/>
              </a:rPr>
              <a:t>Committed equity is exposed to investment performance; wider fund and asset liabilities are generally ring-fenced, with no automatic recourse to Aravest as manager or SMFL as shareholder. Any exception must be explicit and separately approved.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869397"/>
                </a:solidFill>
                <a:latin typeface="Aptos"/>
                <a:cs typeface="Aptos"/>
              </a:rPr>
              <a:t>Formal resolutions to be confirmed by management and the company secretary. This slide reflects the locked Board Strategy Narrative v8 and does not itself constitute a resolution.</a:t>
            </a:r>
          </a:p>
        </p:txBody>
      </p:sp>
      <p:pic>
        <p:nvPicPr>
          <p:cNvPr id="21" name="Picture 20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784" y="310896"/>
            <a:ext cx="632610" cy="365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Private and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1704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 cap="all">
                <a:solidFill>
                  <a:srgbClr val="869397"/>
                </a:solidFill>
                <a:latin typeface="Aptos"/>
                <a:cs typeface="Aptos"/>
              </a:rPr>
              <a:t>Investment case · Current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02B5C"/>
                </a:solidFill>
                <a:latin typeface="Aptos Display"/>
                <a:cs typeface="Aptos Display"/>
              </a:rPr>
              <a:t>Current opportunities illustrate how the two pathways may develop in practice.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83111" cy="35295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51760"/>
                <a:gridCol w="4480560"/>
                <a:gridCol w="4050791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  <a:cs typeface="Aptos"/>
                        </a:rPr>
                        <a:t>Strategic role</a:t>
                      </a:r>
                    </a:p>
                  </a:txBody>
                  <a:tcPr anchor="ctr" marL="91440" marR="91440" marT="50292" marB="50292">
                    <a:solidFill>
                      <a:srgbClr val="00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  <a:cs typeface="Aptos"/>
                        </a:rPr>
                        <a:t>Illustrative opportunities</a:t>
                      </a:r>
                    </a:p>
                  </a:txBody>
                  <a:tcPr anchor="ctr" marL="91440" marR="91440" marT="50292" marB="50292">
                    <a:solidFill>
                      <a:srgbClr val="00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  <a:cs typeface="Aptos"/>
                        </a:rPr>
                        <a:t>Connection to the pathway</a:t>
                      </a:r>
                    </a:p>
                  </a:txBody>
                  <a:tcPr anchor="ctr" marL="91440" marR="91440" marT="50292" marB="50292">
                    <a:solidFill>
                      <a:srgbClr val="002B5C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02B5C"/>
                          </a:solidFill>
                          <a:latin typeface="Aptos"/>
                          <a:cs typeface="Aptos"/>
                        </a:rPr>
                        <a:t>Institutional-scale opportunity</a:t>
                      </a:r>
                    </a:p>
                  </a:txBody>
                  <a:tcPr anchor="ctr"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5464F"/>
                          </a:solidFill>
                          <a:latin typeface="Aptos"/>
                          <a:cs typeface="Aptos"/>
                        </a:rPr>
                        <a:t>Marina One and other selected large opportunities.</a:t>
                      </a:r>
                    </a:p>
                  </a:txBody>
                  <a:tcPr anchor="ctr"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5464F"/>
                          </a:solidFill>
                          <a:latin typeface="Aptos"/>
                          <a:cs typeface="Aptos"/>
                        </a:rPr>
                        <a:t>Potential to create a material increase in AUM, institutional relevance and market visibility.</a:t>
                      </a:r>
                    </a:p>
                  </a:txBody>
                  <a:tcPr anchor="ctr" marL="91440" marR="91440" marT="50292" marB="50292"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02B5C"/>
                          </a:solidFill>
                          <a:latin typeface="Aptos"/>
                          <a:cs typeface="Aptos"/>
                        </a:rPr>
                        <a:t>Portfolio building block</a:t>
                      </a:r>
                    </a:p>
                  </a:txBody>
                  <a:tcPr anchor="ctr" marL="91440" marR="91440" marT="50292" marB="50292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5464F"/>
                          </a:solidFill>
                          <a:latin typeface="Aptos"/>
                          <a:cs typeface="Aptos"/>
                        </a:rPr>
                        <a:t>Project Guardian / PBSA and subsequent PBSA opportunities.</a:t>
                      </a:r>
                    </a:p>
                  </a:txBody>
                  <a:tcPr anchor="ctr" marL="91440" marR="91440" marT="50292" marB="50292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5464F"/>
                          </a:solidFill>
                          <a:latin typeface="Aptos"/>
                          <a:cs typeface="Aptos"/>
                        </a:rPr>
                        <a:t>Build a repeatable strategy through aggregation into a portfolio of institutional scale.</a:t>
                      </a:r>
                    </a:p>
                  </a:txBody>
                  <a:tcPr anchor="ctr" marL="91440" marR="91440" marT="50292" marB="50292">
                    <a:solidFill>
                      <a:srgbClr val="F4F5F6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02B5C"/>
                          </a:solidFill>
                          <a:latin typeface="Aptos"/>
                          <a:cs typeface="Aptos"/>
                        </a:rPr>
                        <a:t>Track-record proof point</a:t>
                      </a:r>
                    </a:p>
                  </a:txBody>
                  <a:tcPr anchor="ctr"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5464F"/>
                          </a:solidFill>
                          <a:latin typeface="Aptos"/>
                          <a:cs typeface="Aptos"/>
                        </a:rPr>
                        <a:t>Courtyard by Marriott Suwon, ARA-NH Fund 2, Aberdeen / Shinyoung recapitalisation and other relevant transactions.</a:t>
                      </a:r>
                    </a:p>
                  </a:txBody>
                  <a:tcPr anchor="ctr"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5464F"/>
                          </a:solidFill>
                          <a:latin typeface="Aptos"/>
                          <a:cs typeface="Aptos"/>
                        </a:rPr>
                        <a:t>Deepen post-SMFL execution evidence and create additional realisation or recycling pathways.</a:t>
                      </a:r>
                    </a:p>
                  </a:txBody>
                  <a:tcPr anchor="ctr" marL="91440" marR="91440" marT="50292" marB="5029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742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869397"/>
                </a:solidFill>
                <a:latin typeface="Aptos"/>
                <a:cs typeface="Aptos"/>
              </a:rPr>
              <a:t>Private credit is excluded as a core Aravest growth strategy (an agreed SMDAM strategy, with Aravest providing support where relevant). Transaction names, figures and status to be refreshed by the relevant transaction teams before Board circulation.</a:t>
            </a:r>
          </a:p>
        </p:txBody>
      </p:sp>
      <p:pic>
        <p:nvPicPr>
          <p:cNvPr id="7" name="Picture 6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784" y="310896"/>
            <a:ext cx="63261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Private and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704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