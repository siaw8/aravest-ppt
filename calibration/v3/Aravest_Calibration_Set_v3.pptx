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A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85800"/>
            <a:ext cx="917285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24912"/>
            <a:ext cx="777240" cy="1905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950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 cap="all">
                <a:solidFill>
                  <a:srgbClr val="D5DDE6"/>
                </a:solidFill>
                <a:latin typeface="Aptos"/>
                <a:cs typeface="Aptos"/>
              </a:rPr>
              <a:t>Board Strategy Meeting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Spectral Light"/>
                <a:cs typeface="Spectral Light"/>
              </a:rPr>
              <a:t>Aravest’s </a:t>
            </a:r>
            <a:r>
              <a:rPr sz="4600" b="0" i="1">
                <a:solidFill>
                  <a:srgbClr val="FFFFFF"/>
                </a:solidFill>
                <a:latin typeface="Spectral Light"/>
                <a:cs typeface="Spectral Light"/>
              </a:rPr>
              <a:t>Next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D5DDE6"/>
                </a:solidFill>
                <a:latin typeface="Aptos"/>
                <a:cs typeface="Aptos"/>
              </a:rPr>
              <a:t>From integration to institution-building: establishing the post-SMFL track record, defining the near-term investment focus and developing the pathways for sustainable long-term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DE6"/>
                </a:solidFill>
                <a:latin typeface="Aptos"/>
                <a:cs typeface="Aptos"/>
              </a:rPr>
              <a:t>Aravest Fund Management Pte. Ltd.     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-1920240" y="3794760"/>
            <a:ext cx="5852160" cy="4206240"/>
          </a:xfrm>
          <a:prstGeom prst="triangle">
            <a:avLst/>
          </a:prstGeom>
          <a:noFill/>
          <a:ln w="12700">
            <a:solidFill>
              <a:srgbClr val="14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B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4" y="0"/>
            <a:ext cx="3632911" cy="685800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85800"/>
            <a:ext cx="917285" cy="5303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2615184"/>
            <a:ext cx="777240" cy="1905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97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 cap="all">
                <a:solidFill>
                  <a:srgbClr val="869397"/>
                </a:solidFill>
                <a:latin typeface="Aptos"/>
                <a:cs typeface="Aptos"/>
              </a:rPr>
              <a:t>Board Strategy Meeting  ·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45536"/>
            <a:ext cx="749807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Spectral Light"/>
                <a:cs typeface="Spectral Light"/>
              </a:rPr>
              <a:t>Aravest’s </a:t>
            </a:r>
            <a:r>
              <a:rPr sz="4200" b="0" i="1">
                <a:solidFill>
                  <a:srgbClr val="FFFFFF"/>
                </a:solidFill>
                <a:latin typeface="Spectral Light"/>
                <a:cs typeface="Spectral Light"/>
              </a:rPr>
              <a:t>Next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5DDE6"/>
                </a:solidFill>
                <a:latin typeface="Aptos"/>
                <a:cs typeface="Aptos"/>
              </a:rPr>
              <a:t>From integration to institution-building: establishing the post-SMFL track record, defining the near-term investment focus and developing the pathways for sustainable long-term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35508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DE6"/>
                </a:solidFill>
                <a:latin typeface="Aptos"/>
                <a:cs typeface="Aptos"/>
              </a:rPr>
              <a:t>Aravest Fund Management Pte. Ltd.      Private and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002B5C"/>
                </a:solidFill>
                <a:latin typeface="Aptos Display"/>
                <a:cs typeface="Aptos Display"/>
              </a:rPr>
              <a:t>Aravest is moving from integration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002B5C"/>
                </a:solidFill>
                <a:latin typeface="Aptos Display"/>
                <a:cs typeface="Aptos Display"/>
              </a:rPr>
              <a:t>into </a:t>
            </a:r>
            <a:r>
              <a:rPr sz="3100" b="0" i="1">
                <a:solidFill>
                  <a:srgbClr val="002B5C"/>
                </a:solidFill>
                <a:latin typeface="Spectral Light"/>
                <a:cs typeface="Spectral Light"/>
              </a:rPr>
              <a:t>institution-building</a:t>
            </a:r>
            <a:r>
              <a:rPr sz="3100" b="0" i="0">
                <a:solidFill>
                  <a:srgbClr val="002B5C"/>
                </a:solidFill>
                <a:latin typeface="Aptos Display"/>
                <a:cs typeface="Aptos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10512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5464F"/>
                </a:solidFill>
                <a:latin typeface="Aptos"/>
                <a:cs typeface="Aptos"/>
              </a:rPr>
              <a:t>The initial integration into SMFL has been substantially completed. The next phase is to develop the institutional foundations and investment record required for sustainable long-term 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9504"/>
            <a:ext cx="10360152" cy="127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9024"/>
            <a:ext cx="20320" cy="825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54096"/>
            <a:ext cx="243230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01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002B5C"/>
                </a:solidFill>
                <a:latin typeface="Aptos Display"/>
                <a:cs typeface="Aptos Display"/>
              </a:rPr>
              <a:t>The Aravest Way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Values-led in how it invests; value-focused in where it deploys.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69397"/>
                </a:solidFill>
                <a:latin typeface="Aptos"/>
                <a:cs typeface="Aptos"/>
              </a:rPr>
              <a:t>Investment management is a responsibility before it is a business — sector-flexible, but not strategy-neutral.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57016" y="2859024"/>
            <a:ext cx="20320" cy="825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6" y="3054096"/>
            <a:ext cx="243230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02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002B5C"/>
                </a:solidFill>
                <a:latin typeface="Aptos Display"/>
                <a:cs typeface="Aptos Display"/>
              </a:rPr>
              <a:t>The post-SMFL record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Judgement, execution, stewardship, performance, realisation and repeatability.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69397"/>
                </a:solidFill>
                <a:latin typeface="Aptos"/>
                <a:cs typeface="Aptos"/>
              </a:rPr>
              <a:t>Confidence moves from the individual opportunity, to the repeat relationship, to the Aravest strategy.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2859024"/>
            <a:ext cx="20320" cy="825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3054096"/>
            <a:ext cx="243230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03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002B5C"/>
                </a:solidFill>
                <a:latin typeface="Aptos Display"/>
                <a:cs typeface="Aptos Display"/>
              </a:rPr>
              <a:t>Two parallel pathways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Diversified track-record building on the existing US$300 million.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69397"/>
                </a:solidFill>
                <a:latin typeface="Aptos"/>
                <a:cs typeface="Aptos"/>
              </a:rPr>
              <a:t>Institutional-scale opportunities, case-by-case, can accelerate AUM, relevance and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42248" y="2859024"/>
            <a:ext cx="20320" cy="825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2248" y="3054096"/>
            <a:ext cx="243230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04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002B5C"/>
                </a:solidFill>
                <a:latin typeface="Aptos Display"/>
                <a:cs typeface="Aptos Display"/>
              </a:rPr>
              <a:t>Institutional standards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Committed equity bears performance; wider liabilities are ring-fenced.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69397"/>
                </a:solidFill>
                <a:latin typeface="Aptos"/>
                <a:cs typeface="Aptos"/>
              </a:rPr>
              <a:t>No automatic recourse to Aravest or SMFL; every fund structured to institutional standards.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42432"/>
            <a:ext cx="10360152" cy="190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70448"/>
            <a:ext cx="10360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002B5C"/>
                </a:solidFill>
                <a:latin typeface="Aptos Display"/>
                <a:cs typeface="Aptos Display"/>
              </a:rPr>
              <a:t>One strategy.  </a:t>
            </a:r>
            <a:r>
              <a:rPr sz="1350" b="0" i="0">
                <a:solidFill>
                  <a:srgbClr val="35464F"/>
                </a:solidFill>
                <a:latin typeface="Aptos"/>
                <a:cs typeface="Aptos"/>
              </a:rPr>
              <a:t>The standards stay constant while the record, the pathways and the structure compound into an institution.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2</a:t>
            </a:r>
          </a:p>
        </p:txBody>
      </p:sp>
      <p:pic>
        <p:nvPicPr>
          <p:cNvPr id="18" name="Picture 17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869397"/>
                </a:solidFill>
                <a:latin typeface="Aptos"/>
                <a:cs typeface="Aptos"/>
              </a:rPr>
              <a:t>Strategy · Two parallel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Aravest will build the platform through two complementary pathways.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389888"/>
            <a:ext cx="4160520" cy="254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490472"/>
            <a:ext cx="41605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Pathway 1 — Diversified Track Record Building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4682B4"/>
                </a:solidFill>
                <a:latin typeface="Aptos"/>
                <a:cs typeface="Aptos"/>
              </a:rPr>
              <a:t>THE PRINCIPAL PROGRAMME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389888"/>
            <a:ext cx="4160520" cy="254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490472"/>
            <a:ext cx="41605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Pathway 2 — Institutional-Scale Opportunities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4682B4"/>
                </a:solidFill>
                <a:latin typeface="Aptos"/>
                <a:cs typeface="Aptos"/>
              </a:rPr>
              <a:t>CASE-BY-CASE 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2103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869397"/>
                </a:solidFill>
                <a:latin typeface="Aptos"/>
                <a:cs typeface="Aptos"/>
              </a:rPr>
              <a:t>PRIMARY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14016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Build multiple proof points and a repeatable post-SMFL investment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414016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Accelerate AUM, institutional relevance and market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26664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36392"/>
            <a:ext cx="2103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869397"/>
                </a:solidFill>
                <a:latin typeface="Aptos"/>
                <a:cs typeface="Aptos"/>
              </a:rPr>
              <a:t>TYPICAL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18104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Selected small and medium transactions across repeatable themes.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118104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Selected large transactions capable of creating meaningful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3075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2103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869397"/>
                </a:solidFill>
                <a:latin typeface="Aptos"/>
                <a:cs typeface="Aptos"/>
              </a:rPr>
              <a:t>CAPITAL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22192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The existing US$300 million support, diversified across several investments.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822192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May require materially greater transaction-specific capital.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44568"/>
            <a:ext cx="2103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869397"/>
                </a:solidFill>
                <a:latin typeface="Aptos"/>
                <a:cs typeface="Aptos"/>
              </a:rPr>
              <a:t>RISK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526280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More diversified, with lower single-asset concentration.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526280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Higher single-asset concentration and greater liquidity exposure.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38928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48656"/>
            <a:ext cx="21031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869397"/>
                </a:solidFill>
                <a:latin typeface="Aptos"/>
                <a:cs typeface="Aptos"/>
              </a:rPr>
              <a:t>EXPECTED AUM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230368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Gradual and potentially uneven growth.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230368"/>
            <a:ext cx="416052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5464F"/>
                </a:solidFill>
                <a:latin typeface="Aptos"/>
                <a:cs typeface="Aptos"/>
              </a:rPr>
              <a:t>Potential step-change growth.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843016"/>
            <a:ext cx="10908792" cy="190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71032"/>
            <a:ext cx="109087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869397"/>
                </a:solidFill>
                <a:latin typeface="Aptos"/>
                <a:cs typeface="Aptos"/>
              </a:rPr>
              <a:t>Run in parallel:  </a:t>
            </a:r>
            <a:r>
              <a:rPr sz="1300" b="1" i="0">
                <a:solidFill>
                  <a:srgbClr val="002B5C"/>
                </a:solidFill>
                <a:latin typeface="Aptos"/>
                <a:cs typeface="Aptos"/>
              </a:rPr>
              <a:t>Pathway 1 builds the record; Pathway 2 can accelerate scale.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3</a:t>
            </a:r>
          </a:p>
        </p:txBody>
      </p:sp>
      <p:pic>
        <p:nvPicPr>
          <p:cNvPr id="32" name="Picture 31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869397"/>
                </a:solidFill>
                <a:latin typeface="Aptos"/>
                <a:cs typeface="Aptos"/>
              </a:rPr>
              <a:t>Capital &amp; AUM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The two pathways are expected to produce different AUM profiles.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087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Closing AUM  =  Opening AUM  +  New investments  −  Realisations  ±  Valuation and FX movements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7627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42032"/>
            <a:ext cx="31750" cy="21488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78608"/>
            <a:ext cx="2606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869397"/>
                </a:solidFill>
                <a:latin typeface="Aptos"/>
                <a:cs typeface="Aptos"/>
              </a:rPr>
              <a:t>SPONSOR CAPITAL SUPPORT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0" i="0">
                <a:solidFill>
                  <a:srgbClr val="002B5C"/>
                </a:solidFill>
                <a:latin typeface="Aptos Display"/>
                <a:cs typeface="Aptos Display"/>
              </a:rPr>
              <a:t>US$300m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Existing support, diversified across several Pathway 1 investments.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Warehousing bridges transaction execution and third-party capital 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6032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2B5C"/>
                </a:solidFill>
                <a:latin typeface="Aptos Display"/>
                <a:cs typeface="Aptos Display"/>
              </a:rPr>
              <a:t>Pathway 1 — gradual and uneven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944722"/>
            <a:ext cx="365760" cy="499262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6260" y="3790188"/>
            <a:ext cx="365760" cy="653796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3885286"/>
            <a:ext cx="365760" cy="558698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17820" y="3706978"/>
            <a:ext cx="365760" cy="737006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825850"/>
            <a:ext cx="365760" cy="618134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9380" y="3611881"/>
            <a:ext cx="365760" cy="832103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695091"/>
            <a:ext cx="365760" cy="748893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4443984"/>
            <a:ext cx="3520440" cy="12700"/>
          </a:xfrm>
          <a:prstGeom prst="rect">
            <a:avLst/>
          </a:prstGeom>
          <a:solidFill>
            <a:srgbClr val="8693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572000"/>
            <a:ext cx="3520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AUM may grow gradually, remain flat where new investments replace realisations, or decline temporarily after disposals or sell-downs.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69397"/>
                </a:solidFill>
                <a:latin typeface="Aptos"/>
                <a:cs typeface="Aptos"/>
              </a:rPr>
              <a:t>Illustrative profile only — not a forecast.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256032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2B5C"/>
                </a:solidFill>
                <a:latin typeface="Aptos Display"/>
                <a:cs typeface="Aptos Display"/>
              </a:rPr>
              <a:t>Pathway 2 — potential step-change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4016045"/>
            <a:ext cx="365760" cy="427939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54211" y="3992271"/>
            <a:ext cx="365760" cy="451713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9991" y="3968496"/>
            <a:ext cx="365760" cy="475488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5771" y="3338475"/>
            <a:ext cx="365760" cy="1105509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31551" y="3314700"/>
            <a:ext cx="365760" cy="1129284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57331" y="3255264"/>
            <a:ext cx="365760" cy="1188720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83111" y="3255264"/>
            <a:ext cx="365760" cy="1188720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4443984"/>
            <a:ext cx="3520440" cy="12700"/>
          </a:xfrm>
          <a:prstGeom prst="rect">
            <a:avLst/>
          </a:prstGeom>
          <a:solidFill>
            <a:srgbClr val="8693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4572000"/>
            <a:ext cx="3520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A single institutional-scale transaction can create a material or step-change increase in AUM and more meaningful ticket sizes.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69397"/>
                </a:solidFill>
                <a:latin typeface="Aptos"/>
                <a:cs typeface="Aptos"/>
              </a:rPr>
              <a:t>Illustrative profile only — not a forecast.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5099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1" i="0" spc="100">
                <a:solidFill>
                  <a:srgbClr val="002B5C"/>
                </a:solidFill>
                <a:latin typeface="Aptos"/>
                <a:cs typeface="Aptos"/>
              </a:rPr>
              <a:t>PROOF POINT — CONRAD SEOUL   </a:t>
            </a: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Sponsor-supported acquisition; institutional capital subsequently introduced (GIC, M&amp;G), recycling capital while retaining the management relationship.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72784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Source: Locked Board Strategy Narrative v8. Financial figures to be populated by Finance before Board circulation.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4</a:t>
            </a:r>
          </a:p>
        </p:txBody>
      </p:sp>
      <p:pic>
        <p:nvPicPr>
          <p:cNvPr id="35" name="Picture 3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100584" cy="100584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002B5C"/>
                </a:solidFill>
                <a:latin typeface="Aptos"/>
                <a:cs typeface="Aptos"/>
              </a:rPr>
              <a:t>For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The Board is asked to endorse the two-pathway strategy and the basis on which capital is committed.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665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869397"/>
                </a:solidFill>
                <a:latin typeface="Aptos"/>
                <a:cs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039112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spc="100">
                <a:solidFill>
                  <a:srgbClr val="002B5C"/>
                </a:solidFill>
                <a:latin typeface="Aptos Display"/>
                <a:cs typeface="Aptos Display"/>
              </a:rPr>
              <a:t>ENDORSE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39112"/>
            <a:ext cx="8686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5464F"/>
                </a:solidFill>
                <a:latin typeface="Aptos"/>
                <a:cs typeface="Aptos"/>
              </a:rPr>
              <a:t>the two parallel pathways as the basis for building the Aravest platform — diversified track-record building alongside selective institutional-scale opportunities.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06624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529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869397"/>
                </a:solidFill>
                <a:latin typeface="Aptos"/>
                <a:cs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25496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spc="100">
                <a:solidFill>
                  <a:srgbClr val="002B5C"/>
                </a:solidFill>
                <a:latin typeface="Aptos Display"/>
                <a:cs typeface="Aptos Display"/>
              </a:rP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25496"/>
            <a:ext cx="8686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5464F"/>
                </a:solidFill>
                <a:latin typeface="Aptos"/>
                <a:cs typeface="Aptos"/>
              </a:rPr>
              <a:t>deployment of the existing US$300 million across Pathway 1 to build multiple proof points and diversify risk.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93008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393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869397"/>
                </a:solidFill>
                <a:latin typeface="Aptos"/>
                <a:cs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611880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spc="100">
                <a:solidFill>
                  <a:srgbClr val="002B5C"/>
                </a:solidFill>
                <a:latin typeface="Aptos Display"/>
                <a:cs typeface="Aptos Display"/>
              </a:rPr>
              <a:t>ENDORSE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11880"/>
            <a:ext cx="8686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5464F"/>
                </a:solidFill>
                <a:latin typeface="Aptos"/>
                <a:cs typeface="Aptos"/>
              </a:rPr>
              <a:t>warehousing as an execution enabler, bridging the timing gap between securing a transaction and forming third-party capital.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7939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256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869397"/>
                </a:solidFill>
                <a:latin typeface="Aptos"/>
                <a:cs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398264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spc="100">
                <a:solidFill>
                  <a:srgbClr val="002B5C"/>
                </a:solidFill>
                <a:latin typeface="Aptos Display"/>
                <a:cs typeface="Aptos Display"/>
              </a:rPr>
              <a:t>AGREE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398264"/>
            <a:ext cx="8686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5464F"/>
                </a:solidFill>
                <a:latin typeface="Aptos"/>
                <a:cs typeface="Aptos"/>
              </a:rPr>
              <a:t>that each Institutional-Scale Opportunity is brought to the Board separately — with its investment merits, capital requirement and risk profile — for decision case-by-case.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93792"/>
            <a:ext cx="10908792" cy="190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12664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20">
                <a:solidFill>
                  <a:srgbClr val="869397"/>
                </a:solidFill>
                <a:latin typeface="Aptos"/>
                <a:cs typeface="Aptos"/>
              </a:rPr>
              <a:t>GOVERNING PRINCIPLE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2B5C"/>
                </a:solidFill>
                <a:latin typeface="Aptos"/>
                <a:cs typeface="Aptos"/>
              </a:rPr>
              <a:t>Committed equity is exposed to investment performance; wider fund and asset liabilities are generally ring-fenced, with no automatic recourse to Aravest as manager or SMFL as shareholder. Any exception must be explicit and separately approved.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Formal resolutions to be confirmed by management and the company secretary; this slide reflects the locked Board Strategy Narrative v8 and does not itself constitute a resolution.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5</a:t>
            </a:r>
          </a:p>
        </p:txBody>
      </p:sp>
      <p:pic>
        <p:nvPicPr>
          <p:cNvPr id="26" name="Picture 25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869397"/>
                </a:solidFill>
                <a:latin typeface="Aptos"/>
                <a:cs typeface="Aptos"/>
              </a:rPr>
              <a:t>Investment case · Current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Current opportunities illustrate how the two pathways may develop in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9105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869397"/>
                </a:solidFill>
                <a:latin typeface="Aptos"/>
                <a:cs typeface="Aptos"/>
              </a:rPr>
              <a:t>STRATEGIC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591056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869397"/>
                </a:solidFill>
                <a:latin typeface="Aptos"/>
                <a:cs typeface="Aptos"/>
              </a:rPr>
              <a:t>ILLUSTRATIVE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591056"/>
            <a:ext cx="3502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869397"/>
                </a:solidFill>
                <a:latin typeface="Aptos"/>
                <a:cs typeface="Aptos"/>
              </a:rPr>
              <a:t>CONNECTION TO THE PATHWAY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01952"/>
            <a:ext cx="10908792" cy="190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2880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Institutional-scale opportunity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4682B4"/>
                </a:solidFill>
                <a:latin typeface="Aptos"/>
                <a:cs typeface="Aptos"/>
              </a:rPr>
              <a:t>PATHWAY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94560"/>
            <a:ext cx="3977639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Marina One and other selected large 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502152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Potential to create a material increase in AUM, institutional relevance and market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45536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2880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Portfolio building block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4682B4"/>
                </a:solidFill>
                <a:latin typeface="Aptos"/>
                <a:cs typeface="Aptos"/>
              </a:rPr>
              <a:t>PATHWAY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328416"/>
            <a:ext cx="3977639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Project Guardian / PBSA and subsequent PBSA opportunities.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28416"/>
            <a:ext cx="3502152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Build a repeatable strategy through aggregation into a portfolio of institutional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7939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43984"/>
            <a:ext cx="2880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Track-record proof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4682B4"/>
                </a:solidFill>
                <a:latin typeface="Aptos"/>
                <a:cs typeface="Aptos"/>
              </a:rPr>
              <a:t>PATHWAY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462272"/>
            <a:ext cx="3977639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Courtyard by Marriott Suwon, ARA-NH Fund 2, Aberdeen / Shinyoung recapitalisation and other relevant transactions.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62272"/>
            <a:ext cx="3502152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Deepen post-SMFL execution evidence and create additional realisation or recycling pathways.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13248"/>
            <a:ext cx="10908792" cy="127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41264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69397"/>
                </a:solidFill>
                <a:latin typeface="Aptos"/>
                <a:cs typeface="Aptos"/>
              </a:rPr>
              <a:t>Private credit is excluded as a core Aravest growth strategy (an agreed SMDAM strategy, with Aravest providing support where relevant). Transaction names, figures and status to be refreshed by the relevant transaction teams before Board circulation.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6</a:t>
            </a:r>
          </a:p>
        </p:txBody>
      </p:sp>
      <p:pic>
        <p:nvPicPr>
          <p:cNvPr id="24" name="Picture 23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