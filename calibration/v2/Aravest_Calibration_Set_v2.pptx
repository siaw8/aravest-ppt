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A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85800"/>
            <a:ext cx="917285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2724912"/>
            <a:ext cx="777240" cy="1905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950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80" cap="all">
                <a:solidFill>
                  <a:srgbClr val="D5DDE6"/>
                </a:solidFill>
                <a:latin typeface="Aptos"/>
                <a:cs typeface="Aptos"/>
              </a:rPr>
              <a:t>Board Strategy Meeting  ·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55264"/>
            <a:ext cx="10424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Spectral Light"/>
                <a:cs typeface="Spectral Light"/>
              </a:rPr>
              <a:t>Aravest’s </a:t>
            </a:r>
            <a:r>
              <a:rPr sz="4600" b="0" i="1">
                <a:solidFill>
                  <a:srgbClr val="FFFFFF"/>
                </a:solidFill>
                <a:latin typeface="Spectral Light"/>
                <a:cs typeface="Spectral Light"/>
              </a:rPr>
              <a:t>Next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70832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D5DDE6"/>
                </a:solidFill>
                <a:latin typeface="Aptos"/>
                <a:cs typeface="Aptos"/>
              </a:rPr>
              <a:t>From integration to institution-building: establishing the post-SMFL track record, defining the near-term investment focus and developing the pathways for sustainable long-term growth.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5DDE6"/>
                </a:solidFill>
                <a:latin typeface="Aptos"/>
                <a:cs typeface="Aptos"/>
              </a:rPr>
              <a:t>Aravest Fund Management Pte. Ltd.      Private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-1920240" y="3794760"/>
            <a:ext cx="5852160" cy="4206240"/>
          </a:xfrm>
          <a:prstGeom prst="triangle">
            <a:avLst/>
          </a:prstGeom>
          <a:noFill/>
          <a:ln w="12700">
            <a:solidFill>
              <a:srgbClr val="14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verB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784" y="0"/>
            <a:ext cx="3632911" cy="6858000"/>
          </a:xfrm>
          <a:prstGeom prst="rect">
            <a:avLst/>
          </a:prstGeom>
        </p:spPr>
      </p:pic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85800"/>
            <a:ext cx="917285" cy="5303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2615184"/>
            <a:ext cx="777240" cy="1905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797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80" cap="all">
                <a:solidFill>
                  <a:srgbClr val="869397"/>
                </a:solidFill>
                <a:latin typeface="Aptos"/>
                <a:cs typeface="Aptos"/>
              </a:rPr>
              <a:t>Board Strategy Meeting  · 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45536"/>
            <a:ext cx="749807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Spectral Light"/>
                <a:cs typeface="Spectral Light"/>
              </a:rPr>
              <a:t>Aravest’s </a:t>
            </a:r>
            <a:r>
              <a:rPr sz="4200" b="0" i="1">
                <a:solidFill>
                  <a:srgbClr val="FFFFFF"/>
                </a:solidFill>
                <a:latin typeface="Spectral Light"/>
                <a:cs typeface="Spectral Light"/>
              </a:rPr>
              <a:t>Next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5DDE6"/>
                </a:solidFill>
                <a:latin typeface="Aptos"/>
                <a:cs typeface="Aptos"/>
              </a:rPr>
              <a:t>From integration to institution-building: establishing the post-SMFL track record, defining the near-term investment focus and developing the pathways for sustainable long-term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35508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5DDE6"/>
                </a:solidFill>
                <a:latin typeface="Aptos"/>
                <a:cs typeface="Aptos"/>
              </a:rPr>
              <a:t>Aravest Fund Management Pte. Ltd.      Private and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36015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i="0">
                <a:solidFill>
                  <a:srgbClr val="002B5C"/>
                </a:solidFill>
                <a:latin typeface="Aptos Display"/>
                <a:cs typeface="Aptos Display"/>
              </a:rPr>
              <a:t>Aravest is moving from integration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i="0">
                <a:solidFill>
                  <a:srgbClr val="002B5C"/>
                </a:solidFill>
                <a:latin typeface="Aptos Display"/>
                <a:cs typeface="Aptos Display"/>
              </a:rPr>
              <a:t>into </a:t>
            </a:r>
            <a:r>
              <a:rPr sz="3000" b="0" i="1">
                <a:solidFill>
                  <a:srgbClr val="002B5C"/>
                </a:solidFill>
                <a:latin typeface="Spectral Light"/>
                <a:cs typeface="Spectral Light"/>
              </a:rPr>
              <a:t>institution-building</a:t>
            </a:r>
            <a:r>
              <a:rPr sz="3000" b="0" i="0">
                <a:solidFill>
                  <a:srgbClr val="002B5C"/>
                </a:solidFill>
                <a:latin typeface="Aptos Display"/>
                <a:cs typeface="Aptos Display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9692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5464F"/>
                </a:solidFill>
                <a:latin typeface="Aptos"/>
                <a:cs typeface="Aptos"/>
              </a:rPr>
              <a:t>The initial integration into SMFL has been substantially completed. The next phase is to develop the institutional foundations and investment record required for sustainable long-term growth.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37560"/>
            <a:ext cx="10360152" cy="127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309620"/>
            <a:ext cx="17780" cy="6985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83864"/>
            <a:ext cx="243230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 spc="120">
                <a:solidFill>
                  <a:srgbClr val="869397"/>
                </a:solidFill>
                <a:latin typeface="Aptos"/>
                <a:cs typeface="Aptos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02B5C"/>
                </a:solidFill>
                <a:latin typeface="Aptos Display"/>
                <a:cs typeface="Aptos Display"/>
              </a:rPr>
              <a:t>The Aravest Way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5464F"/>
                </a:solidFill>
                <a:latin typeface="Aptos"/>
                <a:cs typeface="Aptos"/>
              </a:rPr>
              <a:t>Values-led in how it invests; value-focused in where it deploys. Sector-flexible, but not strategy-neutral.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57016" y="3309620"/>
            <a:ext cx="17780" cy="6985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7016" y="3483864"/>
            <a:ext cx="243230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 spc="120">
                <a:solidFill>
                  <a:srgbClr val="869397"/>
                </a:solidFill>
                <a:latin typeface="Aptos"/>
                <a:cs typeface="Aptos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02B5C"/>
                </a:solidFill>
                <a:latin typeface="Aptos Display"/>
                <a:cs typeface="Aptos Display"/>
              </a:rPr>
              <a:t>The post-SMFL record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5464F"/>
                </a:solidFill>
                <a:latin typeface="Aptos"/>
                <a:cs typeface="Aptos"/>
              </a:rPr>
              <a:t>Built through the full lifecycle — judgement, execution, stewardship, performance, realisation, repeatability.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309620"/>
            <a:ext cx="17780" cy="6985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3483864"/>
            <a:ext cx="243230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 spc="120">
                <a:solidFill>
                  <a:srgbClr val="869397"/>
                </a:solidFill>
                <a:latin typeface="Aptos"/>
                <a:cs typeface="Aptos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02B5C"/>
                </a:solidFill>
                <a:latin typeface="Aptos Display"/>
                <a:cs typeface="Aptos Display"/>
              </a:rPr>
              <a:t>Two parallel pathways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5464F"/>
                </a:solidFill>
                <a:latin typeface="Aptos"/>
                <a:cs typeface="Aptos"/>
              </a:rPr>
              <a:t>Diversified track-record building on the existing US$300 million; institutional-scale opportunities case-by-case.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42248" y="3309620"/>
            <a:ext cx="17780" cy="6985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42248" y="3483864"/>
            <a:ext cx="243230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1" i="0" spc="120">
                <a:solidFill>
                  <a:srgbClr val="869397"/>
                </a:solidFill>
                <a:latin typeface="Aptos"/>
                <a:cs typeface="Aptos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002B5C"/>
                </a:solidFill>
                <a:latin typeface="Aptos Display"/>
                <a:cs typeface="Aptos Display"/>
              </a:rPr>
              <a:t>Institutional standards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5464F"/>
                </a:solidFill>
                <a:latin typeface="Aptos"/>
                <a:cs typeface="Aptos"/>
              </a:rPr>
              <a:t>Committed equity bears performance; wider liabilities ring-fenced, no automatic recourse to Aravest or SMFL.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06440"/>
            <a:ext cx="10360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2B5C"/>
                </a:solidFill>
                <a:latin typeface="Aptos"/>
                <a:cs typeface="Aptos"/>
              </a:rPr>
              <a:t>One strategy: the standards stay constant while the record, the pathways and the structure compound into an institution.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2</a:t>
            </a:r>
          </a:p>
        </p:txBody>
      </p:sp>
      <p:pic>
        <p:nvPicPr>
          <p:cNvPr id="17" name="Picture 16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869397"/>
                </a:solidFill>
                <a:latin typeface="Aptos"/>
                <a:cs typeface="Aptos"/>
              </a:rPr>
              <a:t>Strategy · Two parallel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2B5C"/>
                </a:solidFill>
                <a:latin typeface="Aptos Display"/>
                <a:cs typeface="Aptos Display"/>
              </a:rPr>
              <a:t>Aravest will build the platform through two complementary pathways.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1645920"/>
            <a:ext cx="4160520" cy="254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1737360"/>
            <a:ext cx="4160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2B5C"/>
                </a:solidFill>
                <a:latin typeface="Aptos Display"/>
                <a:cs typeface="Aptos Display"/>
              </a:rPr>
              <a:t>Pathway 1 — Diversified Track Record Building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4682B4"/>
                </a:solidFill>
                <a:latin typeface="Aptos"/>
                <a:cs typeface="Aptos"/>
              </a:rPr>
              <a:t>THE PRINCIPAL PROGRAMME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1645920"/>
            <a:ext cx="4160520" cy="254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737360"/>
            <a:ext cx="4160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2B5C"/>
                </a:solidFill>
                <a:latin typeface="Aptos Display"/>
                <a:cs typeface="Aptos Display"/>
              </a:rPr>
              <a:t>Pathway 2 — Institutional-Scale Opportunities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4682B4"/>
                </a:solidFill>
                <a:latin typeface="Aptos"/>
                <a:cs typeface="Aptos"/>
              </a:rPr>
              <a:t>CASE-BY-CASE ACCELERATION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347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PRIMARY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615184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Build multiple proof points and a repeatable post-SMFL investment record.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615184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Accelerate AUM, institutional relevance and market visibility.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82112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7355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TYPICAL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255264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Selected small and medium transactions across repeatable themes.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255264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Selected large transactions capable of creating meaningful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22192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1363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CAPITAL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895344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Existing US$300 million support, diversified across several investments.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895344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May require materially greater transaction-specific capital.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62272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5371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RISK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535424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More diversified, with lower single-asset concentration.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535424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Higher single-asset concentration and liquidity exposure.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02352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9379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EXPECTED AUM EFFECT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5175504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Gradual and potentially uneven.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5175504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Potential step-change growth.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742432"/>
            <a:ext cx="10908792" cy="127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833872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869397"/>
                </a:solidFill>
                <a:latin typeface="Aptos"/>
                <a:cs typeface="Aptos"/>
              </a:rPr>
              <a:t>Run in parallel:  </a:t>
            </a:r>
            <a:r>
              <a:rPr sz="1150" b="1" i="0">
                <a:solidFill>
                  <a:srgbClr val="002B5C"/>
                </a:solidFill>
                <a:latin typeface="Aptos"/>
                <a:cs typeface="Aptos"/>
              </a:rPr>
              <a:t>Pathway 1 builds the record; Pathway 2 can accelerate scale.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3</a:t>
            </a:r>
          </a:p>
        </p:txBody>
      </p:sp>
      <p:pic>
        <p:nvPicPr>
          <p:cNvPr id="32" name="Picture 31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869397"/>
                </a:solidFill>
                <a:latin typeface="Aptos"/>
                <a:cs typeface="Aptos"/>
              </a:rPr>
              <a:t>Capital &amp; AUM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2B5C"/>
                </a:solidFill>
                <a:latin typeface="Aptos Display"/>
                <a:cs typeface="Aptos Display"/>
              </a:rPr>
              <a:t>The two pathways are expected to produce different AUM profiles.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109087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2B5C"/>
                </a:solidFill>
                <a:latin typeface="Aptos Display"/>
                <a:cs typeface="Aptos Display"/>
              </a:rPr>
              <a:t>Closing AUM  =  Opening AUM  +  New investments  −  Realisations  ±  Valuation and FX movements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9424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25400" cy="173736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816352"/>
            <a:ext cx="2468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1" i="0" spc="100">
                <a:solidFill>
                  <a:srgbClr val="869397"/>
                </a:solidFill>
                <a:latin typeface="Aptos"/>
                <a:cs typeface="Aptos"/>
              </a:rPr>
              <a:t>SPONSOR CAPITAL SUPPORT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02B5C"/>
                </a:solidFill>
                <a:latin typeface="Aptos Display"/>
                <a:cs typeface="Aptos Display"/>
              </a:rPr>
              <a:t>US$300m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5464F"/>
                </a:solidFill>
                <a:latin typeface="Aptos"/>
                <a:cs typeface="Aptos"/>
              </a:rPr>
              <a:t>Existing support, diversified across several Pathway 1 investments. Warehousing bridges execution and third-party capital 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788920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2B5C"/>
                </a:solidFill>
                <a:latin typeface="Aptos Display"/>
                <a:cs typeface="Aptos Display"/>
              </a:rPr>
              <a:t>Pathway 1 — gradual and uneven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3768792"/>
            <a:ext cx="310896" cy="391728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9684" y="3647542"/>
            <a:ext cx="310896" cy="512978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64608" y="3722157"/>
            <a:ext cx="310896" cy="438363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99532" y="3582254"/>
            <a:ext cx="310896" cy="578266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34456" y="3675523"/>
            <a:ext cx="310896" cy="484997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69380" y="3507639"/>
            <a:ext cx="310896" cy="652881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04304" y="3572927"/>
            <a:ext cx="310896" cy="587593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4760" y="4160520"/>
            <a:ext cx="3520440" cy="12700"/>
          </a:xfrm>
          <a:prstGeom prst="rect">
            <a:avLst/>
          </a:prstGeom>
          <a:solidFill>
            <a:srgbClr val="8693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4279392"/>
            <a:ext cx="3520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5464F"/>
                </a:solidFill>
                <a:latin typeface="Aptos"/>
                <a:cs typeface="Aptos"/>
              </a:rPr>
              <a:t>AUM may grow gradually, remain flat where new investments replace realisations, or decline temporarily after disposals or sell-downs.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Illustrative profile only — not a forecast.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788920"/>
            <a:ext cx="3547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2B5C"/>
                </a:solidFill>
                <a:latin typeface="Aptos Display"/>
                <a:cs typeface="Aptos Display"/>
              </a:rPr>
              <a:t>Pathway 2 — potential step-change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824753"/>
            <a:ext cx="310896" cy="335767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40496" y="3806099"/>
            <a:ext cx="310896" cy="354421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79992" y="3787445"/>
            <a:ext cx="310896" cy="373075"/>
          </a:xfrm>
          <a:prstGeom prst="rect">
            <a:avLst/>
          </a:prstGeom>
          <a:solidFill>
            <a:srgbClr val="C3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19488" y="3293121"/>
            <a:ext cx="310896" cy="867399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58984" y="3274467"/>
            <a:ext cx="310896" cy="886053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98480" y="3227832"/>
            <a:ext cx="310896" cy="932688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237976" y="3227832"/>
            <a:ext cx="310896" cy="932688"/>
          </a:xfrm>
          <a:prstGeom prst="rect">
            <a:avLst/>
          </a:prstGeom>
          <a:solidFill>
            <a:srgbClr val="46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4160520"/>
            <a:ext cx="3547872" cy="12700"/>
          </a:xfrm>
          <a:prstGeom prst="rect">
            <a:avLst/>
          </a:prstGeom>
          <a:solidFill>
            <a:srgbClr val="8693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279392"/>
            <a:ext cx="3547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5464F"/>
                </a:solidFill>
                <a:latin typeface="Aptos"/>
                <a:cs typeface="Aptos"/>
              </a:rPr>
              <a:t>A single institutional-scale transaction can create a material or step-change increase in AUM and more meaningful ticket sizes.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Illustrative profile only — not a forecast.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349240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458968"/>
            <a:ext cx="10908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900" b="1" i="0" spc="100">
                <a:solidFill>
                  <a:srgbClr val="002B5C"/>
                </a:solidFill>
                <a:latin typeface="Aptos"/>
                <a:cs typeface="Aptos"/>
              </a:rPr>
              <a:t>PROOF POINT — CONRAD SEOUL   </a:t>
            </a:r>
            <a:r>
              <a:rPr sz="1050" b="0" i="0">
                <a:solidFill>
                  <a:srgbClr val="35464F"/>
                </a:solidFill>
                <a:latin typeface="Aptos"/>
                <a:cs typeface="Aptos"/>
              </a:rPr>
              <a:t>Sponsor-supported acquisition; institutional capital subsequently introduced (GIC, M&amp;G), recycling capital while retaining the management relationship.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61888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Source: Locked Board Strategy Narrative v8. Financial figures to be populated by Finance before Board circulation.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4</a:t>
            </a:r>
          </a:p>
        </p:txBody>
      </p:sp>
      <p:pic>
        <p:nvPicPr>
          <p:cNvPr id="35" name="Picture 34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100584" cy="100584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43891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002B5C"/>
                </a:solidFill>
                <a:latin typeface="Aptos"/>
                <a:cs typeface="Aptos"/>
              </a:rPr>
              <a:t>For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2B5C"/>
                </a:solidFill>
                <a:latin typeface="Aptos Display"/>
                <a:cs typeface="Aptos Display"/>
              </a:rPr>
              <a:t>The Board is asked to endorse the two-pathway strategy and the basis on which capital is committed.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671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00">
                <a:solidFill>
                  <a:srgbClr val="869397"/>
                </a:solidFill>
                <a:latin typeface="Aptos"/>
                <a:cs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139696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spc="100">
                <a:solidFill>
                  <a:srgbClr val="002B5C"/>
                </a:solidFill>
                <a:latin typeface="Aptos Display"/>
                <a:cs typeface="Aptos Display"/>
              </a:rPr>
              <a:t>ENDORSE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148840"/>
            <a:ext cx="87325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the two parallel pathways as the basis for building the Aravest platform — diversified track-record building alongside selective institutional-scale opportunities.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70632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00">
                <a:solidFill>
                  <a:srgbClr val="869397"/>
                </a:solidFill>
                <a:latin typeface="Aptos"/>
                <a:cs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52928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spc="100">
                <a:solidFill>
                  <a:srgbClr val="002B5C"/>
                </a:solidFill>
                <a:latin typeface="Aptos Display"/>
                <a:cs typeface="Aptos Display"/>
              </a:rPr>
              <a:t>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862072"/>
            <a:ext cx="87325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deployment of the existing US$300 million across Pathway 1 to build multiple proof points and diversify risk.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83864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935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00">
                <a:solidFill>
                  <a:srgbClr val="869397"/>
                </a:solidFill>
                <a:latin typeface="Aptos"/>
                <a:cs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56616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spc="100">
                <a:solidFill>
                  <a:srgbClr val="002B5C"/>
                </a:solidFill>
                <a:latin typeface="Aptos Display"/>
                <a:cs typeface="Aptos Display"/>
              </a:rPr>
              <a:t>ENDORSE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575304"/>
            <a:ext cx="87325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warehousing as an execution enabler, bridging the timing gap between securing a transaction and forming third-party capital.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97096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0682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100">
                <a:solidFill>
                  <a:srgbClr val="869397"/>
                </a:solidFill>
                <a:latin typeface="Aptos"/>
                <a:cs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279392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spc="100">
                <a:solidFill>
                  <a:srgbClr val="002B5C"/>
                </a:solidFill>
                <a:latin typeface="Aptos Display"/>
                <a:cs typeface="Aptos Display"/>
              </a:rPr>
              <a:t>AGREE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288536"/>
            <a:ext cx="87325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5464F"/>
                </a:solidFill>
                <a:latin typeface="Aptos"/>
                <a:cs typeface="Aptos"/>
              </a:rPr>
              <a:t>that each Institutional-Scale Opportunity is brought to the Board separately — with its investment merits, capital requirement and risk profile — for decision case-by-case.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74920"/>
            <a:ext cx="10908792" cy="1905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84648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 spc="120">
                <a:solidFill>
                  <a:srgbClr val="869397"/>
                </a:solidFill>
                <a:latin typeface="Aptos"/>
                <a:cs typeface="Aptos"/>
              </a:rPr>
              <a:t>GOVERNING PRINCIPLE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2B5C"/>
                </a:solidFill>
                <a:latin typeface="Aptos"/>
                <a:cs typeface="Aptos"/>
              </a:rPr>
              <a:t>Committed equity is exposed to investment performance; wider fund and asset liabilities are generally ring-fenced, with no automatic recourse to Aravest as manager or SMFL as shareholder. Any exception must be explicit and separately approved.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007608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099048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Formal resolutions to be confirmed by management and the company secretary; this slide reflects the locked Board Strategy Narrative v8 and does not itself constitute a resolution.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5</a:t>
            </a:r>
          </a:p>
        </p:txBody>
      </p:sp>
      <p:pic>
        <p:nvPicPr>
          <p:cNvPr id="27" name="Picture 26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869397"/>
                </a:solidFill>
                <a:latin typeface="Aptos"/>
                <a:cs typeface="Aptos"/>
              </a:rPr>
              <a:t>Investment case · Current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2B5C"/>
                </a:solidFill>
                <a:latin typeface="Aptos Display"/>
                <a:cs typeface="Aptos Display"/>
              </a:rPr>
              <a:t>Current opportunities illustrate how the two pathways may develop in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869397"/>
                </a:solidFill>
                <a:latin typeface="Aptos"/>
                <a:cs typeface="Aptos"/>
              </a:rPr>
              <a:t>STRATEGIC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700784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869397"/>
                </a:solidFill>
                <a:latin typeface="Aptos"/>
                <a:cs typeface="Aptos"/>
              </a:rPr>
              <a:t>ILLUSTRATIVE OPPORTUNITIES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700784"/>
            <a:ext cx="3502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869397"/>
                </a:solidFill>
                <a:latin typeface="Aptos"/>
                <a:cs typeface="Aptos"/>
              </a:rPr>
              <a:t>CONNECTION TO THE PATHWAY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08792" cy="1905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880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02B5C"/>
                </a:solidFill>
                <a:latin typeface="Aptos Display"/>
                <a:cs typeface="Aptos Display"/>
              </a:rPr>
              <a:t>Institutional-scale opportunity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4682B4"/>
                </a:solidFill>
                <a:latin typeface="Aptos"/>
                <a:cs typeface="Aptos"/>
              </a:rPr>
              <a:t>PATHWAY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258568"/>
            <a:ext cx="39776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Marina One and other selected large opportunities.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258568"/>
            <a:ext cx="35021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Potential to create a material increase in AUM, institutional relevance and market visibility.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18104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2880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02B5C"/>
                </a:solidFill>
                <a:latin typeface="Aptos Display"/>
                <a:cs typeface="Aptos Display"/>
              </a:rPr>
              <a:t>Portfolio building block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4682B4"/>
                </a:solidFill>
                <a:latin typeface="Aptos"/>
                <a:cs typeface="Aptos"/>
              </a:rPr>
              <a:t>PATHWAY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264408"/>
            <a:ext cx="39776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Project Guardian / PBSA and subsequent PBSA opportunities.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264408"/>
            <a:ext cx="35021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Build a repeatable strategy through aggregation into a portfolio of institutional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23944"/>
            <a:ext cx="10908792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2880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02B5C"/>
                </a:solidFill>
                <a:latin typeface="Aptos Display"/>
                <a:cs typeface="Aptos Display"/>
              </a:rPr>
              <a:t>Track-record proof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4682B4"/>
                </a:solidFill>
                <a:latin typeface="Aptos"/>
                <a:cs typeface="Aptos"/>
              </a:rPr>
              <a:t>PATHWAY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270248"/>
            <a:ext cx="39776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Courtyard by Marriott Suwon, ARA-NH Fund 2, Aberdeen / Shinyoung recapitalisation and other relevant transactions.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270248"/>
            <a:ext cx="35021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5464F"/>
                </a:solidFill>
                <a:latin typeface="Aptos"/>
                <a:cs typeface="Aptos"/>
              </a:rPr>
              <a:t>Deepen post-SMFL execution evidence and create additional realisation or recycling pathways.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29784"/>
            <a:ext cx="10908792" cy="127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39512"/>
            <a:ext cx="10908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69397"/>
                </a:solidFill>
                <a:latin typeface="Aptos"/>
                <a:cs typeface="Aptos"/>
              </a:rPr>
              <a:t>Private credit is excluded as a core Aravest growth strategy (an agreed SMDAM strategy, with Aravest providing support where relevant). Transaction names, figures and status to be refreshed by the relevant transaction teams before Board circulation.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55664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Private and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69397"/>
                </a:solidFill>
                <a:latin typeface="Aptos"/>
                <a:cs typeface="Aptos"/>
              </a:rPr>
              <a:t>6</a:t>
            </a:r>
          </a:p>
        </p:txBody>
      </p:sp>
      <p:pic>
        <p:nvPicPr>
          <p:cNvPr id="24" name="Picture 23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29184"/>
            <a:ext cx="60098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